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6"/>
    <p:sldId id="269" r:id="rId5"/>
    <p:sldId id="270" r:id="rId4"/>
    <p:sldId id="271" r:id="rId3"/>
    <p:sldId id="272" r:id="rId2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notesMasterIdLst>
    <p:notesMasterId r:id="rId19"/>
  </p:notesMasterIdLst>
  <p:sldSz cx="12191999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7.xml"/><Relationship Id="rId3" Type="http://schemas.openxmlformats.org/officeDocument/2006/relationships/slide" Target="slides/slide16.xml"/><Relationship Id="rId4" Type="http://schemas.openxmlformats.org/officeDocument/2006/relationships/slide" Target="slides/slide15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41732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Hochschule
München
University of
Applied Sciences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1234440"/>
            <a:ext cx="15087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Fakultät für
Maschinenbau
Fahrzeugtechnik
Flugzeugtechnik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301752"/>
            <a:ext cx="6217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11111"/>
                </a:solidFill>
                <a:latin typeface="Arial"/>
              </a:rPr>
              <a:t>Master Thesis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612648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11111"/>
                </a:solidFill>
                <a:latin typeface="Arial"/>
              </a:rPr>
              <a:t>Computational Engineering (M.Sc.)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868680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11111"/>
                </a:solidFill>
                <a:latin typeface="Arial"/>
              </a:rPr>
              <a:t>Heykel Khadhraoui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463040"/>
            <a:ext cx="68580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11111"/>
                </a:solidFill>
                <a:latin typeface="Arial"/>
              </a:rPr>
              <a:t>Design and Implementation of a Real-Time Cartesian Impedance Controller for a 7-DOF Collaborative Robot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496312"/>
            <a:ext cx="6858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11111"/>
                </a:solidFill>
                <a:latin typeface="Arial"/>
              </a:rPr>
              <a:t>Contact-induced alignment of a grinding tool with a plane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898648"/>
            <a:ext cx="6858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11111"/>
                </a:solidFill>
                <a:latin typeface="Arial"/>
              </a:rPr>
              <a:t>Supervisors: Prof. Norbert Nitzsche · Prof. Ruth Otto</a:t>
            </a:r>
          </a:p>
        </p:txBody>
      </p:sp>
      <p:pic>
        <p:nvPicPr>
          <p:cNvPr id="10" name="Picture 9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68" y="5989320"/>
            <a:ext cx="1136407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7472" y="6510528"/>
            <a:ext cx="5486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Motivation and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Contact begins with an angular mismatch between tool and surface</a:t>
            </a:r>
          </a:p>
        </p:txBody>
      </p:sp>
      <p:pic>
        <p:nvPicPr>
          <p:cNvPr id="4" name="Picture 3" descr="surface_entry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18657"/>
            <a:ext cx="6446520" cy="25496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225296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664208"/>
            <a:ext cx="393192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11111"/>
                </a:solidFill>
                <a:latin typeface="Arial"/>
              </a:rPr>
              <a:t>Edge- or corner-first contact can create a moment while a rigid pose controller resists the corrective rotation.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2980944"/>
            <a:ext cx="1188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3410712"/>
            <a:ext cx="393192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111"/>
                </a:solidFill>
                <a:latin typeface="Arial"/>
              </a:rPr>
              <a:t>How do directional Cartesian stiffness and a virtual centre of compliance shape the contact-induced rotation?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892040"/>
            <a:ext cx="101041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4965192"/>
            <a:ext cx="9884664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Goal: press against the surface while allowing the tool to rotate towards alignment.</a:t>
            </a:r>
          </a:p>
        </p:txBody>
      </p:sp>
      <p:pic>
        <p:nvPicPr>
          <p:cNvPr id="11" name="Picture 10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Real-time Cartesian impedance controller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One torque command combines the Cartesian task and the secondary null-space terms</a:t>
            </a:r>
          </a:p>
        </p:txBody>
      </p:sp>
      <p:pic>
        <p:nvPicPr>
          <p:cNvPr id="4" name="Picture 3" descr="controller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86289"/>
            <a:ext cx="6995160" cy="32739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417320"/>
            <a:ext cx="3246120" cy="685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65007" y="1490472"/>
            <a:ext cx="3026663" cy="5394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τ_cmd = JᵀF + τ_null + τ_c(q,q̇)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2395728"/>
            <a:ext cx="1965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Three design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3568" y="2770632"/>
            <a:ext cx="324612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>
                <a:solidFill>
                  <a:srgbClr val="111111"/>
                </a:solidFill>
                <a:latin typeface="Arial"/>
              </a:defRPr>
            </a:pPr>
            <a:r>
              <a:t>• Directional stiffness and damping in the surface frame.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>
                <a:solidFill>
                  <a:srgbClr val="111111"/>
                </a:solidFill>
                <a:latin typeface="Arial"/>
              </a:defRPr>
            </a:pPr>
            <a:r>
              <a:t>• Shiftable virtual centre of compliance.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>
                <a:solidFill>
                  <a:srgbClr val="111111"/>
                </a:solidFill>
                <a:latin typeface="Arial"/>
              </a:defRPr>
            </a:pPr>
            <a:r>
              <a:t>• Projected null-space damping / conditioning.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4892040"/>
            <a:ext cx="1508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1 kHz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8" y="5257800"/>
            <a:ext cx="15087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nominal torque callback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4892040"/>
            <a:ext cx="1508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7 DOF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5257800"/>
            <a:ext cx="15087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Franka Panda</a:t>
            </a:r>
          </a:p>
        </p:txBody>
      </p:sp>
      <p:pic>
        <p:nvPicPr>
          <p:cNvPr id="13" name="Picture 12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Virtual centre of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normal press can generate an additional corrective moment</a:t>
            </a:r>
          </a:p>
        </p:txBody>
      </p:sp>
      <p:pic>
        <p:nvPicPr>
          <p:cNvPr id="4" name="Picture 3" descr="compliance_lever_mo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2114"/>
            <a:ext cx="6583680" cy="21993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572768"/>
            <a:ext cx="34290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m = m_R + r_c × f</a:t>
            </a:r>
          </a:p>
        </p:txBody>
      </p:sp>
      <p:pic>
        <p:nvPicPr>
          <p:cNvPr id="6" name="Picture 5" descr="eq_28eca29541bc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466" y="2331720"/>
            <a:ext cx="2696546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3063240"/>
            <a:ext cx="3703320" cy="1920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40">
                <a:solidFill>
                  <a:srgbClr val="111111"/>
                </a:solidFill>
                <a:latin typeface="Arial"/>
              </a:defRPr>
            </a:pPr>
            <a:r>
              <a:t>• r_c = 0: no directional CoC moment.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40">
                <a:solidFill>
                  <a:srgbClr val="111111"/>
                </a:solidFill>
                <a:latin typeface="Arial"/>
              </a:defRPr>
            </a:pPr>
            <a:r>
              <a:t>• Tangential r_c: the normal press creates a moment about a surface tangent.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40">
                <a:solidFill>
                  <a:srgbClr val="111111"/>
                </a:solidFill>
                <a:latin typeface="Arial"/>
              </a:defRPr>
            </a:pPr>
            <a:r>
              <a:t>• Reversing r_c reverses that moment.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074920"/>
            <a:ext cx="996696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5148072"/>
            <a:ext cx="9747504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30" b="1" i="0">
                <a:solidFill>
                  <a:srgbClr val="111111"/>
                </a:solidFill>
                <a:latin typeface="Arial"/>
              </a:rPr>
              <a:t>The useful CoC direction therefore depends on the direction of the initial angular offset.</a:t>
            </a:r>
          </a:p>
        </p:txBody>
      </p:sp>
      <p:pic>
        <p:nvPicPr>
          <p:cNvPr id="10" name="Picture 9" descr="image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Experimental setup and contact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quantitative evaluation focuses on Contact Establishment</a:t>
            </a:r>
          </a:p>
        </p:txBody>
      </p:sp>
      <p:pic>
        <p:nvPicPr>
          <p:cNvPr id="4" name="Picture 3" descr="setup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10350"/>
            <a:ext cx="5989320" cy="2054418"/>
          </a:xfrm>
          <a:prstGeom prst="rect">
            <a:avLst/>
          </a:prstGeom>
        </p:spPr>
      </p:pic>
      <p:pic>
        <p:nvPicPr>
          <p:cNvPr id="5" name="Picture 4" descr="phase_flow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2300937"/>
            <a:ext cx="2194560" cy="21189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1325880"/>
            <a:ext cx="1965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Contact Establishment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1737360"/>
            <a:ext cx="1965960" cy="1600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111111"/>
                </a:solidFill>
                <a:latin typeface="Arial"/>
              </a:rPr>
              <a:t>The tool approaches to a 20 mm geometric clearance and then presses toward the plane while the entry orientation is held.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3840480"/>
            <a:ext cx="196596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0" i="0">
                <a:solidFill>
                  <a:srgbClr val="111111"/>
                </a:solidFill>
                <a:latin typeface="Arial"/>
              </a:rPr>
              <a:t>Measured response: end-effector rotation during this phase.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59168" y="5532120"/>
            <a:ext cx="4096512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8896" y="5605272"/>
            <a:ext cx="3877056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11111"/>
                </a:solidFill>
                <a:latin typeface="Arial"/>
              </a:rPr>
              <a:t>All surface-contact comparisons use the same geometry and phase sequence.</a:t>
            </a:r>
          </a:p>
        </p:txBody>
      </p:sp>
      <p:pic>
        <p:nvPicPr>
          <p:cNvPr id="11" name="Picture 10" descr="image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Experimental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Cases A–D isolate baseline, stiffness effects, and compliance-centre 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08760"/>
            <a:ext cx="24871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0" y="1188720"/>
            <a:ext cx="594360" cy="594360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316736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20240"/>
            <a:ext cx="21945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TCP-centred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70048"/>
            <a:ext cx="215798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 i="0">
                <a:solidFill>
                  <a:srgbClr val="666666"/>
                </a:solidFill>
                <a:latin typeface="Arial"/>
              </a:rPr>
              <a:t>initial offset direction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508760"/>
            <a:ext cx="24871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53127" y="1188720"/>
            <a:ext cx="594360" cy="594360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7" y="1316736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1920240"/>
            <a:ext cx="21945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Rotational stiffness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1" y="2670048"/>
            <a:ext cx="215798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 i="0">
                <a:solidFill>
                  <a:srgbClr val="666666"/>
                </a:solidFill>
                <a:latin typeface="Arial"/>
              </a:rPr>
              <a:t>K_R,t₁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508760"/>
            <a:ext cx="24871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60336" y="1188720"/>
            <a:ext cx="594360" cy="594360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0336" y="1316736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920240"/>
            <a:ext cx="21945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Tangential stiffness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70048"/>
            <a:ext cx="215798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 i="0">
                <a:solidFill>
                  <a:srgbClr val="666666"/>
                </a:solidFill>
                <a:latin typeface="Arial"/>
              </a:rPr>
              <a:t>K_p,t₂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5" y="1508760"/>
            <a:ext cx="24871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67543" y="1188720"/>
            <a:ext cx="594360" cy="594360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67543" y="1316736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1920240"/>
            <a:ext cx="21945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Tangential CoC 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7" y="2670048"/>
            <a:ext cx="215798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 i="0">
                <a:solidFill>
                  <a:srgbClr val="666666"/>
                </a:solidFill>
                <a:latin typeface="Arial"/>
              </a:rPr>
              <a:t>r_c,t₂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251960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3×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4617720"/>
            <a:ext cx="20574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repetitions / setting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251960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57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617720"/>
            <a:ext cx="20574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surface-contact trials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251960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4617720"/>
            <a:ext cx="20574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pose-hold trials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77639" y="5440680"/>
            <a:ext cx="416052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87368" y="5513832"/>
            <a:ext cx="3941063" cy="38404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69 reported trials in total.</a:t>
            </a:r>
          </a:p>
        </p:txBody>
      </p:sp>
      <p:pic>
        <p:nvPicPr>
          <p:cNvPr id="32" name="Picture 31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Results — baseline and stiffness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Rotational stiffness changes the alignment response much more than tangential translational stiffness</a:t>
            </a:r>
          </a:p>
        </p:txBody>
      </p:sp>
      <p:pic>
        <p:nvPicPr>
          <p:cNvPr id="4" name="Picture 3" descr="results_case_a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1841"/>
            <a:ext cx="3429000" cy="2343300"/>
          </a:xfrm>
          <a:prstGeom prst="rect">
            <a:avLst/>
          </a:prstGeom>
        </p:spPr>
      </p:pic>
      <p:pic>
        <p:nvPicPr>
          <p:cNvPr id="5" name="Picture 4" descr="results_case_b_stiff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1721929"/>
            <a:ext cx="3429000" cy="2143125"/>
          </a:xfrm>
          <a:prstGeom prst="rect">
            <a:avLst/>
          </a:prstGeom>
        </p:spPr>
      </p:pic>
      <p:pic>
        <p:nvPicPr>
          <p:cNvPr id="6" name="Picture 5" descr="results_case_c_stiff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1721929"/>
            <a:ext cx="3429000" cy="2143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89888" y="4507992"/>
            <a:ext cx="1920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40" b="1" i="0">
                <a:solidFill>
                  <a:srgbClr val="111111"/>
                </a:solidFill>
                <a:latin typeface="Arial"/>
              </a:rPr>
              <a:t>TCP centred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4507992"/>
            <a:ext cx="2788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K_R,t₁: 5 → 50 N·m/rad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507992"/>
            <a:ext cx="2834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K_p,t₂: 300 → 2000 N/m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4983480"/>
            <a:ext cx="26060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−63.9%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5349240"/>
            <a:ext cx="26060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response with higher rotational stiffness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983480"/>
            <a:ext cx="26060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0.4%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349240"/>
            <a:ext cx="26060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response span from K_p,t₂ sweep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413248"/>
            <a:ext cx="301752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486400"/>
            <a:ext cx="2798063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90" b="1" i="0">
                <a:solidFill>
                  <a:srgbClr val="111111"/>
                </a:solidFill>
                <a:latin typeface="Arial"/>
              </a:rPr>
              <a:t>The contact response is much more sensitive to rotational stiffness about the response axis.</a:t>
            </a:r>
          </a:p>
        </p:txBody>
      </p:sp>
      <p:pic>
        <p:nvPicPr>
          <p:cNvPr id="16" name="Picture 15" descr="image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Results — tangential CoC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same lever direction assists one initial offset and opposes the other</a:t>
            </a:r>
          </a:p>
        </p:txBody>
      </p:sp>
      <p:pic>
        <p:nvPicPr>
          <p:cNvPr id="4" name="Picture 3" descr="results_case_d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6754"/>
            <a:ext cx="6812280" cy="3338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90688" y="132588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Positive initial offset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783080"/>
            <a:ext cx="2971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11111"/>
                </a:solidFill>
                <a:latin typeface="Arial"/>
              </a:rPr>
              <a:t>−40 → +40 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212848"/>
            <a:ext cx="3063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γₜ₁: 0.18° → 7.87°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0688" y="2926080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Negative initial offset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383280"/>
            <a:ext cx="2971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11111"/>
                </a:solidFill>
                <a:latin typeface="Arial"/>
              </a:rPr>
              <a:t>−40 → +40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3813048"/>
            <a:ext cx="3246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γₜ₁: −11.30° → −0.09°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62672" y="4617720"/>
            <a:ext cx="3429000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690872"/>
            <a:ext cx="3209544" cy="49377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30" b="1" i="0">
                <a:solidFill>
                  <a:srgbClr val="111111"/>
                </a:solidFill>
                <a:latin typeface="Arial"/>
              </a:rPr>
              <a:t>Opposite CoC direction reduced the response by ≈98–99%.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5276088"/>
            <a:ext cx="562356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5349240"/>
            <a:ext cx="5404104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11111"/>
                </a:solidFill>
                <a:latin typeface="Arial"/>
              </a:rPr>
              <a:t>Direction matters more than simply increasing stiffness.</a:t>
            </a:r>
          </a:p>
        </p:txBody>
      </p:sp>
      <p:pic>
        <p:nvPicPr>
          <p:cNvPr id="15" name="Picture 14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Why the CoC changes the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normal force stays similar while the commanded moment changes strongly</a:t>
            </a:r>
          </a:p>
        </p:txBody>
      </p:sp>
      <p:pic>
        <p:nvPicPr>
          <p:cNvPr id="4" name="Picture 3" descr="MAIN_D_wr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676" y="1097280"/>
            <a:ext cx="4405343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371600"/>
            <a:ext cx="2331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Positive-offset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6679" y="1874519"/>
            <a:ext cx="27889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−77…−82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2240279"/>
            <a:ext cx="27889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steady normal force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3127248"/>
            <a:ext cx="29718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+3.28 → −2.44 N·m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3493008"/>
            <a:ext cx="2971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TCP moment across ±40 mm CoC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617720"/>
            <a:ext cx="329184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40" b="1" i="0">
                <a:solidFill>
                  <a:srgbClr val="111111"/>
                </a:solidFill>
                <a:latin typeface="Arial"/>
              </a:rPr>
              <a:t>The displaced CoC mainly changes the rotational moment generated by the press, not the press magnitude.</a:t>
            </a:r>
          </a:p>
        </p:txBody>
      </p:sp>
      <p:pic>
        <p:nvPicPr>
          <p:cNvPr id="11" name="Picture 10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Secondary null-space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Cartesian pose is held while redundant joint motion is shaped separately</a:t>
            </a:r>
          </a:p>
        </p:txBody>
      </p:sp>
      <p:pic>
        <p:nvPicPr>
          <p:cNvPr id="4" name="Picture 3" descr="MAIN_NS_nullspace_auto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437" y="1143000"/>
            <a:ext cx="3988701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417320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Projected damping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90688" y="1847088"/>
            <a:ext cx="28346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≈25%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0688" y="2212848"/>
            <a:ext cx="2834640" cy="5029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less cumulative null-space 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3017520"/>
            <a:ext cx="1417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Conditioning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0688" y="3456432"/>
            <a:ext cx="29260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0.015° / 0.006°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3822191"/>
            <a:ext cx="29260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final |Δη| at 1.5 / 2.0 N·m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62672" y="4892040"/>
            <a:ext cx="333756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965192"/>
            <a:ext cx="3118104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70" b="1" i="0">
                <a:solidFill>
                  <a:srgbClr val="111111"/>
                </a:solidFill>
                <a:latin typeface="Arial"/>
              </a:rPr>
              <a:t>Cartesian position stayed below the 2 mm acceptance limit.</a:t>
            </a:r>
          </a:p>
        </p:txBody>
      </p:sp>
      <p:pic>
        <p:nvPicPr>
          <p:cNvPr id="13" name="Picture 12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Main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Three results answer the contact-alignment question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1325880"/>
            <a:ext cx="530352" cy="530352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44751"/>
            <a:ext cx="5303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4208" y="1280160"/>
            <a:ext cx="5074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Rotational compliance enables contact-induced alignment.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280160"/>
            <a:ext cx="43434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Higher rotational stiffness strongly reduces the response.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816351"/>
            <a:ext cx="530352" cy="530352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935224"/>
            <a:ext cx="5303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770632"/>
            <a:ext cx="5074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A displaced CoC is direction-selective.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770632"/>
            <a:ext cx="43434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Its lever can assist or oppose the required rotation.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306824"/>
            <a:ext cx="530352" cy="530352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425696"/>
            <a:ext cx="5303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4261104"/>
            <a:ext cx="5074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The TCP-centred CoC is direction-independent.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261104"/>
            <a:ext cx="43434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It removes the additional directional moment after alignment.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5669280"/>
            <a:ext cx="937260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27048" y="5742432"/>
            <a:ext cx="9153144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Practical strategy: use a temporary direction-selected CoC, then return the CoC to the TCP.</a:t>
            </a:r>
          </a:p>
        </p:txBody>
      </p:sp>
      <p:pic>
        <p:nvPicPr>
          <p:cNvPr id="18" name="Picture 17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quantitative results are scoped to the tested hardware and geometry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481328"/>
            <a:ext cx="338328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828800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Measurement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606040"/>
            <a:ext cx="2743200" cy="1325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111111"/>
                </a:solidFill>
                <a:latin typeface="Arial"/>
              </a:rPr>
              <a:t>Physical tool–surface angle and contact centre were not measured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7992" y="1481328"/>
            <a:ext cx="338328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Experimental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8032" y="2606040"/>
            <a:ext cx="2743200" cy="1325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111111"/>
                </a:solidFill>
                <a:latin typeface="Arial"/>
              </a:rPr>
              <a:t>One robot configuration, tool, surface reference, and contact trajectory.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1481328"/>
            <a:ext cx="338328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28800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Tool mount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22792" y="2606040"/>
            <a:ext cx="2743200" cy="1325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111111"/>
                </a:solidFill>
                <a:latin typeface="Arial"/>
              </a:rPr>
              <a:t>About ±2° unloaded play can make the physical tool motion differ from the measured EE rotation.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138928"/>
            <a:ext cx="10012680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5212080"/>
            <a:ext cx="9793224" cy="49377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30" b="1" i="0">
                <a:solidFill>
                  <a:srgbClr val="111111"/>
                </a:solidFill>
                <a:latin typeface="Arial"/>
              </a:rPr>
              <a:t>The reported percentages describe the investigated parameter ranges, not a universal robot/tool optimum.</a:t>
            </a:r>
          </a:p>
        </p:txBody>
      </p:sp>
      <p:pic>
        <p:nvPicPr>
          <p:cNvPr id="15" name="Picture 14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Adaptive temporary CoC based on the measured initial offset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239572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91056" y="1417320"/>
            <a:ext cx="530352" cy="530352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91056" y="1536192"/>
            <a:ext cx="5303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40280"/>
            <a:ext cx="2066543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Start at TCP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27248" y="2542032"/>
            <a:ext cx="274320" cy="0"/>
          </a:xfrm>
          <a:prstGeom prst="line">
            <a:avLst/>
          </a:prstGeom>
          <a:ln w="17780">
            <a:solidFill>
              <a:srgbClr val="6666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93008" y="1828800"/>
            <a:ext cx="239572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25696" y="1417320"/>
            <a:ext cx="530352" cy="530352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5696" y="1536192"/>
            <a:ext cx="5303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40280"/>
            <a:ext cx="2066543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Estimate offset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61888" y="2542032"/>
            <a:ext cx="274320" cy="0"/>
          </a:xfrm>
          <a:prstGeom prst="line">
            <a:avLst/>
          </a:prstGeom>
          <a:ln w="17780">
            <a:solidFill>
              <a:srgbClr val="6666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27648" y="1828800"/>
            <a:ext cx="239572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60336" y="1417320"/>
            <a:ext cx="530352" cy="530352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0336" y="1536192"/>
            <a:ext cx="5303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2066543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Apply selected lever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96528" y="2542032"/>
            <a:ext cx="274320" cy="0"/>
          </a:xfrm>
          <a:prstGeom prst="line">
            <a:avLst/>
          </a:prstGeom>
          <a:ln w="17780">
            <a:solidFill>
              <a:srgbClr val="6666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62288" y="1828800"/>
            <a:ext cx="239572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94976" y="1417320"/>
            <a:ext cx="530352" cy="530352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94976" y="1536192"/>
            <a:ext cx="5303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240280"/>
            <a:ext cx="2066543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Return to TCP</a:t>
            </a:r>
          </a:p>
        </p:txBody>
      </p:sp>
      <p:pic>
        <p:nvPicPr>
          <p:cNvPr id="23" name="Picture 22" descr="eq_719c031bf653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853" y="3703320"/>
            <a:ext cx="2059533" cy="53035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880360" y="4572000"/>
            <a:ext cx="653796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10">
                <a:solidFill>
                  <a:srgbClr val="111111"/>
                </a:solidFill>
                <a:latin typeface="Arial"/>
              </a:defRPr>
            </a:pPr>
            <a:r>
              <a:t>• Direct tool-angle / force–torque measurement.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10">
                <a:solidFill>
                  <a:srgbClr val="111111"/>
                </a:solidFill>
                <a:latin typeface="Arial"/>
              </a:defRPr>
            </a:pPr>
            <a:r>
              <a:t>• More directions in the surface tangent plane.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10">
                <a:solidFill>
                  <a:srgbClr val="111111"/>
                </a:solidFill>
                <a:latin typeface="Arial"/>
              </a:defRPr>
            </a:pPr>
            <a:r>
              <a:t>• Combined null-space terms under physical disturbances.</a:t>
            </a:r>
          </a:p>
        </p:txBody>
      </p:sp>
      <p:pic>
        <p:nvPicPr>
          <p:cNvPr id="25" name="Picture 24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Final answer to the contact-alignment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325880"/>
            <a:ext cx="101955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1111"/>
                </a:solidFill>
                <a:latin typeface="Arial"/>
              </a:rPr>
              <a:t>A real-time Cartesian impedance controller was implemented and tested on the Franka Panda.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40280"/>
            <a:ext cx="4892040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313432"/>
            <a:ext cx="4672583" cy="60350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20" b="1" i="0">
                <a:solidFill>
                  <a:srgbClr val="111111"/>
                </a:solidFill>
                <a:latin typeface="Arial"/>
              </a:rPr>
              <a:t>Rotational stiffness controls how freely contact can rotate the tool.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240280"/>
            <a:ext cx="4892040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5936" y="2313432"/>
            <a:ext cx="4672583" cy="60350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20" b="1" i="0">
                <a:solidFill>
                  <a:srgbClr val="111111"/>
                </a:solidFill>
                <a:latin typeface="Arial"/>
              </a:rPr>
              <a:t>The virtual CoC controls which rotational direction the press favours.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3401568"/>
            <a:ext cx="8092440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128" y="3474720"/>
            <a:ext cx="7872983" cy="60350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420" b="1" i="0">
                <a:solidFill>
                  <a:srgbClr val="111111"/>
                </a:solidFill>
                <a:latin typeface="Arial"/>
              </a:rPr>
              <a:t>Best practical interpretation: temporary selected lever → TCP-centred compliant contact.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846320"/>
            <a:ext cx="34290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11111"/>
                </a:solidFill>
                <a:latin typeface="Arial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486400"/>
            <a:ext cx="3429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Arial"/>
              </a:rPr>
              <a:t>Questions</a:t>
            </a:r>
          </a:p>
        </p:txBody>
      </p:sp>
      <p:pic>
        <p:nvPicPr>
          <p:cNvPr id="13" name="Picture 12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surface frame and response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Signed quantities used for the contact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pic>
        <p:nvPicPr>
          <p:cNvPr id="5" name="Picture 4" descr="surface_reference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40270"/>
            <a:ext cx="5257800" cy="2394379"/>
          </a:xfrm>
          <a:prstGeom prst="rect">
            <a:avLst/>
          </a:prstGeom>
        </p:spPr>
      </p:pic>
      <p:pic>
        <p:nvPicPr>
          <p:cNvPr id="6" name="Picture 5" descr="rotation_sign_conv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33104"/>
            <a:ext cx="2240280" cy="1608711"/>
          </a:xfrm>
          <a:prstGeom prst="rect">
            <a:avLst/>
          </a:prstGeom>
        </p:spPr>
      </p:pic>
      <p:pic>
        <p:nvPicPr>
          <p:cNvPr id="7" name="Picture 6" descr="eq_7374cd7164c3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585997"/>
            <a:ext cx="2423160" cy="412452"/>
          </a:xfrm>
          <a:prstGeom prst="rect">
            <a:avLst/>
          </a:prstGeom>
        </p:spPr>
      </p:pic>
      <p:pic>
        <p:nvPicPr>
          <p:cNvPr id="8" name="Picture 7" descr="eq_84240188cfb8f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5281" y="2514600"/>
            <a:ext cx="1337636" cy="4389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188720" y="4800600"/>
            <a:ext cx="973836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4873752"/>
            <a:ext cx="9518904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30" b="1" i="0">
                <a:solidFill>
                  <a:srgbClr val="111111"/>
                </a:solidFill>
                <a:latin typeface="Arial"/>
              </a:rPr>
              <a:t>γₜ₁ and θ_init,t₁ have the same sign when the measured rotation is toward the configured surface-parallel orientation.</a:t>
            </a:r>
          </a:p>
        </p:txBody>
      </p:sp>
      <p:pic>
        <p:nvPicPr>
          <p:cNvPr id="11" name="Picture 10" descr="image-2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Cartesian impedance equations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Surface-relative translational and rotational impedance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pic>
        <p:nvPicPr>
          <p:cNvPr id="5" name="Picture 4" descr="eq_2ebe675df67b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676" y="1417320"/>
            <a:ext cx="4340047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46520" y="1417320"/>
            <a:ext cx="4800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m = Kᴿ eᴿ − Dᴿ ω_EE</a:t>
            </a:r>
          </a:p>
        </p:txBody>
      </p:sp>
      <p:pic>
        <p:nvPicPr>
          <p:cNvPr id="7" name="Picture 6" descr="eq_34a7c0178b64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048" y="2788920"/>
            <a:ext cx="2441302" cy="530352"/>
          </a:xfrm>
          <a:prstGeom prst="rect">
            <a:avLst/>
          </a:prstGeom>
        </p:spPr>
      </p:pic>
      <p:pic>
        <p:nvPicPr>
          <p:cNvPr id="8" name="Picture 7" descr="eq_4b22f87b2558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46" y="2788920"/>
            <a:ext cx="4791146" cy="5303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234440" y="4663440"/>
            <a:ext cx="973836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4736592"/>
            <a:ext cx="9518904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60" b="1" i="0">
                <a:solidFill>
                  <a:srgbClr val="111111"/>
                </a:solidFill>
                <a:latin typeface="Arial"/>
              </a:rPr>
              <a:t>During Contact Establishment the entry orientation is held as the reference; the later end-effector rotation is therefore the measured contact response.</a:t>
            </a:r>
          </a:p>
        </p:txBody>
      </p:sp>
      <p:pic>
        <p:nvPicPr>
          <p:cNvPr id="11" name="Picture 10" descr="image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CoC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Point-shift formulation used by the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pic>
        <p:nvPicPr>
          <p:cNvPr id="5" name="Picture 4" descr="eq_28eca29541bc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277" y="1234440"/>
            <a:ext cx="2588685" cy="438912"/>
          </a:xfrm>
          <a:prstGeom prst="rect">
            <a:avLst/>
          </a:prstGeom>
        </p:spPr>
      </p:pic>
      <p:pic>
        <p:nvPicPr>
          <p:cNvPr id="6" name="Picture 5" descr="eq_8c7c4ed5410b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709" y="1920240"/>
            <a:ext cx="1971821" cy="530352"/>
          </a:xfrm>
          <a:prstGeom prst="rect">
            <a:avLst/>
          </a:prstGeom>
        </p:spPr>
      </p:pic>
      <p:pic>
        <p:nvPicPr>
          <p:cNvPr id="7" name="Picture 6" descr="eq_b840258268f7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1166" y="2743200"/>
            <a:ext cx="4284907" cy="530352"/>
          </a:xfrm>
          <a:prstGeom prst="rect">
            <a:avLst/>
          </a:prstGeom>
        </p:spPr>
      </p:pic>
      <p:pic>
        <p:nvPicPr>
          <p:cNvPr id="8" name="Picture 7" descr="eq_02a4685f020d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9584" y="3566160"/>
            <a:ext cx="4268070" cy="5303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337560" y="4709160"/>
            <a:ext cx="553212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_622ab42fd691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0014" y="4800600"/>
            <a:ext cx="3167210" cy="512064"/>
          </a:xfrm>
          <a:prstGeom prst="rect">
            <a:avLst/>
          </a:prstGeom>
        </p:spPr>
      </p:pic>
      <p:pic>
        <p:nvPicPr>
          <p:cNvPr id="11" name="Picture 10" descr="image-2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complete controller state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Program-level operating modes and common stop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pic>
        <p:nvPicPr>
          <p:cNvPr id="5" name="Picture 4" descr="controller_stat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27" y="1097280"/>
            <a:ext cx="7338105" cy="5285232"/>
          </a:xfrm>
          <a:prstGeom prst="rect">
            <a:avLst/>
          </a:prstGeom>
        </p:spPr>
      </p:pic>
      <p:pic>
        <p:nvPicPr>
          <p:cNvPr id="6" name="Picture 5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tool geometry and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Clearance, leading feature, and configured surface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pic>
        <p:nvPicPr>
          <p:cNvPr id="5" name="Picture 4" descr="tool_clearance_criter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58396"/>
            <a:ext cx="3429000" cy="2032447"/>
          </a:xfrm>
          <a:prstGeom prst="rect">
            <a:avLst/>
          </a:prstGeom>
        </p:spPr>
      </p:pic>
      <p:pic>
        <p:nvPicPr>
          <p:cNvPr id="6" name="Picture 5" descr="leading_feature_c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975880"/>
            <a:ext cx="3429000" cy="1397479"/>
          </a:xfrm>
          <a:prstGeom prst="rect">
            <a:avLst/>
          </a:prstGeom>
        </p:spPr>
      </p:pic>
      <p:pic>
        <p:nvPicPr>
          <p:cNvPr id="7" name="Picture 6" descr="face_feature_sel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553371"/>
            <a:ext cx="2514600" cy="22424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4663440"/>
            <a:ext cx="1024128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111111"/>
                </a:solidFill>
                <a:latin typeface="Arial"/>
              </a:defRPr>
            </a:pPr>
            <a:r>
              <a:t>• Tool face: 40 × 120 mm; tool-centre offset: 20 mm.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111111"/>
                </a:solidFill>
                <a:latin typeface="Arial"/>
              </a:defRPr>
            </a:pPr>
            <a:r>
              <a:t>• Approach ends when the minimum face clearance reaches 20 mm.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111111"/>
                </a:solidFill>
                <a:latin typeface="Arial"/>
              </a:defRPr>
            </a:pPr>
            <a:r>
              <a:t>• The surface and tool-normal calibrations define the orientation metrics.</a:t>
            </a:r>
          </a:p>
        </p:txBody>
      </p:sp>
      <p:pic>
        <p:nvPicPr>
          <p:cNvPr id="9" name="Picture 8" descr="image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main gains and timings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Values held constant unless explicitly varied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Orientation /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315468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K_p = [150,150,150] N/m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K_R = [180,180,90] N·m/rad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ζ = 1.9; approach = 0.1 m/s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188720"/>
            <a:ext cx="2331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Contact Establishment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691640"/>
            <a:ext cx="329184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Baseline K_p = [2000,2000,350] N/m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Baseline K_R = [5,5,50] N·m/rad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ζ = 1.0; press = 0.08 m/s; timeout = 5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188720"/>
            <a:ext cx="2514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Surface-contact null 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691640"/>
            <a:ext cx="288036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d_null = 2 N·m·s/rad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k_σ = 1 N·m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fixed across Cases A–D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4160520"/>
            <a:ext cx="790956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8568" y="4233672"/>
            <a:ext cx="7690104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Each parameter setting was repeated three times.</a:t>
            </a:r>
          </a:p>
        </p:txBody>
      </p:sp>
      <p:pic>
        <p:nvPicPr>
          <p:cNvPr id="13" name="Picture 12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surface-contact experimental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Cases A–D and tested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777240" cy="530352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17319"/>
            <a:ext cx="7040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111"/>
                </a:solidFill>
                <a:latin typeface="Arial"/>
              </a:rPr>
              <a:t>Case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2240280" cy="530352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36776" y="1417319"/>
            <a:ext cx="21671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111"/>
                </a:solidFill>
                <a:latin typeface="Arial"/>
              </a:rPr>
              <a:t>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298448"/>
            <a:ext cx="5989320" cy="530352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77056" y="1417319"/>
            <a:ext cx="59161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111"/>
                </a:solidFill>
                <a:latin typeface="Arial"/>
              </a:rPr>
              <a:t>Tested values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29800" y="1298448"/>
            <a:ext cx="960120" cy="530352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66376" y="1417319"/>
            <a:ext cx="8869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111"/>
                </a:solidFill>
                <a:latin typeface="Arial"/>
              </a:rPr>
              <a:t>Trials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1828800"/>
            <a:ext cx="777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938528"/>
            <a:ext cx="66751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111111"/>
                </a:solidFill>
                <a:latin typeface="Arial"/>
              </a:rPr>
              <a:t>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82880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55064" y="1938528"/>
            <a:ext cx="213055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TCP-centred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828800"/>
            <a:ext cx="5989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95344" y="1938528"/>
            <a:ext cx="587959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φ₀=0.74°; +9.31°; −9.41° about t₁;  r_c=0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9800" y="1828800"/>
            <a:ext cx="960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84664" y="1938528"/>
            <a:ext cx="85039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2697480"/>
            <a:ext cx="77724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807208"/>
            <a:ext cx="66751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111111"/>
                </a:solidFill>
                <a:latin typeface="Arial"/>
              </a:rPr>
              <a:t>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2697480"/>
            <a:ext cx="224028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55064" y="2807208"/>
            <a:ext cx="213055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Rotational stiffness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2697480"/>
            <a:ext cx="598932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95344" y="2807208"/>
            <a:ext cx="587959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K_R,t₁ = 15, 50 N·m/rad  (+5 baseline)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2697480"/>
            <a:ext cx="96012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84664" y="2807208"/>
            <a:ext cx="85039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566160"/>
            <a:ext cx="777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675888"/>
            <a:ext cx="66751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111111"/>
                </a:solidFill>
                <a:latin typeface="Arial"/>
              </a:rPr>
              <a:t>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00200" y="356616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55064" y="3675888"/>
            <a:ext cx="213055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Tangential translational stiffness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3566160"/>
            <a:ext cx="5989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95344" y="3675888"/>
            <a:ext cx="587959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K_p,t₂ = 300, 800 N/m  (+2000 baseline)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29800" y="3566160"/>
            <a:ext cx="960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84664" y="3675888"/>
            <a:ext cx="85039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4434840"/>
            <a:ext cx="77724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4544568"/>
            <a:ext cx="66751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111111"/>
                </a:solidFill>
                <a:latin typeface="Arial"/>
              </a:rPr>
              <a:t>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00200" y="4434840"/>
            <a:ext cx="224028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55064" y="4544568"/>
            <a:ext cx="213055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Tangential CoC position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4434840"/>
            <a:ext cx="598932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95344" y="4544568"/>
            <a:ext cx="587959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r_c,t₂ = −40, −20, −10, +10, +20, +40 mm  (+0 baseline)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29800" y="4434840"/>
            <a:ext cx="96012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84664" y="4544568"/>
            <a:ext cx="85039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36</a:t>
            </a:r>
          </a:p>
        </p:txBody>
      </p:sp>
      <p:pic>
        <p:nvPicPr>
          <p:cNvPr id="45" name="Picture 44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null-space controller and pose-hold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Projected damping and singular-value conditioning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pic>
        <p:nvPicPr>
          <p:cNvPr id="5" name="Picture 4" descr="eq_cf23ce1f552f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471" y="1325880"/>
            <a:ext cx="3653296" cy="438912"/>
          </a:xfrm>
          <a:prstGeom prst="rect">
            <a:avLst/>
          </a:prstGeom>
        </p:spPr>
      </p:pic>
      <p:pic>
        <p:nvPicPr>
          <p:cNvPr id="6" name="Picture 5" descr="eq_0123a5d746f0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240" y="2057400"/>
            <a:ext cx="2397760" cy="438912"/>
          </a:xfrm>
          <a:prstGeom prst="rect">
            <a:avLst/>
          </a:prstGeom>
        </p:spPr>
      </p:pic>
      <p:pic>
        <p:nvPicPr>
          <p:cNvPr id="7" name="Picture 6" descr="eq_317669c56427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0971" y="2788920"/>
            <a:ext cx="2410296" cy="438912"/>
          </a:xfrm>
          <a:prstGeom prst="rect">
            <a:avLst/>
          </a:prstGeom>
        </p:spPr>
      </p:pic>
      <p:pic>
        <p:nvPicPr>
          <p:cNvPr id="8" name="Picture 7" descr="pose_hold_mod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438" y="1188720"/>
            <a:ext cx="2752122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4005072"/>
            <a:ext cx="461772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60">
                <a:solidFill>
                  <a:srgbClr val="111111"/>
                </a:solidFill>
                <a:latin typeface="Arial"/>
              </a:defRPr>
            </a:pPr>
            <a:r>
              <a:t>• 4 settings × 3 trials.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60">
                <a:solidFill>
                  <a:srgbClr val="111111"/>
                </a:solidFill>
                <a:latin typeface="Arial"/>
              </a:defRPr>
            </a:pPr>
            <a:r>
              <a:t>• 20 N virtual disturbance on link 3.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60">
                <a:solidFill>
                  <a:srgbClr val="111111"/>
                </a:solidFill>
                <a:latin typeface="Arial"/>
              </a:defRPr>
            </a:pPr>
            <a:r>
              <a:t>• Cartesian acceptance: max ||e_p|| &lt; 2 mm.</a:t>
            </a:r>
          </a:p>
        </p:txBody>
      </p:sp>
      <p:pic>
        <p:nvPicPr>
          <p:cNvPr id="10" name="Picture 9" descr="image-2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software, safety, and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Implementation details for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07008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2971800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Ubuntu 20.04.3 + PREEMPT_RT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C++14 / Eigen 3.3.7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libfranka 0.7.1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207008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Real-time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91640"/>
            <a:ext cx="3246120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Preallocated callback data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Keyboard input on separate thread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CSV write after torque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20700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Robot-side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691640"/>
            <a:ext cx="3200400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Robot errors/reflexes terminate control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Collision thresholds remain robot-side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Gravity compensation handled by FCI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389120"/>
            <a:ext cx="8229600" cy="685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75688" y="4462272"/>
            <a:ext cx="8010144" cy="5394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Signals are logged at the nominal 1 kHz controller rate.</a:t>
            </a:r>
          </a:p>
        </p:txBody>
      </p:sp>
      <p:pic>
        <p:nvPicPr>
          <p:cNvPr id="13" name="Picture 12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numerical result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Key values for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274320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335024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111111"/>
                </a:solidFill>
                <a:latin typeface="Arial"/>
              </a:rPr>
              <a:t>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01568" y="1234440"/>
            <a:ext cx="233172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7" y="1335024"/>
            <a:ext cx="224027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111111"/>
                </a:solidFill>
                <a:latin typeface="Arial"/>
              </a:rPr>
              <a:t>Reference / 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733288" y="1234440"/>
            <a:ext cx="233172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79007" y="1335024"/>
            <a:ext cx="224027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111111"/>
                </a:solidFill>
                <a:latin typeface="Arial"/>
              </a:rPr>
              <a:t>Changed /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5008" y="1234440"/>
            <a:ext cx="352044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8" y="1335024"/>
            <a:ext cx="3429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111111"/>
                </a:solidFill>
                <a:latin typeface="Arial"/>
              </a:rPr>
              <a:t>Measured effect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737360"/>
            <a:ext cx="27432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810512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Case A, + offset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7" y="1810512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θ_init=+9.31°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33288" y="1737360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79007" y="1810512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γ=+7.57°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8" y="1737360"/>
            <a:ext cx="35204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0728" y="1810512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81.3% of initial magnitude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276856"/>
            <a:ext cx="274320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2350008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Case A, − offset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01568" y="2276856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47287" y="2350008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θ_init=−9.41°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33288" y="2276856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79007" y="2350008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γ=−10.83°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65008" y="2276856"/>
            <a:ext cx="352044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0728" y="2350008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115.1% of initial magnitude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2816352"/>
            <a:ext cx="27432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2889504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Rotational stiffness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01568" y="2816352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47287" y="2889504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K_R,t₁=5 → γ=7.57°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33288" y="2816352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79007" y="2889504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K_R,t₁=50 → γ=2.73°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65008" y="2816352"/>
            <a:ext cx="35204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10728" y="2889504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63.9% reduction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3355848"/>
            <a:ext cx="274320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3429000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Translational stiffness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01568" y="3355848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47287" y="3429000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K_p,t₂=300 → γ≈7.56°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33288" y="3355848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79007" y="3429000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K_p,t₂=2000 → γ≈7.57°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65008" y="3355848"/>
            <a:ext cx="352044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10728" y="3429000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0.4% span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895344"/>
            <a:ext cx="27432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3968496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CoC, + offset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01568" y="3895344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47287" y="3968496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−40 mm → 0.18°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33288" y="3895344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79007" y="3968496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+40 mm → 7.87°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65008" y="3895344"/>
            <a:ext cx="35204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10728" y="3968496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direction-selective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4434840"/>
            <a:ext cx="274320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088" y="4507992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CoC, − offset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01568" y="4434840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47287" y="4507992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−40 mm → −11.30°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33288" y="4434840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79007" y="4507992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+40 mm → −0.09°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65008" y="4434840"/>
            <a:ext cx="352044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10728" y="4507992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direction-selective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" y="4974336"/>
            <a:ext cx="27432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4088" y="5047488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Projected damping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01568" y="4974336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47287" y="5047488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E_N=7.596°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33288" y="4974336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79007" y="5047488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E_N=5.687°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65008" y="4974336"/>
            <a:ext cx="35204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10728" y="5047488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≈25% less cumulative motion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513831"/>
            <a:ext cx="274320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4088" y="5586983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Conditioning 1.5 / 2.0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401568" y="5513831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47287" y="5586983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|Δη|=0.015°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733288" y="5513831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79007" y="5586983"/>
            <a:ext cx="2240279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|Δη|=0.006°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65008" y="5513831"/>
            <a:ext cx="352044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10728" y="5586983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very small final displacement</a:t>
            </a:r>
          </a:p>
        </p:txBody>
      </p:sp>
      <p:pic>
        <p:nvPicPr>
          <p:cNvPr id="77" name="Picture 76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Hochschule München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Cartesian Impedance Control for a 7-DOF Collaborative Robot</dc:title>
  <dc:subject>Master thesis defense</dc:subject>
  <dc:creator>Heykel Khadhraoui</dc:creator>
  <cp:lastModifiedBy>Heykel Khadhraoui</cp:lastModifiedBy>
  <cp:revision>1</cp:revision>
  <dcterms:created xsi:type="dcterms:W3CDTF">2026-08-11T15:49:04Z</dcterms:created>
  <dcterms:modified xsi:type="dcterms:W3CDTF">2026-08-11T15:49:04Z</dcterms:modified>
</cp:coreProperties>
</file>