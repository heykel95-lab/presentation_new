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6"/>
    <p:sldId id="269" r:id="rId5"/>
    <p:sldId id="270" r:id="rId4"/>
    <p:sldId id="271" r:id="rId3"/>
    <p:sldId id="272" r:id="rId2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notesMasterIdLst>
    <p:notesMasterId r:id="rId19"/>
  </p:notesMasterIdLst>
  <p:sldSz cx="12191999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7.xml"/><Relationship Id="rId3" Type="http://schemas.openxmlformats.org/officeDocument/2006/relationships/slide" Target="slides/slide16.xml"/><Relationship Id="rId4" Type="http://schemas.openxmlformats.org/officeDocument/2006/relationships/slide" Target="slides/slide15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png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Relationship Id="rId3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png"/><Relationship Id="rId3" Type="http://schemas.openxmlformats.org/officeDocument/2006/relationships/image" Target="../media/image15.png"/><Relationship Id="rId4" Type="http://schemas.openxmlformats.org/officeDocument/2006/relationships/image" Target="../media/image47.png"/><Relationship Id="rId5" Type="http://schemas.openxmlformats.org/officeDocument/2006/relationships/image" Target="../media/image16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52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41732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Hochschule
München
University of
Applied Sciences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1234440"/>
            <a:ext cx="15087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Fakultät für
Maschinenbau
Fahrzeugtechnik
Flugzeugtechnik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301752"/>
            <a:ext cx="6217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11111"/>
                </a:solidFill>
                <a:latin typeface="Arial"/>
              </a:rPr>
              <a:t>Master Thesis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612648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11111"/>
                </a:solidFill>
                <a:latin typeface="Arial"/>
              </a:rPr>
              <a:t>Computational Engineering (M.Sc.)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868680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11111"/>
                </a:solidFill>
                <a:latin typeface="Arial"/>
              </a:rPr>
              <a:t>Heykel Khadhraoui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463040"/>
            <a:ext cx="68580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11111"/>
                </a:solidFill>
                <a:latin typeface="Arial"/>
              </a:rPr>
              <a:t>Design and Implementation of a Real-Time Cartesian Impedance Controller for a 7-DOF Collaborative Robot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496312"/>
            <a:ext cx="6858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11111"/>
                </a:solidFill>
                <a:latin typeface="Arial"/>
              </a:rPr>
              <a:t>Contact-induced alignment of a grinding tool with a plane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898648"/>
            <a:ext cx="6858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11111"/>
                </a:solidFill>
                <a:latin typeface="Arial"/>
              </a:rPr>
              <a:t>Supervisors: Prof. Norbert Nitzsche · Prof. Ruth Otto</a:t>
            </a:r>
          </a:p>
        </p:txBody>
      </p:sp>
      <p:pic>
        <p:nvPicPr>
          <p:cNvPr id="10" name="Picture 9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68" y="5989320"/>
            <a:ext cx="1136407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7472" y="6510528"/>
            <a:ext cx="5486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Presentation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From the contact problem to the measured controller behaviour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234440"/>
            <a:ext cx="347472" cy="34747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34747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16152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Arial"/>
              </a:rPr>
              <a:t>Motivation and 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36192"/>
            <a:ext cx="9052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666666"/>
                </a:solidFill>
                <a:latin typeface="Arial"/>
              </a:rPr>
              <a:t>Why angular mismatch at contact needs compliant rotation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167128"/>
            <a:ext cx="347472" cy="34747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212848"/>
            <a:ext cx="34747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48840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Arial"/>
              </a:rPr>
              <a:t>Controller and CoC formulation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68880"/>
            <a:ext cx="9052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666666"/>
                </a:solidFill>
                <a:latin typeface="Arial"/>
              </a:rPr>
              <a:t>Directional impedance, point shift, torque assembly, null space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099816"/>
            <a:ext cx="347472" cy="34747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145536"/>
            <a:ext cx="34747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81528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Arial"/>
              </a:rPr>
              <a:t>Implementation and experiments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01568"/>
            <a:ext cx="9052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666666"/>
                </a:solidFill>
                <a:latin typeface="Arial"/>
              </a:rPr>
              <a:t>1 kHz real-time controller, contact sequence, 69 trials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32504"/>
            <a:ext cx="347472" cy="347472"/>
          </a:xfrm>
          <a:prstGeom prst="ellipse">
            <a:avLst/>
          </a:prstGeom>
          <a:solidFill>
            <a:srgbClr val="FB5556"/>
          </a:solidFill>
          <a:ln>
            <a:solidFill>
              <a:srgbClr val="FB5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078224"/>
            <a:ext cx="34747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14216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Arial"/>
              </a:rPr>
              <a:t>Experimental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9052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666666"/>
                </a:solidFill>
                <a:latin typeface="Arial"/>
              </a:rPr>
              <a:t>Stiffness, CoC direction, commanded wrench, null-space terms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965192"/>
            <a:ext cx="347472" cy="34747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010912"/>
            <a:ext cx="34747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946904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Arial"/>
              </a:rPr>
              <a:t>Conclusion and next 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266944"/>
            <a:ext cx="9052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666666"/>
                </a:solidFill>
                <a:latin typeface="Arial"/>
              </a:rPr>
              <a:t>Adaptive temporary CoC, then return to TCP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234440"/>
            <a:ext cx="5074920" cy="731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1307592"/>
            <a:ext cx="4855464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80" b="1" i="0">
                <a:solidFill>
                  <a:srgbClr val="111111"/>
                </a:solidFill>
                <a:latin typeface="Arial"/>
              </a:rPr>
              <a:t>Central question: how can contact-induced rotation be shaped without sacrificing compliant surface contact?</a:t>
            </a:r>
          </a:p>
        </p:txBody>
      </p:sp>
      <p:pic>
        <p:nvPicPr>
          <p:cNvPr id="26" name="Picture 25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Surface entry can contain both reference error and achieved-pose error</a:t>
            </a:r>
          </a:p>
        </p:txBody>
      </p:sp>
      <p:pic>
        <p:nvPicPr>
          <p:cNvPr id="4" name="Picture 3" descr="surface_entry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98727"/>
            <a:ext cx="5715000" cy="2260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1188720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Contact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572768"/>
            <a:ext cx="4617720" cy="2743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60">
                <a:solidFill>
                  <a:srgbClr val="111111"/>
                </a:solidFill>
                <a:latin typeface="Arial"/>
              </a:defRPr>
            </a:pPr>
            <a:r>
              <a:t>• Configured and physical surface normals can differ because of placement and calibration tolerances.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60">
                <a:solidFill>
                  <a:srgbClr val="111111"/>
                </a:solidFill>
                <a:latin typeface="Arial"/>
              </a:defRPr>
            </a:pPr>
            <a:r>
              <a:t>• The achieved tool orientation can differ from the desired orientation before contact.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60">
                <a:solidFill>
                  <a:srgbClr val="111111"/>
                </a:solidFill>
                <a:latin typeface="Arial"/>
              </a:defRPr>
            </a:pPr>
            <a:r>
              <a:t>• Edge- or corner-first contact generates moments; a rigid pose controller opposes the corrective rotation.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60">
                <a:solidFill>
                  <a:srgbClr val="111111"/>
                </a:solidFill>
                <a:latin typeface="Arial"/>
              </a:defRPr>
            </a:pPr>
            <a:r>
              <a:t>• Finite rotational compliance allows the contact interaction to rotate the end effector towards alignment.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43984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Desired 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73168"/>
            <a:ext cx="1056132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Keep the commanded normal press and tangential position retention.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Allow passive rotation about surface tangents during Contact Establishment.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Use the virtual CoC only to bias the rotational direction when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4846320"/>
            <a:ext cx="452628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0568" y="4919472"/>
            <a:ext cx="4306824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40" b="1" i="0">
                <a:solidFill>
                  <a:srgbClr val="111111"/>
                </a:solidFill>
                <a:latin typeface="Arial"/>
              </a:rPr>
              <a:t>The measured quantity is the end-effector rotation generated during Contact Establishment.</a:t>
            </a:r>
          </a:p>
        </p:txBody>
      </p:sp>
      <p:pic>
        <p:nvPicPr>
          <p:cNvPr id="11" name="Picture 10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Research question and thesis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experiments isolate stiffness and compliance-centre effects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777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216152"/>
            <a:ext cx="10570464" cy="6309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20" b="1" i="0">
                <a:solidFill>
                  <a:srgbClr val="111111"/>
                </a:solidFill>
                <a:latin typeface="Arial"/>
              </a:rPr>
              <a:t>How do directional Cartesian stiffness and a virtual CoC affect contact-induced tool rotation — and can one fixed non-zero CoC remain useful for both offset directions?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Controller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176272"/>
            <a:ext cx="2148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Experimental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78608"/>
            <a:ext cx="4892040" cy="2240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Real-time Cartesian impedance controller on the Franka Emika Panda.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Surface-relative translational and rotational stiffness/damping.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Software-defined virtual centre of compliance displaced from the TCP.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Projected null-space damping and singular-value conditioning.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578608"/>
            <a:ext cx="5074920" cy="2240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Rotational stiffness, tangential translational stiffness, and CoC position varied in contact.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Positive and negative initial angular offsets compared about t₁.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Separate pose-hold experiment isolates the two null-space terms.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69 total trials: 57 surface-contact + 12 pose-hold.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5166360"/>
            <a:ext cx="699516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5768" y="5239512"/>
            <a:ext cx="6775704" cy="49377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80" b="1" i="0">
                <a:solidFill>
                  <a:srgbClr val="111111"/>
                </a:solidFill>
                <a:latin typeface="Arial"/>
              </a:rPr>
              <a:t>Main measured response: γₜ₁ — signed end-effector rotation relative to the held contact-entry orientation.</a:t>
            </a:r>
          </a:p>
        </p:txBody>
      </p:sp>
      <p:pic>
        <p:nvPicPr>
          <p:cNvPr id="12" name="Picture 11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Controller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One torque command combines the Cartesian task, secondary null-space terms, and model compensation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292608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536192"/>
            <a:ext cx="25968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Arial"/>
              </a:rPr>
              <a:t>Surface-relative impedance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975104"/>
            <a:ext cx="2523744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0" i="0">
                <a:solidFill>
                  <a:srgbClr val="111111"/>
                </a:solidFill>
                <a:latin typeface="Arial"/>
              </a:rPr>
              <a:t>Directional K and D define compliant pressing, tangential retention, and rotational freedom.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85031" y="2167128"/>
            <a:ext cx="384049" cy="0"/>
          </a:xfrm>
          <a:prstGeom prst="line">
            <a:avLst/>
          </a:prstGeom>
          <a:ln w="16510">
            <a:solidFill>
              <a:srgbClr val="6666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60520" y="1325880"/>
            <a:ext cx="292608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5112" y="1536192"/>
            <a:ext cx="25968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Arial"/>
              </a:rPr>
              <a:t>Virtual CoC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1975104"/>
            <a:ext cx="2523744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0" i="0">
                <a:solidFill>
                  <a:srgbClr val="111111"/>
                </a:solidFill>
                <a:latin typeface="Arial"/>
              </a:rPr>
              <a:t>A point shift couples translation and rotation and adds a controllable moment contribution.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59752" y="2167128"/>
            <a:ext cx="384048" cy="0"/>
          </a:xfrm>
          <a:prstGeom prst="line">
            <a:avLst/>
          </a:prstGeom>
          <a:ln w="16510">
            <a:solidFill>
              <a:srgbClr val="6666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635240" y="1325880"/>
            <a:ext cx="292608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1" y="1536192"/>
            <a:ext cx="25968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Arial"/>
              </a:rPr>
              <a:t>Null-space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1975104"/>
            <a:ext cx="2523744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0" i="0">
                <a:solidFill>
                  <a:srgbClr val="111111"/>
                </a:solidFill>
                <a:latin typeface="Arial"/>
              </a:rPr>
              <a:t>Projected damping reduces redundant motion; conditioning improves the sampled Jacobian configuration.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3456432"/>
            <a:ext cx="7406640" cy="685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q_cdd373491c83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042" y="3547872"/>
            <a:ext cx="5180874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51560" y="4416552"/>
            <a:ext cx="1010412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11111"/>
                </a:solidFill>
                <a:latin typeface="Arial"/>
              </a:rPr>
              <a:t>The same 1 ms callback evaluates the active Cartesian reference, the CoC transformation (when enabled), the null-space torque, and the final torque command.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257800"/>
            <a:ext cx="19659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1 kHz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623560"/>
            <a:ext cx="1965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nominal FCI control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5257800"/>
            <a:ext cx="19659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7 DOF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5623560"/>
            <a:ext cx="1965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Panda manipulator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257800"/>
            <a:ext cx="19659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6×7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623560"/>
            <a:ext cx="1965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geometric Jacobian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5257800"/>
            <a:ext cx="19659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5623560"/>
            <a:ext cx="1965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redundant direction at full rank</a:t>
            </a:r>
          </a:p>
        </p:txBody>
      </p:sp>
      <p:pic>
        <p:nvPicPr>
          <p:cNvPr id="26" name="Picture 25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Surface frame and response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All contact comparisons are resolved relative to the configured surface frame</a:t>
            </a:r>
          </a:p>
        </p:txBody>
      </p:sp>
      <p:pic>
        <p:nvPicPr>
          <p:cNvPr id="4" name="Picture 3" descr="surface_reference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80061"/>
            <a:ext cx="5120640" cy="2331917"/>
          </a:xfrm>
          <a:prstGeom prst="rect">
            <a:avLst/>
          </a:prstGeom>
        </p:spPr>
      </p:pic>
      <p:pic>
        <p:nvPicPr>
          <p:cNvPr id="5" name="Picture 4" descr="rotation_sign_conv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23741"/>
            <a:ext cx="2011680" cy="14445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200" y="1234440"/>
            <a:ext cx="1508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Entry condition</a:t>
            </a:r>
          </a:p>
        </p:txBody>
      </p:sp>
      <p:pic>
        <p:nvPicPr>
          <p:cNvPr id="7" name="Picture 6" descr="eq_7374cd7164c3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495" y="1709928"/>
            <a:ext cx="268605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49640" y="2267712"/>
            <a:ext cx="26517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70" b="0" i="0">
                <a:solidFill>
                  <a:srgbClr val="666666"/>
                </a:solidFill>
                <a:latin typeface="Arial"/>
              </a:rPr>
              <a:t>Signed achieved angular offset about t₁ at contact entry.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990088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Contact response</a:t>
            </a:r>
          </a:p>
        </p:txBody>
      </p:sp>
      <p:pic>
        <p:nvPicPr>
          <p:cNvPr id="10" name="Picture 9" descr="eq_84240188cfb8f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8834" y="3456432"/>
            <a:ext cx="1393371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4005072"/>
            <a:ext cx="278892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70" b="0" i="0">
                <a:solidFill>
                  <a:srgbClr val="666666"/>
                </a:solidFill>
                <a:latin typeface="Arial"/>
              </a:rPr>
              <a:t>γ is the relative rotation from the measured end orientation back to the held entry orientation.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4983480"/>
            <a:ext cx="9784080" cy="7589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5056632"/>
            <a:ext cx="9564624" cy="61264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111"/>
                </a:solidFill>
                <a:latin typeface="Arial"/>
              </a:rPr>
              <a:t>Alignment convention: γₜ₁ and θ_init,t₁ have the same sign when contact rotates the end effector towards the configured surface-parallel orientation.</a:t>
            </a:r>
          </a:p>
        </p:txBody>
      </p:sp>
      <p:pic>
        <p:nvPicPr>
          <p:cNvPr id="14" name="Picture 13" descr="image-2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Cartesian impedance and complete torque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Directional compliance is defined in the surface frame and mapped to joint torque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261872"/>
            <a:ext cx="51663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48132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Cartesian wrench</a:t>
            </a:r>
          </a:p>
        </p:txBody>
      </p:sp>
      <p:pic>
        <p:nvPicPr>
          <p:cNvPr id="6" name="Picture 5" descr="eq_2ebe675df67b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583" y="1975104"/>
            <a:ext cx="3142792" cy="384048"/>
          </a:xfrm>
          <a:prstGeom prst="rect">
            <a:avLst/>
          </a:prstGeom>
        </p:spPr>
      </p:pic>
      <p:pic>
        <p:nvPicPr>
          <p:cNvPr id="7" name="Picture 6" descr="eq_e09a07064358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678" y="2487168"/>
            <a:ext cx="4276602" cy="3840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91072" y="1261872"/>
            <a:ext cx="51663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81328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Joint torque command</a:t>
            </a:r>
          </a:p>
        </p:txBody>
      </p:sp>
      <p:pic>
        <p:nvPicPr>
          <p:cNvPr id="10" name="Picture 9" descr="eq_34a7c0178b64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1956" y="1965960"/>
            <a:ext cx="1852022" cy="402336"/>
          </a:xfrm>
          <a:prstGeom prst="rect">
            <a:avLst/>
          </a:prstGeom>
        </p:spPr>
      </p:pic>
      <p:pic>
        <p:nvPicPr>
          <p:cNvPr id="11" name="Picture 10" descr="eq_4b22f87b2558b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2348" y="2505456"/>
            <a:ext cx="3634662" cy="4023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32" y="3703320"/>
            <a:ext cx="3246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Contact Establishment directional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640080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60">
                <a:solidFill>
                  <a:srgbClr val="111111"/>
                </a:solidFill>
                <a:latin typeface="Arial"/>
              </a:defRPr>
            </a:pPr>
            <a:r>
              <a:t>• High tangential translational stiffness Kₚ,t₁ and Kₚ,t₂ retains the tool position along the plane.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60">
                <a:solidFill>
                  <a:srgbClr val="111111"/>
                </a:solidFill>
                <a:latin typeface="Arial"/>
              </a:defRPr>
            </a:pPr>
            <a:r>
              <a:t>• Lower normal stiffness Kₚ,n provides compliant pressing.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60">
                <a:solidFill>
                  <a:srgbClr val="111111"/>
                </a:solidFill>
                <a:latin typeface="Arial"/>
              </a:defRPr>
            </a:pPr>
            <a:r>
              <a:t>• Low rotational stiffness about t₁ and t₂ permits contact-induced alignment; higher stiffness about n_s keeps in-plane orientation.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096512"/>
            <a:ext cx="3977639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0648" y="4169664"/>
            <a:ext cx="3758183" cy="10881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111"/>
                </a:solidFill>
                <a:latin typeface="Arial"/>
              </a:rPr>
              <a:t>The contact trajectory holds the measured entry orientation as R_d, so any later end-effector rotation becomes the measured contact response.</a:t>
            </a:r>
          </a:p>
        </p:txBody>
      </p:sp>
      <p:pic>
        <p:nvPicPr>
          <p:cNvPr id="16" name="Picture 15" descr="image-2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Virtual centre of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point shift changes where the impedance is defined and introduces translation–rotation coupling</a:t>
            </a:r>
          </a:p>
        </p:txBody>
      </p:sp>
      <p:pic>
        <p:nvPicPr>
          <p:cNvPr id="4" name="Picture 3" descr="moment_bookkee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09645"/>
            <a:ext cx="4800600" cy="28671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1325880"/>
            <a:ext cx="1234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Point shift</a:t>
            </a:r>
          </a:p>
        </p:txBody>
      </p:sp>
      <p:pic>
        <p:nvPicPr>
          <p:cNvPr id="6" name="Picture 5" descr="eq_28eca29541bc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930" y="1801368"/>
            <a:ext cx="2265099" cy="384048"/>
          </a:xfrm>
          <a:prstGeom prst="rect">
            <a:avLst/>
          </a:prstGeom>
        </p:spPr>
      </p:pic>
      <p:pic>
        <p:nvPicPr>
          <p:cNvPr id="7" name="Picture 6" descr="eq_8c7c4ed5410b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813" y="2322576"/>
            <a:ext cx="1631852" cy="438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2880360"/>
            <a:ext cx="1600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Shifted stiffness</a:t>
            </a:r>
          </a:p>
        </p:txBody>
      </p:sp>
      <p:pic>
        <p:nvPicPr>
          <p:cNvPr id="9" name="Picture 8" descr="eq_b840258268f76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6748" y="3355848"/>
            <a:ext cx="3102864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89320" y="3858768"/>
            <a:ext cx="4709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 i="0">
                <a:solidFill>
                  <a:srgbClr val="666666"/>
                </a:solidFill>
                <a:latin typeface="Arial"/>
              </a:rPr>
              <a:t>Off-diagonal blocks couple translation and rotation.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718304"/>
            <a:ext cx="10287000" cy="685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782312"/>
            <a:ext cx="4320540" cy="5577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55" b="1" i="0">
                <a:solidFill>
                  <a:srgbClr val="111111"/>
                </a:solidFill>
                <a:latin typeface="Arial"/>
              </a:rPr>
              <a:t>Complete commanded TCP moment</a:t>
            </a:r>
          </a:p>
        </p:txBody>
      </p:sp>
      <p:pic>
        <p:nvPicPr>
          <p:cNvPr id="13" name="Picture 12" descr="eq_622ab42fd691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535" y="4818888"/>
            <a:ext cx="2997538" cy="4846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17320" y="5513832"/>
            <a:ext cx="941832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40" b="0" i="0">
                <a:solidFill>
                  <a:srgbClr val="111111"/>
                </a:solidFill>
                <a:latin typeface="Arial"/>
              </a:rPr>
              <a:t>At r_c = 0, the coupling term vanishes. Finite rotational compliance remains active, but no extra CoC-induced moment favours either rotational direction.</a:t>
            </a:r>
          </a:p>
        </p:txBody>
      </p:sp>
      <p:pic>
        <p:nvPicPr>
          <p:cNvPr id="15" name="Picture 14" descr="image-2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Why the CoC direction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 tangential lever turns the commanded normal press into a directional moment</a:t>
            </a:r>
          </a:p>
        </p:txBody>
      </p:sp>
      <p:pic>
        <p:nvPicPr>
          <p:cNvPr id="4" name="Picture 3" descr="compliance_lever_mo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67318"/>
            <a:ext cx="6629400" cy="22146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280160"/>
            <a:ext cx="1417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Direction rule</a:t>
            </a:r>
          </a:p>
        </p:txBody>
      </p:sp>
      <p:pic>
        <p:nvPicPr>
          <p:cNvPr id="6" name="Picture 5" descr="eq_719c031bf653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326" y="1773936"/>
            <a:ext cx="1491386" cy="384048"/>
          </a:xfrm>
          <a:prstGeom prst="rect">
            <a:avLst/>
          </a:prstGeom>
        </p:spPr>
      </p:pic>
      <p:pic>
        <p:nvPicPr>
          <p:cNvPr id="7" name="Picture 6" descr="eq_dfcb51d68b55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2447520"/>
            <a:ext cx="3108960" cy="7742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08392" y="3502152"/>
            <a:ext cx="32004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0" i="0">
                <a:solidFill>
                  <a:srgbClr val="666666"/>
                </a:solidFill>
                <a:latin typeface="Arial"/>
              </a:rPr>
              <a:t>During pressing, F_n &lt; 0. The selected r_c,t makes r_c,t × f_n oppose the angular-offset direction.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4617720"/>
            <a:ext cx="10222992" cy="777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690872"/>
            <a:ext cx="10003536" cy="6309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70" b="1" i="0">
                <a:solidFill>
                  <a:srgbClr val="111111"/>
                </a:solidFill>
                <a:latin typeface="Arial"/>
              </a:rPr>
              <a:t>Reversing the initial angular offset reverses the useful CoC displacement. Therefore one fixed non-zero tangential CoC cannot assist both directions equally.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5532120"/>
            <a:ext cx="5074920" cy="548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5605272"/>
            <a:ext cx="4855464" cy="40233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TCP-centred CoC: r_c = 0 → no directional bias.</a:t>
            </a:r>
          </a:p>
        </p:txBody>
      </p:sp>
      <p:pic>
        <p:nvPicPr>
          <p:cNvPr id="13" name="Picture 12" descr="image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Real-time controller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torque callback operates only on preallocated state and robot/model data</a:t>
            </a:r>
          </a:p>
        </p:txBody>
      </p:sp>
      <p:pic>
        <p:nvPicPr>
          <p:cNvPr id="4" name="Picture 3" descr="controller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78514"/>
            <a:ext cx="7223760" cy="3380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243584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Implementation choices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664208"/>
            <a:ext cx="3154680" cy="2971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111111"/>
                </a:solidFill>
                <a:latin typeface="Arial"/>
              </a:defRPr>
            </a:pPr>
            <a:r>
              <a:t>• C++14 with libfranka 0.7.1 and Eigen 3.3.7.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111111"/>
                </a:solidFill>
                <a:latin typeface="Arial"/>
              </a:defRPr>
            </a:pPr>
            <a:r>
              <a:t>• Ubuntu 20.04.3, PREEMPT_RT kernel 5.9.1-rt20.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111111"/>
                </a:solidFill>
                <a:latin typeface="Arial"/>
              </a:defRPr>
            </a:pPr>
            <a:r>
              <a:t>• Nominal 1 ms callback; terminal input handled by a separate keyboard thread.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111111"/>
                </a:solidFill>
                <a:latin typeface="Arial"/>
              </a:defRPr>
            </a:pPr>
            <a:r>
              <a:t>• File output is deferred until torque control stops.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111111"/>
                </a:solidFill>
                <a:latin typeface="Arial"/>
              </a:defRPr>
            </a:pPr>
            <a:r>
              <a:t>• Each session reloads and validates the parameter 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11312" y="4956048"/>
            <a:ext cx="3182112" cy="7955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5029200"/>
            <a:ext cx="2962656" cy="6492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80" b="1" i="0">
                <a:solidFill>
                  <a:srgbClr val="111111"/>
                </a:solidFill>
                <a:latin typeface="Arial"/>
              </a:rPr>
              <a:t>Gravity compensation is handled by the FCI; the application adds the model Coriolis/centrifugal term τ_c.</a:t>
            </a:r>
          </a:p>
        </p:txBody>
      </p:sp>
      <p:pic>
        <p:nvPicPr>
          <p:cNvPr id="9" name="Picture 8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Surface-contact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experiment separates orientation, approach, contact establishment, hold, and grinding</a:t>
            </a:r>
          </a:p>
        </p:txBody>
      </p:sp>
      <p:pic>
        <p:nvPicPr>
          <p:cNvPr id="4" name="Picture 3" descr="phase_flow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575" y="1124712"/>
            <a:ext cx="5350673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225296"/>
            <a:ext cx="1508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Measured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664208"/>
            <a:ext cx="3913632" cy="3429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11111"/>
                </a:solidFill>
                <a:latin typeface="Arial"/>
              </a:defRPr>
            </a:pPr>
            <a:r>
              <a:t>• Tool Orientation: establish the commanded pre-contact direction.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11111"/>
                </a:solidFill>
                <a:latin typeface="Arial"/>
              </a:defRPr>
            </a:pPr>
            <a:r>
              <a:t>• Surface Approach: descend until the minimum rectangular-tool clearance reaches 20 mm.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11111"/>
                </a:solidFill>
                <a:latin typeface="Arial"/>
              </a:defRPr>
            </a:pPr>
            <a:r>
              <a:t>• Contact Establishment: move the selected tool point toward the surface for up to 5 s while holding the captured entry orientation.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11111"/>
                </a:solidFill>
                <a:latin typeface="Arial"/>
              </a:defRPr>
            </a:pPr>
            <a:r>
              <a:t>• Pre-Grinding Hold: preserve the final contact reference until operator confirmation.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11111"/>
                </a:solidFill>
                <a:latin typeface="Arial"/>
              </a:defRPr>
            </a:pPr>
            <a:r>
              <a:t>• Grinding: retain the normal press and superimpose tangential motion; not part of the quantitative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5285232"/>
            <a:ext cx="3886200" cy="6035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0648" y="5358384"/>
            <a:ext cx="3666744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20" b="1" i="0">
                <a:solidFill>
                  <a:srgbClr val="111111"/>
                </a:solidFill>
                <a:latin typeface="Arial"/>
              </a:rPr>
              <a:t>All reported contact-response values come from Contact Establishment.</a:t>
            </a:r>
          </a:p>
        </p:txBody>
      </p:sp>
      <p:pic>
        <p:nvPicPr>
          <p:cNvPr id="9" name="Picture 8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Tool geometry, clearance, and contact 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controller uses the rectangular face geometry to decide when approach ends</a:t>
            </a:r>
          </a:p>
        </p:txBody>
      </p:sp>
      <p:pic>
        <p:nvPicPr>
          <p:cNvPr id="4" name="Picture 3" descr="tool_clearance_criter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63548"/>
            <a:ext cx="3749039" cy="2222142"/>
          </a:xfrm>
          <a:prstGeom prst="rect">
            <a:avLst/>
          </a:prstGeom>
        </p:spPr>
      </p:pic>
      <p:pic>
        <p:nvPicPr>
          <p:cNvPr id="5" name="Picture 4" descr="leading_feature_c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892031"/>
            <a:ext cx="3840480" cy="1565176"/>
          </a:xfrm>
          <a:prstGeom prst="rect">
            <a:avLst/>
          </a:prstGeom>
        </p:spPr>
      </p:pic>
      <p:pic>
        <p:nvPicPr>
          <p:cNvPr id="6" name="Picture 5" descr="face_feature_sel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1757234"/>
            <a:ext cx="2057400" cy="18347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389120"/>
            <a:ext cx="2468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Geometry used in the experiments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28032"/>
            <a:ext cx="5989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Tool face: 40 × 120 mm · centre: +20 mm along Z_EE · custom gripper fingers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6400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 i="0">
                <a:solidFill>
                  <a:srgbClr val="666666"/>
                </a:solidFill>
                <a:latin typeface="Arial"/>
              </a:rPr>
              <a:t>The minimum clearance of the complete rectangular face determines the transition from Surface Approach to Contact Establishment.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4663440"/>
            <a:ext cx="3794760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0648" y="4736592"/>
            <a:ext cx="3575304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20" b="1" i="0">
                <a:solidFill>
                  <a:srgbClr val="111111"/>
                </a:solidFill>
                <a:latin typeface="Arial"/>
              </a:rPr>
              <a:t>Contact begins from the selected leading face feature while the controller still regulates the TCP.</a:t>
            </a:r>
          </a:p>
        </p:txBody>
      </p:sp>
      <p:pic>
        <p:nvPicPr>
          <p:cNvPr id="12" name="Picture 11" descr="image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Experimental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Franka Panda, rectangular tool, planar plate, and a real-time control computer</a:t>
            </a:r>
          </a:p>
        </p:txBody>
      </p:sp>
      <p:pic>
        <p:nvPicPr>
          <p:cNvPr id="4" name="Picture 3" descr="setup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29387"/>
            <a:ext cx="6537960" cy="22426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216152"/>
            <a:ext cx="187451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Hardware and contact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627632"/>
            <a:ext cx="3611880" cy="2514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111111"/>
                </a:solidFill>
                <a:latin typeface="Arial"/>
              </a:defRPr>
            </a:pPr>
            <a:r>
              <a:t>• Franka Emika Panda, 7 DOF, torque-controlled through the FCI.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111111"/>
                </a:solidFill>
                <a:latin typeface="Arial"/>
              </a:defRPr>
            </a:pPr>
            <a:r>
              <a:t>• Rectangular grinding tool clamped by the Franka Hand with custom pads/fingers.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111111"/>
                </a:solidFill>
                <a:latin typeface="Arial"/>
              </a:defRPr>
            </a:pPr>
            <a:r>
              <a:t>• Plane plate mounted on a raised base board; dry contact in every trial.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111111"/>
                </a:solidFill>
                <a:latin typeface="Arial"/>
              </a:defRPr>
            </a:pPr>
            <a:r>
              <a:t>• Control and logging at the nominal 1 kHz 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4617720"/>
            <a:ext cx="16002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40×120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4983480"/>
            <a:ext cx="16002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tool face [mm]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4617720"/>
            <a:ext cx="16002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4983480"/>
            <a:ext cx="16002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tool-centre offset [mm]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5577840"/>
            <a:ext cx="361188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7" y="5650992"/>
            <a:ext cx="3392424" cy="38404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11111"/>
                </a:solidFill>
                <a:latin typeface="Arial"/>
              </a:rPr>
              <a:t>Communication_test passed the libfranka mean command-success criterion ≥ 0.90.</a:t>
            </a:r>
          </a:p>
        </p:txBody>
      </p:sp>
      <p:pic>
        <p:nvPicPr>
          <p:cNvPr id="13" name="Picture 12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Surface-reference and tool-normal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controller reference and the physical tool normal were established independently</a:t>
            </a:r>
          </a:p>
        </p:txBody>
      </p:sp>
      <p:pic>
        <p:nvPicPr>
          <p:cNvPr id="4" name="Picture 3" descr="surface_reference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50869"/>
            <a:ext cx="5349240" cy="24360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55080" y="1261872"/>
            <a:ext cx="1600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Surface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664208"/>
            <a:ext cx="4800600" cy="1783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90">
                <a:solidFill>
                  <a:srgbClr val="111111"/>
                </a:solidFill>
                <a:latin typeface="Arial"/>
              </a:defRPr>
            </a:pPr>
            <a:r>
              <a:t>• Complete tool face seated on the plane once.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90">
                <a:solidFill>
                  <a:srgbClr val="111111"/>
                </a:solidFill>
                <a:latin typeface="Arial"/>
              </a:defRPr>
            </a:pPr>
            <a:r>
              <a:t>• −Z_EE transformed to base coordinates defines the outward configured surface normal n_s.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90">
                <a:solidFill>
                  <a:srgbClr val="111111"/>
                </a:solidFill>
                <a:latin typeface="Arial"/>
              </a:defRPr>
            </a:pPr>
            <a:r>
              <a:t>• Configured normal corresponds to −1.585° about base x and +0.988° about base 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3675887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Tool 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4078224"/>
            <a:ext cx="4800600" cy="1572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90">
                <a:solidFill>
                  <a:srgbClr val="111111"/>
                </a:solidFill>
                <a:latin typeface="Arial"/>
              </a:defRPr>
            </a:pPr>
            <a:r>
              <a:t>• Tool face seated on the plane at three yaw orientations.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90">
                <a:solidFill>
                  <a:srgbClr val="111111"/>
                </a:solidFill>
                <a:latin typeface="Arial"/>
              </a:defRPr>
            </a:pPr>
            <a:r>
              <a:t>• A unit vector in end-effector coordinates was fitted to make its base-frame direction as constant as possible.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90">
                <a:solidFill>
                  <a:srgbClr val="111111"/>
                </a:solidFill>
                <a:latin typeface="Arial"/>
              </a:defRPr>
            </a:pPr>
            <a:r>
              <a:t>• Calibrated tool normal differs from nominal +Z_EE by ≈1.56°.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72000"/>
            <a:ext cx="507492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4645152"/>
            <a:ext cx="4855464" cy="90525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90" b="1" i="0">
                <a:solidFill>
                  <a:srgbClr val="111111"/>
                </a:solidFill>
                <a:latin typeface="Arial"/>
              </a:rPr>
              <a:t>θ_init,t₁ is calculated from the measured entry orientation and these calibrated directions; the physical tool–surface angle was not measured directly.</a:t>
            </a:r>
          </a:p>
        </p:txBody>
      </p:sp>
      <p:pic>
        <p:nvPicPr>
          <p:cNvPr id="11" name="Picture 10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Contact-test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All comparisons change one parameter while the remaining contact sequence and geometry stay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87451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Orientation /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18872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Contact Establishment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18872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Repetitions / logging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3017520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Orientation + approach gains: Kₚ = 150 N/m in all directions; Kᴿ = [180, 180, 90] N·m/rad.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Damping factor ζ = 1.9.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Approach speed 0.1 m/s; clearance = 20 mm.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627632"/>
            <a:ext cx="3063240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Baseline contact gains: Kₚ = [2000, 2000, 350] N/m and Kᴿ = [5, 5, 50] N·m/rad.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Damping factor ζ = 1.0, inertia-scaled by direction.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Press speed 0.08 m/s; independent 5 s timeout.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627632"/>
            <a:ext cx="3200400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Each parameter setting repeated 3 times.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57 surface-contact trials + 12 pose-hold trials = 69 total.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Runtime signals stored in a preallocated in-memory ring buffer and written to CSV after torque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4069080"/>
            <a:ext cx="909828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64207" y="4142232"/>
            <a:ext cx="8878824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40" b="1" i="0">
                <a:solidFill>
                  <a:srgbClr val="111111"/>
                </a:solidFill>
                <a:latin typeface="Arial"/>
              </a:rPr>
              <a:t>During Cases A–D the surface-contact null-space configuration stayed fixed: d_null = 2 N·m·s/rad and k_σ = 1 N·m.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120640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3×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486400"/>
            <a:ext cx="2011680" cy="5029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repetitions per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5120640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5486400"/>
            <a:ext cx="2011680" cy="5029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contact parameter 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120640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486400"/>
            <a:ext cx="2011680" cy="5029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reported trials</a:t>
            </a:r>
          </a:p>
        </p:txBody>
      </p:sp>
      <p:pic>
        <p:nvPicPr>
          <p:cNvPr id="18" name="Picture 17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Main surface-contact experimental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Cases A–D separate the baseline, stiffness effects, and tangential CoC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58368" cy="502920"/>
          </a:xfrm>
          <a:prstGeom prst="rect">
            <a:avLst/>
          </a:prstGeom>
          <a:solidFill>
            <a:srgbClr val="F7F7F7"/>
          </a:solidFill>
          <a:ln w="889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408176"/>
            <a:ext cx="56692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111"/>
                </a:solidFill>
                <a:latin typeface="Arial"/>
              </a:rPr>
              <a:t>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16736" y="1298448"/>
            <a:ext cx="2057400" cy="502920"/>
          </a:xfrm>
          <a:prstGeom prst="rect">
            <a:avLst/>
          </a:prstGeom>
          <a:solidFill>
            <a:srgbClr val="F7F7F7"/>
          </a:solidFill>
          <a:ln w="889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62456" y="1408176"/>
            <a:ext cx="1965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111"/>
                </a:solidFill>
                <a:latin typeface="Arial"/>
              </a:rPr>
              <a:t>Variable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4136" y="1298448"/>
            <a:ext cx="2468880" cy="502920"/>
          </a:xfrm>
          <a:prstGeom prst="rect">
            <a:avLst/>
          </a:prstGeom>
          <a:solidFill>
            <a:srgbClr val="F7F7F7"/>
          </a:solidFill>
          <a:ln w="889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408176"/>
            <a:ext cx="23774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111"/>
                </a:solidFill>
                <a:latin typeface="Arial"/>
              </a:rPr>
              <a:t>Achieved initial condition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3016" y="1298448"/>
            <a:ext cx="3886200" cy="502920"/>
          </a:xfrm>
          <a:prstGeom prst="rect">
            <a:avLst/>
          </a:prstGeom>
          <a:solidFill>
            <a:srgbClr val="F7F7F7"/>
          </a:solidFill>
          <a:ln w="889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88736" y="1408176"/>
            <a:ext cx="37947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111"/>
                </a:solidFill>
                <a:latin typeface="Arial"/>
              </a:rPr>
              <a:t>Tested values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29216" y="1298448"/>
            <a:ext cx="749808" cy="502920"/>
          </a:xfrm>
          <a:prstGeom prst="rect">
            <a:avLst/>
          </a:prstGeom>
          <a:solidFill>
            <a:srgbClr val="F7F7F7"/>
          </a:solidFill>
          <a:ln w="889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74936" y="1408176"/>
            <a:ext cx="6583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111"/>
                </a:solidFill>
                <a:latin typeface="Arial"/>
              </a:rPr>
              <a:t>Trials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1801368"/>
            <a:ext cx="658368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1892807"/>
            <a:ext cx="530352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111111"/>
                </a:solidFill>
                <a:latin typeface="Arial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16736" y="1801368"/>
            <a:ext cx="205740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0744" y="1892807"/>
            <a:ext cx="192938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111111"/>
                </a:solidFill>
                <a:latin typeface="Arial"/>
              </a:rPr>
              <a:t>CoC at TCP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74136" y="1801368"/>
            <a:ext cx="246888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8144" y="1892807"/>
            <a:ext cx="234086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111111"/>
                </a:solidFill>
                <a:latin typeface="Arial"/>
              </a:rPr>
              <a:t>φ₀=0.74°; +9.31°; −9.41° about t₁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3016" y="1801368"/>
            <a:ext cx="388620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024" y="1892807"/>
            <a:ext cx="375818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11111"/>
                </a:solidFill>
                <a:latin typeface="Arial"/>
              </a:rPr>
              <a:t>r_c =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29216" y="1801368"/>
            <a:ext cx="749808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93224" y="1892807"/>
            <a:ext cx="621792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30" b="0" i="0">
                <a:solidFill>
                  <a:srgbClr val="111111"/>
                </a:solidFill>
                <a:latin typeface="Arial"/>
              </a:rPr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2642616"/>
            <a:ext cx="658368" cy="841248"/>
          </a:xfrm>
          <a:prstGeom prst="rect">
            <a:avLst/>
          </a:prstGeom>
          <a:solidFill>
            <a:srgbClr val="F5F5F5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2734056"/>
            <a:ext cx="530352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111111"/>
                </a:solidFill>
                <a:latin typeface="Arial"/>
              </a:rPr>
              <a:t>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16736" y="2642616"/>
            <a:ext cx="2057400" cy="841248"/>
          </a:xfrm>
          <a:prstGeom prst="rect">
            <a:avLst/>
          </a:prstGeom>
          <a:solidFill>
            <a:srgbClr val="F5F5F5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0744" y="2734056"/>
            <a:ext cx="192938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111111"/>
                </a:solidFill>
                <a:latin typeface="Arial"/>
              </a:rPr>
              <a:t>Rotational stiffness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74136" y="2642616"/>
            <a:ext cx="2468880" cy="841248"/>
          </a:xfrm>
          <a:prstGeom prst="rect">
            <a:avLst/>
          </a:prstGeom>
          <a:solidFill>
            <a:srgbClr val="F5F5F5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38144" y="2734056"/>
            <a:ext cx="234086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111111"/>
                </a:solidFill>
                <a:latin typeface="Arial"/>
              </a:rPr>
              <a:t>+9.31° to +9.32° about t₁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43016" y="2642616"/>
            <a:ext cx="3886200" cy="841248"/>
          </a:xfrm>
          <a:prstGeom prst="rect">
            <a:avLst/>
          </a:prstGeom>
          <a:solidFill>
            <a:srgbClr val="F5F5F5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07024" y="2734056"/>
            <a:ext cx="375818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11111"/>
                </a:solidFill>
                <a:latin typeface="Arial"/>
              </a:rPr>
              <a:t>K_R,t₁ = 15, 50 N·m/rad
(+ 5 N·m/rad baseline)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29216" y="2642616"/>
            <a:ext cx="749808" cy="841248"/>
          </a:xfrm>
          <a:prstGeom prst="rect">
            <a:avLst/>
          </a:prstGeom>
          <a:solidFill>
            <a:srgbClr val="F5F5F5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93224" y="2734056"/>
            <a:ext cx="621792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30" b="0" i="0">
                <a:solidFill>
                  <a:srgbClr val="111111"/>
                </a:solidFill>
                <a:latin typeface="Arial"/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483864"/>
            <a:ext cx="658368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" y="3575304"/>
            <a:ext cx="530352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111111"/>
                </a:solidFill>
                <a:latin typeface="Arial"/>
              </a:rPr>
              <a:t>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16736" y="3483864"/>
            <a:ext cx="205740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80744" y="3575304"/>
            <a:ext cx="192938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111111"/>
                </a:solidFill>
                <a:latin typeface="Arial"/>
              </a:rPr>
              <a:t>Tangential translational stiffness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74136" y="3483864"/>
            <a:ext cx="246888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38144" y="3575304"/>
            <a:ext cx="234086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111111"/>
                </a:solidFill>
                <a:latin typeface="Arial"/>
              </a:rPr>
              <a:t>+9.24° to +9.31° about t₁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43016" y="3483864"/>
            <a:ext cx="388620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07024" y="3575304"/>
            <a:ext cx="375818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11111"/>
                </a:solidFill>
                <a:latin typeface="Arial"/>
              </a:rPr>
              <a:t>K_p,t₂ = 300, 800 N/m
(+ 2000 N/m baseline)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9216" y="3483864"/>
            <a:ext cx="749808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93224" y="3575304"/>
            <a:ext cx="621792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30" b="0" i="0">
                <a:solidFill>
                  <a:srgbClr val="111111"/>
                </a:solidFill>
                <a:latin typeface="Arial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325112"/>
            <a:ext cx="658368" cy="1060704"/>
          </a:xfrm>
          <a:prstGeom prst="rect">
            <a:avLst/>
          </a:prstGeom>
          <a:solidFill>
            <a:srgbClr val="F5F5F5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4416552"/>
            <a:ext cx="530352" cy="91439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111111"/>
                </a:solidFill>
                <a:latin typeface="Arial"/>
              </a:rPr>
              <a:t>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16736" y="4325112"/>
            <a:ext cx="2057400" cy="1060704"/>
          </a:xfrm>
          <a:prstGeom prst="rect">
            <a:avLst/>
          </a:prstGeom>
          <a:solidFill>
            <a:srgbClr val="F5F5F5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80744" y="4416552"/>
            <a:ext cx="1929384" cy="91439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111111"/>
                </a:solidFill>
                <a:latin typeface="Arial"/>
              </a:rPr>
              <a:t>Tangential CoC position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74136" y="4325112"/>
            <a:ext cx="2468880" cy="1060704"/>
          </a:xfrm>
          <a:prstGeom prst="rect">
            <a:avLst/>
          </a:prstGeom>
          <a:solidFill>
            <a:srgbClr val="F5F5F5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38144" y="4416552"/>
            <a:ext cx="2340864" cy="91439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111111"/>
                </a:solidFill>
                <a:latin typeface="Arial"/>
              </a:rPr>
              <a:t>+9.32° and −9.36° about t₁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43016" y="4325112"/>
            <a:ext cx="3886200" cy="1060704"/>
          </a:xfrm>
          <a:prstGeom prst="rect">
            <a:avLst/>
          </a:prstGeom>
          <a:solidFill>
            <a:srgbClr val="F5F5F5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07024" y="4416552"/>
            <a:ext cx="3758184" cy="91439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11111"/>
                </a:solidFill>
                <a:latin typeface="Arial"/>
              </a:rPr>
              <a:t>r_c,t₂ = −40, −20, −10, +10, +20, +40 mm
(+ 0 mm baseline)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29216" y="4325112"/>
            <a:ext cx="749808" cy="1060704"/>
          </a:xfrm>
          <a:prstGeom prst="rect">
            <a:avLst/>
          </a:prstGeom>
          <a:solidFill>
            <a:srgbClr val="F5F5F5"/>
          </a:solidFill>
          <a:ln w="571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93224" y="4416552"/>
            <a:ext cx="621792" cy="91439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30" b="0" i="0">
                <a:solidFill>
                  <a:srgbClr val="111111"/>
                </a:solidFill>
                <a:latin typeface="Arial"/>
              </a:rPr>
              <a:t>36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444752" y="5541264"/>
            <a:ext cx="928116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54480" y="5614416"/>
            <a:ext cx="9061704" cy="38404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60" b="1" i="0">
                <a:solidFill>
                  <a:srgbClr val="111111"/>
                </a:solidFill>
                <a:latin typeface="Arial"/>
              </a:rPr>
              <a:t>The r_c,t₂ = 0 reference in Cases B–D reuses the corresponding Case-A TCP-centred measurement.</a:t>
            </a:r>
          </a:p>
        </p:txBody>
      </p:sp>
      <p:pic>
        <p:nvPicPr>
          <p:cNvPr id="56" name="Picture 55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Results I — TCP-centred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Case A: with r_c = 0, contact-induced rotation occurs towards the configured surface for both tested directions</a:t>
            </a:r>
          </a:p>
        </p:txBody>
      </p:sp>
      <p:pic>
        <p:nvPicPr>
          <p:cNvPr id="4" name="Picture 3" descr="results_case_a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577" y="1225296"/>
            <a:ext cx="5017725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1325880"/>
            <a:ext cx="1920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+7.57°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691640"/>
            <a:ext cx="1920240" cy="5029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response at +9.31° initial offset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1325880"/>
            <a:ext cx="1920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−10.83°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1691640"/>
            <a:ext cx="1920240" cy="5029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response at −9.41° initial offset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450592"/>
            <a:ext cx="1920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81.3%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816352"/>
            <a:ext cx="1920240" cy="5029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|response| / |initial|, positive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450592"/>
            <a:ext cx="1920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115.1%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816352"/>
            <a:ext cx="1920240" cy="5029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|response| / |initial|, negative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703320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078224"/>
            <a:ext cx="416052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At the TCP, r_c × f = 0: there is no additional CoC moment selecting a rotational direction.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The finite rotational compliance still permits contact-induced rotation in both directions.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This makes the TCP-centred condition a suitable direction-independent final configuration after alignment.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5074920"/>
            <a:ext cx="4526280" cy="594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84248" y="5148072"/>
            <a:ext cx="4306824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70" b="1" i="0">
                <a:solidFill>
                  <a:srgbClr val="111111"/>
                </a:solidFill>
                <a:latin typeface="Arial"/>
              </a:rPr>
              <a:t>TCP-centred CoC = direction-independent baseline.</a:t>
            </a:r>
          </a:p>
        </p:txBody>
      </p:sp>
      <p:pic>
        <p:nvPicPr>
          <p:cNvPr id="17" name="Picture 16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Results II — stiffness effects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Rotational stiffness controls the alignment response much more strongly than tangential translational stiffness</a:t>
            </a:r>
          </a:p>
        </p:txBody>
      </p:sp>
      <p:pic>
        <p:nvPicPr>
          <p:cNvPr id="4" name="Picture 3" descr="results_case_b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7" y="1188720"/>
            <a:ext cx="4754880" cy="2971800"/>
          </a:xfrm>
          <a:prstGeom prst="rect">
            <a:avLst/>
          </a:prstGeom>
        </p:spPr>
      </p:pic>
      <p:pic>
        <p:nvPicPr>
          <p:cNvPr id="5" name="Picture 4" descr="results_case_c_stiff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523" y="1188720"/>
            <a:ext cx="4754880" cy="2971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8" y="4343400"/>
            <a:ext cx="1691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Case B — K_R,t₁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736592"/>
            <a:ext cx="201168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111"/>
                </a:solidFill>
                <a:latin typeface="Arial"/>
              </a:rPr>
              <a:t>5 → 50 N·m/rad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7792" y="4462272"/>
            <a:ext cx="22402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−63.9%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7792" y="4828032"/>
            <a:ext cx="2240280" cy="5029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response reduction: 7.57° → 2.73°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2784" y="4343400"/>
            <a:ext cx="1691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Case C — K_p,t₂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4736592"/>
            <a:ext cx="210312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111"/>
                </a:solidFill>
                <a:latin typeface="Arial"/>
              </a:rPr>
              <a:t>300 → 2000 N/m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58784" y="4462272"/>
            <a:ext cx="22402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0.4%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8784" y="4828032"/>
            <a:ext cx="2240280" cy="5029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response span: 7.56°–7.59°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5532120"/>
            <a:ext cx="9692640" cy="5852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5605272"/>
            <a:ext cx="9473184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40" b="1" i="0">
                <a:solidFill>
                  <a:srgbClr val="111111"/>
                </a:solidFill>
                <a:latin typeface="Arial"/>
              </a:rPr>
              <a:t>Takeaway: the alignment response is far more sensitive to rotational stiffness about the response axis than to the tested cross-axis translational stiffness.</a:t>
            </a:r>
          </a:p>
        </p:txBody>
      </p:sp>
      <p:pic>
        <p:nvPicPr>
          <p:cNvPr id="16" name="Picture 15" descr="image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Results III — tangential CoC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Case D: the displaced CoC selects a preferred rotational direction</a:t>
            </a:r>
          </a:p>
        </p:txBody>
      </p:sp>
      <p:pic>
        <p:nvPicPr>
          <p:cNvPr id="4" name="Picture 3" descr="results_case_d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46816"/>
            <a:ext cx="6537960" cy="32042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234440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Positive initial offset (+9.32°)</a:t>
            </a:r>
          </a:p>
        </p:txBody>
      </p:sp>
      <p:pic>
        <p:nvPicPr>
          <p:cNvPr id="6" name="Picture 5" descr="eq_daa4b3398d6c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259" y="1691640"/>
            <a:ext cx="222752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2651760"/>
            <a:ext cx="2423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Negative initial offset (−9.36°)</a:t>
            </a:r>
          </a:p>
        </p:txBody>
      </p:sp>
      <p:pic>
        <p:nvPicPr>
          <p:cNvPr id="8" name="Picture 7" descr="eq_b6a2b3964d97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959" y="3108960"/>
            <a:ext cx="2456120" cy="685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43800" y="4160520"/>
            <a:ext cx="352044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7" y="4233672"/>
            <a:ext cx="3300984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20" b="1" i="0">
                <a:solidFill>
                  <a:srgbClr val="111111"/>
                </a:solidFill>
                <a:latin typeface="Arial"/>
              </a:rPr>
              <a:t>Same lever direction, opposite effect: useful for one sign and strongly opposing for the other.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074920"/>
            <a:ext cx="101955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Selecting the CoC direction according to the initial offset increased the final response by ≈4%. Selecting the opposite direction reduced the response by ≈98–99%.</a:t>
            </a:r>
          </a:p>
        </p:txBody>
      </p:sp>
      <p:pic>
        <p:nvPicPr>
          <p:cNvPr id="12" name="Picture 11" descr="image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Results IV — mechanism behind the CoC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normal press stays similar, while the commanded TCP moment changes strongly and reverses sign</a:t>
            </a:r>
          </a:p>
        </p:txBody>
      </p:sp>
      <p:pic>
        <p:nvPicPr>
          <p:cNvPr id="4" name="Picture 3" descr="MAIN_D_wr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909" y="1143000"/>
            <a:ext cx="4234261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14032" y="123444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Positive-offset condition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4032" y="1664208"/>
            <a:ext cx="4069080" cy="2560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Compared r_c,t₂ = −40, 0, +40 mm at mean θ_init,t₁ = 9.32°.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Commanded normal force settles in a narrow range: about −77 to −82 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Commanded TCP moment settles at ≈ +3.28, +0.66, and −2.44 N·m.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The moment reverses direction between the two displaced CoCs, while the normal force changes only slightly.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4526280"/>
            <a:ext cx="17373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2.3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4892040"/>
            <a:ext cx="1737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≈ steady response, +40 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4526280"/>
            <a:ext cx="17373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3.6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4892040"/>
            <a:ext cx="1737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≈ steady response, TCP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5532120"/>
            <a:ext cx="406908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96328" y="5605272"/>
            <a:ext cx="3849624" cy="38404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70" b="1" i="0">
                <a:solidFill>
                  <a:srgbClr val="111111"/>
                </a:solidFill>
                <a:latin typeface="Arial"/>
              </a:rPr>
              <a:t>The displaced CoC mainly changes the rotational moment generated by the commanded press — not the press magnitude itself.</a:t>
            </a:r>
          </a:p>
        </p:txBody>
      </p:sp>
      <p:pic>
        <p:nvPicPr>
          <p:cNvPr id="13" name="Picture 12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Secondary null-space 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7-DOF Panda has one redundant direction at full Jacobian rank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554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SVD and projector</a:t>
            </a:r>
          </a:p>
        </p:txBody>
      </p:sp>
      <p:pic>
        <p:nvPicPr>
          <p:cNvPr id="5" name="Picture 4" descr="eq_aae719d9a9d7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25999"/>
            <a:ext cx="3886200" cy="443345"/>
          </a:xfrm>
          <a:prstGeom prst="rect">
            <a:avLst/>
          </a:prstGeom>
        </p:spPr>
      </p:pic>
      <p:pic>
        <p:nvPicPr>
          <p:cNvPr id="6" name="Picture 5" descr="eq_cf23ce1f552f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699" y="2395728"/>
            <a:ext cx="3653296" cy="438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0" y="1234440"/>
            <a:ext cx="1691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Projected damping</a:t>
            </a:r>
          </a:p>
        </p:txBody>
      </p:sp>
      <p:pic>
        <p:nvPicPr>
          <p:cNvPr id="8" name="Picture 7" descr="eq_0123a5d746f0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822" y="1773936"/>
            <a:ext cx="2247900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45152" y="2395728"/>
            <a:ext cx="3063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0" i="0">
                <a:solidFill>
                  <a:srgbClr val="666666"/>
                </a:solidFill>
                <a:latin typeface="Arial"/>
              </a:rPr>
              <a:t>Dissipates redundant joint motion already present.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234440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Singular-value conditioning</a:t>
            </a:r>
          </a:p>
        </p:txBody>
      </p:sp>
      <p:pic>
        <p:nvPicPr>
          <p:cNvPr id="11" name="Picture 10" descr="eq_29dcb3720171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4875" y="1737360"/>
            <a:ext cx="2514945" cy="393192"/>
          </a:xfrm>
          <a:prstGeom prst="rect">
            <a:avLst/>
          </a:prstGeom>
        </p:spPr>
      </p:pic>
      <p:pic>
        <p:nvPicPr>
          <p:cNvPr id="12" name="Picture 11" descr="eq_317669c56427d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2736" y="2286000"/>
            <a:ext cx="2159223" cy="3931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20" y="2779776"/>
            <a:ext cx="32004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666666"/>
                </a:solidFill>
                <a:latin typeface="Arial"/>
              </a:rPr>
              <a:t>Drives the configuration toward the sampled neighbour with the larger σ_min.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3749039"/>
            <a:ext cx="443484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q_5ae082ccbc98e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3840479"/>
            <a:ext cx="2734056" cy="475488"/>
          </a:xfrm>
          <a:prstGeom prst="rect">
            <a:avLst/>
          </a:prstGeom>
        </p:spPr>
      </p:pic>
      <p:pic>
        <p:nvPicPr>
          <p:cNvPr id="16" name="Picture 15" descr="pose_hold_mod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2218" y="4526280"/>
            <a:ext cx="1579922" cy="1417320"/>
          </a:xfrm>
          <a:prstGeom prst="rect">
            <a:avLst/>
          </a:prstGeom>
        </p:spPr>
      </p:pic>
      <p:pic>
        <p:nvPicPr>
          <p:cNvPr id="17" name="Picture 16" descr="image-2-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Null-space pose-hold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two secondary terms are evaluated separately under one repeatable virtual disturbance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88720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Four settings × 3 trials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91056"/>
            <a:ext cx="3520440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80">
                <a:solidFill>
                  <a:srgbClr val="111111"/>
                </a:solidFill>
                <a:latin typeface="Arial"/>
              </a:defRPr>
            </a:pPr>
            <a:r>
              <a:t>• Mode 0: τ_null = 0.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80">
                <a:solidFill>
                  <a:srgbClr val="111111"/>
                </a:solidFill>
                <a:latin typeface="Arial"/>
              </a:defRPr>
            </a:pPr>
            <a:r>
              <a:t>• Mode 1: projected damping, d_null = 2 N·m·s/rad.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80">
                <a:solidFill>
                  <a:srgbClr val="111111"/>
                </a:solidFill>
                <a:latin typeface="Arial"/>
              </a:defRPr>
            </a:pPr>
            <a:r>
              <a:t>• Mode 2: conditioning only, k_σ = 1.5 N·m.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80">
                <a:solidFill>
                  <a:srgbClr val="111111"/>
                </a:solidFill>
                <a:latin typeface="Arial"/>
              </a:defRPr>
            </a:pPr>
            <a:r>
              <a:t>• Mode 2: conditioning only, k_σ = 2.0 N·m.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188720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Held Cartesian 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591056"/>
            <a:ext cx="30175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K_p,hold = 2000 N/m.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K_R,hold = 50 N·m/rad.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D_p,hold = 50 N·s/m.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D_R,hold = 8 N·m·s/rad.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Acceptance: max ||e_p|| &lt; 2 mm during disturbance.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18872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Virtual disturbance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591056"/>
            <a:ext cx="3401568" cy="2057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50">
                <a:solidFill>
                  <a:srgbClr val="111111"/>
                </a:solidFill>
                <a:latin typeface="Arial"/>
              </a:defRPr>
            </a:pPr>
            <a:r>
              <a:t>• 20 N virtual point force on link 3 at r_p = [0, 0, 0.2]ᵀ 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>
                <a:solidFill>
                  <a:srgbClr val="111111"/>
                </a:solidFill>
                <a:latin typeface="Arial"/>
              </a:defRPr>
            </a:pPr>
            <a:r>
              <a:t>• Force direction aligned with the selected link-point motion produced by the initial structural null direction.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>
                <a:solidFill>
                  <a:srgbClr val="111111"/>
                </a:solidFill>
                <a:latin typeface="Arial"/>
              </a:defRPr>
            </a:pPr>
            <a:r>
              <a:t>• Equivalent torque bounded by 3 N·m.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51560" y="4937760"/>
            <a:ext cx="992124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51560" y="4828032"/>
            <a:ext cx="0" cy="246888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39" y="5148072"/>
            <a:ext cx="548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 i="0">
                <a:solidFill>
                  <a:srgbClr val="666666"/>
                </a:solidFill>
                <a:latin typeface="Arial"/>
              </a:rPr>
              <a:t>0 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43400" y="4828032"/>
            <a:ext cx="0" cy="246888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69080" y="5148072"/>
            <a:ext cx="548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 i="0">
                <a:solidFill>
                  <a:srgbClr val="666666"/>
                </a:solidFill>
                <a:latin typeface="Arial"/>
              </a:rPr>
              <a:t>5 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4828032"/>
            <a:ext cx="0" cy="246888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15000" y="5148072"/>
            <a:ext cx="548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 i="0">
                <a:solidFill>
                  <a:srgbClr val="666666"/>
                </a:solidFill>
                <a:latin typeface="Arial"/>
              </a:rPr>
              <a:t>7 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12280" y="4828032"/>
            <a:ext cx="0" cy="246888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37960" y="5148072"/>
            <a:ext cx="548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 i="0">
                <a:solidFill>
                  <a:srgbClr val="666666"/>
                </a:solidFill>
                <a:latin typeface="Arial"/>
              </a:rPr>
              <a:t>8 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35240" y="4828032"/>
            <a:ext cx="0" cy="246888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60919" y="5148072"/>
            <a:ext cx="548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 i="0">
                <a:solidFill>
                  <a:srgbClr val="666666"/>
                </a:solidFill>
                <a:latin typeface="Arial"/>
              </a:rPr>
              <a:t>9 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972800" y="4828032"/>
            <a:ext cx="0" cy="246888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698480" y="5148072"/>
            <a:ext cx="548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 i="0">
                <a:solidFill>
                  <a:srgbClr val="666666"/>
                </a:solidFill>
                <a:latin typeface="Arial"/>
              </a:rPr>
              <a:t>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4526280"/>
            <a:ext cx="3291840" cy="256032"/>
          </a:xfrm>
          <a:prstGeom prst="roundRect">
            <a:avLst/>
          </a:prstGeom>
          <a:solidFill>
            <a:srgbClr val="F5F5F5"/>
          </a:solidFill>
          <a:ln w="508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562856"/>
            <a:ext cx="3200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666666"/>
                </a:solidFill>
                <a:latin typeface="Arial"/>
              </a:rPr>
              <a:t>settling / conditioning active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526280"/>
            <a:ext cx="1645920" cy="256032"/>
          </a:xfrm>
          <a:prstGeom prst="roundRect">
            <a:avLst/>
          </a:prstGeom>
          <a:solidFill>
            <a:srgbClr val="F7F7F7"/>
          </a:solidFill>
          <a:ln w="508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562856"/>
            <a:ext cx="1554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111111"/>
                </a:solidFill>
                <a:latin typeface="Arial"/>
              </a:rPr>
              <a:t>smooth ramp 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4526280"/>
            <a:ext cx="822960" cy="256032"/>
          </a:xfrm>
          <a:prstGeom prst="roundRect">
            <a:avLst/>
          </a:prstGeom>
          <a:solidFill>
            <a:srgbClr val="FAE8E8"/>
          </a:solidFill>
          <a:ln w="5080">
            <a:solidFill>
              <a:srgbClr val="FB5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53328" y="4562856"/>
            <a:ext cx="69494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111111"/>
                </a:solidFill>
                <a:latin typeface="Arial"/>
              </a:rPr>
              <a:t>20 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12280" y="4526280"/>
            <a:ext cx="822960" cy="256032"/>
          </a:xfrm>
          <a:prstGeom prst="roundRect">
            <a:avLst/>
          </a:prstGeom>
          <a:solidFill>
            <a:srgbClr val="F7F7F7"/>
          </a:solidFill>
          <a:ln w="508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4562856"/>
            <a:ext cx="731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 i="0">
                <a:solidFill>
                  <a:srgbClr val="111111"/>
                </a:solidFill>
                <a:latin typeface="Arial"/>
              </a:rPr>
              <a:t>ramp down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4526280"/>
            <a:ext cx="3337560" cy="256032"/>
          </a:xfrm>
          <a:prstGeom prst="roundRect">
            <a:avLst/>
          </a:prstGeom>
          <a:solidFill>
            <a:srgbClr val="F5F5F5"/>
          </a:solidFill>
          <a:ln w="508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4562856"/>
            <a:ext cx="3200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666666"/>
                </a:solidFill>
                <a:latin typeface="Arial"/>
              </a:rPr>
              <a:t>post-disturbance observation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72768" y="5623560"/>
            <a:ext cx="909828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82495" y="5696712"/>
            <a:ext cx="8878824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60" b="1" i="0">
                <a:solidFill>
                  <a:srgbClr val="111111"/>
                </a:solidFill>
                <a:latin typeface="Arial"/>
              </a:rPr>
              <a:t>Evaluation metrics: cumulative projected null-space motion E_N, net displacement Δη, Δσ_min, and Cartesian position retention.</a:t>
            </a:r>
          </a:p>
        </p:txBody>
      </p:sp>
      <p:pic>
        <p:nvPicPr>
          <p:cNvPr id="35" name="Picture 34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Results V — null-space pose 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Projected damping reduces redundant motion; conditioning nearly removes the final net displacement</a:t>
            </a:r>
          </a:p>
        </p:txBody>
      </p:sp>
      <p:pic>
        <p:nvPicPr>
          <p:cNvPr id="4" name="Picture 3" descr="MAIN_NS_nullspace_auto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144" y="1170432"/>
            <a:ext cx="4066911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5160" y="1234440"/>
            <a:ext cx="1783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Projected damping</a:t>
            </a:r>
          </a:p>
        </p:txBody>
      </p:sp>
      <p:pic>
        <p:nvPicPr>
          <p:cNvPr id="6" name="Picture 5" descr="eq_8a5a85a8656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431" y="1691640"/>
            <a:ext cx="2933113" cy="365760"/>
          </a:xfrm>
          <a:prstGeom prst="rect">
            <a:avLst/>
          </a:prstGeom>
        </p:spPr>
      </p:pic>
      <p:pic>
        <p:nvPicPr>
          <p:cNvPr id="7" name="Picture 6" descr="eq_a07d1eadef8f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043" y="2176272"/>
            <a:ext cx="3283888" cy="365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88352" y="2697480"/>
            <a:ext cx="324612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2770632"/>
            <a:ext cx="3026663" cy="38404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11111"/>
                </a:solidFill>
                <a:latin typeface="Arial"/>
              </a:rPr>
              <a:t>≈25% less redundant motion.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429000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Singular-value conditioning</a:t>
            </a:r>
          </a:p>
        </p:txBody>
      </p:sp>
      <p:pic>
        <p:nvPicPr>
          <p:cNvPr id="11" name="Picture 10" descr="eq_c4c4145ded1b5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4196" y="3858768"/>
            <a:ext cx="2434430" cy="658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50608" y="4645152"/>
            <a:ext cx="3767328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Net-displacement reduction: 99.8% and 99.9% relative to inactive.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5257800"/>
            <a:ext cx="4041648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8" y="5330952"/>
            <a:ext cx="3822191" cy="60350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40" b="1" i="0">
                <a:solidFill>
                  <a:srgbClr val="111111"/>
                </a:solidFill>
                <a:latin typeface="Arial"/>
              </a:rPr>
              <a:t>2.0 N·m leaves slightly less final displacement but produces much more back-and-forth motion: E_N = 1.619° vs 0.283°.</a:t>
            </a:r>
          </a:p>
        </p:txBody>
      </p:sp>
      <p:pic>
        <p:nvPicPr>
          <p:cNvPr id="15" name="Picture 14" descr="image-2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Main experimental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What the measurements establish within the investigated task and parameter ranges</a:t>
            </a:r>
          </a:p>
        </p:txBody>
      </p:sp>
      <p:sp>
        <p:nvSpPr>
          <p:cNvPr id="4" name="Oval 3"/>
          <p:cNvSpPr/>
          <p:nvPr/>
        </p:nvSpPr>
        <p:spPr>
          <a:xfrm>
            <a:off x="713232" y="1234440"/>
            <a:ext cx="347472" cy="34747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84732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188720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TCP-centred CoC is direction-independent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188720"/>
            <a:ext cx="562356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Contact-induced rotation occurred towards the configured surface for both tested initial directions.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2176272"/>
            <a:ext cx="347472" cy="347472"/>
          </a:xfrm>
          <a:prstGeom prst="ellipse">
            <a:avLst/>
          </a:prstGeom>
          <a:solidFill>
            <a:srgbClr val="FB5556"/>
          </a:solidFill>
          <a:ln>
            <a:solidFill>
              <a:srgbClr val="FB5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26564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130552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Rotational stiffness is the dominant stiffness variable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130552"/>
            <a:ext cx="562356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5 → 50 N·m/rad reduced the response by 63.9%; K_p,t₂ variation changed it by only 0.4%.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3118104"/>
            <a:ext cx="347472" cy="347472"/>
          </a:xfrm>
          <a:prstGeom prst="ellipse">
            <a:avLst/>
          </a:prstGeom>
          <a:solidFill>
            <a:srgbClr val="FB5556"/>
          </a:solidFill>
          <a:ln>
            <a:solidFill>
              <a:srgbClr val="FB5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168396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072384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A displaced CoC is direction-selective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3072384"/>
            <a:ext cx="562356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Matched direction slightly increased/faster response; the opposite direction reduced the response by ≈98–99%.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4059935"/>
            <a:ext cx="347472" cy="347472"/>
          </a:xfrm>
          <a:prstGeom prst="ellipse">
            <a:avLst/>
          </a:prstGeom>
          <a:solidFill>
            <a:srgbClr val="5E7062"/>
          </a:solidFill>
          <a:ln>
            <a:solidFill>
              <a:srgbClr val="5E7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110228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014215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The mechanism is the commanded moment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4014215"/>
            <a:ext cx="562356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Normal force stayed similar while M_t₁ changed strongly and reversed sign with CoC direction.</a:t>
            </a:r>
          </a:p>
        </p:txBody>
      </p:sp>
      <p:sp>
        <p:nvSpPr>
          <p:cNvPr id="20" name="Oval 19"/>
          <p:cNvSpPr/>
          <p:nvPr/>
        </p:nvSpPr>
        <p:spPr>
          <a:xfrm>
            <a:off x="713232" y="5001768"/>
            <a:ext cx="347472" cy="34747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052060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956048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Null-space terms have distinct 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4956048"/>
            <a:ext cx="562356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Projected damping reduces motion; singular-value conditioning actively changes the redundant configuration.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71800" y="5870448"/>
            <a:ext cx="626364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81528" y="5943600"/>
            <a:ext cx="6044183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30" b="1" i="0">
                <a:solidFill>
                  <a:srgbClr val="111111"/>
                </a:solidFill>
                <a:latin typeface="Arial"/>
              </a:rPr>
              <a:t>Complete CoC setting = magnitude + direction + coordinate frame.</a:t>
            </a:r>
          </a:p>
        </p:txBody>
      </p:sp>
      <p:pic>
        <p:nvPicPr>
          <p:cNvPr id="26" name="Picture 25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quantitative conclusions are intentionally scoped to the tested geometry and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Surface-contact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074920" cy="2578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One Panda configuration, rectangular tool and mounting arrangement, configured surface reference, and Contact Establishment trajectory.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Main repeatable comparison was rotation about t₁; t₂ measurements were more variable.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Each trial used one fixed CoC displacement during Contact Establishment; adaptive switching was not tested.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Grinding motion was implemented but not included in the quantitative contact-response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188720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Measurement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600200"/>
            <a:ext cx="4800600" cy="2578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Physical tool–surface angle and instantaneous pressure/contact centre were not measured directly.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θ_init,t₁ and γₜ₁ therefore describe end-effector orientation relative to the configured surface reference.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60">
                <a:solidFill>
                  <a:srgbClr val="111111"/>
                </a:solidFill>
                <a:latin typeface="Arial"/>
              </a:defRPr>
            </a:pPr>
            <a:r>
              <a:t>• Tool mount had about ±2° unloaded angular play about y_EE, approximately aligned with t₂ in the flat configuration.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617720"/>
            <a:ext cx="1600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Null-space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50292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Projected damping and singular-value conditioning were tested separately in pose hold under one virtual disturbance direction and one robot configuration.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754880"/>
            <a:ext cx="475488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4828032"/>
            <a:ext cx="4535424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111"/>
                </a:solidFill>
                <a:latin typeface="Arial"/>
              </a:rPr>
              <a:t>Interpret the reported percentages as measured effects within the investigated task and parameter ranges.</a:t>
            </a:r>
          </a:p>
        </p:txBody>
      </p:sp>
      <p:pic>
        <p:nvPicPr>
          <p:cNvPr id="12" name="Picture 11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Future work — adaptive temporary CoC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results suggest a simple state-dependent compliance-centre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72768"/>
            <a:ext cx="251460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0200" y="1261872"/>
            <a:ext cx="502920" cy="502920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138074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74519"/>
            <a:ext cx="218541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Start at TCP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2148840" cy="8046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" b="0" i="0">
                <a:solidFill>
                  <a:srgbClr val="666666"/>
                </a:solidFill>
                <a:latin typeface="Arial"/>
              </a:rPr>
              <a:t>No directional bias before the initial offset is known.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82112" y="2606040"/>
            <a:ext cx="228600" cy="0"/>
          </a:xfrm>
          <a:prstGeom prst="line">
            <a:avLst/>
          </a:prstGeom>
          <a:ln w="16510">
            <a:solidFill>
              <a:srgbClr val="6666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1572768"/>
            <a:ext cx="251460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80560" y="1261872"/>
            <a:ext cx="502920" cy="502920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8074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874519"/>
            <a:ext cx="218541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Estimate offset 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95728"/>
            <a:ext cx="2148840" cy="8046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" b="0" i="0">
                <a:solidFill>
                  <a:srgbClr val="666666"/>
                </a:solidFill>
                <a:latin typeface="Arial"/>
              </a:rPr>
              <a:t>Use the achieved tool orientation relative to the configured surface.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62472" y="2606040"/>
            <a:ext cx="228600" cy="0"/>
          </a:xfrm>
          <a:prstGeom prst="line">
            <a:avLst/>
          </a:prstGeom>
          <a:ln w="16510">
            <a:solidFill>
              <a:srgbClr val="6666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55080" y="1572768"/>
            <a:ext cx="251460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60920" y="1261872"/>
            <a:ext cx="502920" cy="502920"/>
          </a:xfrm>
          <a:prstGeom prst="ellipse">
            <a:avLst/>
          </a:prstGeom>
          <a:solidFill>
            <a:srgbClr val="5E7062"/>
          </a:solidFill>
          <a:ln>
            <a:solidFill>
              <a:srgbClr val="5E7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138074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1874519"/>
            <a:ext cx="218541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Apply temporary tangential CoC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395728"/>
            <a:ext cx="2148840" cy="8046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" b="0" i="0">
                <a:solidFill>
                  <a:srgbClr val="666666"/>
                </a:solidFill>
                <a:latin typeface="Arial"/>
              </a:rPr>
              <a:t>Select r_c,t perpendicular to the offset so r_c × f_n supports the required rotation.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42832" y="2606040"/>
            <a:ext cx="228600" cy="0"/>
          </a:xfrm>
          <a:prstGeom prst="line">
            <a:avLst/>
          </a:prstGeom>
          <a:ln w="16510">
            <a:solidFill>
              <a:srgbClr val="6666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35440" y="1572768"/>
            <a:ext cx="251460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261872"/>
            <a:ext cx="502920" cy="502920"/>
          </a:xfrm>
          <a:prstGeom prst="ellipse">
            <a:avLst/>
          </a:prstGeom>
          <a:solidFill>
            <a:srgbClr val="5E7062"/>
          </a:solidFill>
          <a:ln>
            <a:solidFill>
              <a:srgbClr val="5E7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138074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1874519"/>
            <a:ext cx="218541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Return to TCP after alignment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2395728"/>
            <a:ext cx="2148840" cy="8046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" b="0" i="0">
                <a:solidFill>
                  <a:srgbClr val="666666"/>
                </a:solidFill>
                <a:latin typeface="Arial"/>
              </a:rPr>
              <a:t>Remove the directional preference and retain bidirectional compliant rotation.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160520"/>
            <a:ext cx="10241280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4233672"/>
            <a:ext cx="1002182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111"/>
                </a:solidFill>
                <a:latin typeface="Arial"/>
              </a:rPr>
              <a:t>Additional work: direct physical tool–surface angle measurement, stiffer tool mount, t₂ and arbitrary tangent-plane rotations, combined null-space terms under physical disturbances.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60320" y="5321808"/>
            <a:ext cx="708660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70048" y="5394960"/>
            <a:ext cx="6867144" cy="49377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Proposed logic: TCP CoC → estimate deviation → selected lever → return to TCP</a:t>
            </a:r>
          </a:p>
        </p:txBody>
      </p:sp>
      <p:pic>
        <p:nvPicPr>
          <p:cNvPr id="31" name="Picture 30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Final answer to the contact-alignment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5166360" cy="731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307592"/>
            <a:ext cx="4946904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Arial"/>
              </a:rPr>
              <a:t>A fixed non-zero tangential CoC is not direction-independent.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166360" cy="731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27648" y="1307592"/>
            <a:ext cx="4946904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The TCP-centred CoC is direction-independent and remains the robust final configuration.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96696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Arial"/>
              </a:rPr>
              <a:t>The displaced CoC changes the commanded moment generated by the normal press. That moment can support or oppose contact-induced alignment depending on the displacement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23317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63.9%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23317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response reduction from rotational stiffness sweep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794760"/>
            <a:ext cx="23317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≈4%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160520"/>
            <a:ext cx="23317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final-response gain with matched CoC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794760"/>
            <a:ext cx="23317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98–99%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160520"/>
            <a:ext cx="23317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response suppression with opposite CoC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3794760"/>
            <a:ext cx="23317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99.8–99.9%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160520"/>
            <a:ext cx="23317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net-displacement reduction from conditioning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349240"/>
            <a:ext cx="32918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111111"/>
                </a:solidFill>
                <a:latin typeface="Arial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5852160"/>
            <a:ext cx="3291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Questions</a:t>
            </a:r>
          </a:p>
        </p:txBody>
      </p:sp>
      <p:pic>
        <p:nvPicPr>
          <p:cNvPr id="19" name="Picture 18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complete controller state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Program-level operating modes and common stop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pic>
        <p:nvPicPr>
          <p:cNvPr id="5" name="Picture 4" descr="controller_stat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27" y="1097280"/>
            <a:ext cx="7338105" cy="5285232"/>
          </a:xfrm>
          <a:prstGeom prst="rect">
            <a:avLst/>
          </a:prstGeom>
        </p:spPr>
      </p:pic>
      <p:pic>
        <p:nvPicPr>
          <p:cNvPr id="6" name="Picture 5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reference 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Base, end-effector, TCP/tool, and configured surface 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pic>
        <p:nvPicPr>
          <p:cNvPr id="5" name="Picture 4" descr="reference_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58472"/>
            <a:ext cx="6446520" cy="3232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371600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Frame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783080"/>
            <a:ext cx="3246120" cy="2926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70">
                <a:solidFill>
                  <a:srgbClr val="111111"/>
                </a:solidFill>
                <a:latin typeface="Arial"/>
              </a:defRPr>
            </a:pPr>
            <a:r>
              <a:t>• Base frame {0}: global expression of pose, Jacobian, forces, and moments.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70">
                <a:solidFill>
                  <a:srgbClr val="111111"/>
                </a:solidFill>
                <a:latin typeface="Arial"/>
              </a:defRPr>
            </a:pPr>
            <a:r>
              <a:t>• End-effector frame {EE}: measured robot state and calibrated tool geometry.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70">
                <a:solidFill>
                  <a:srgbClr val="111111"/>
                </a:solidFill>
                <a:latin typeface="Arial"/>
              </a:defRPr>
            </a:pPr>
            <a:r>
              <a:t>• TCP: coincident with the end-effector origin in the controller formulation.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70">
                <a:solidFill>
                  <a:srgbClr val="111111"/>
                </a:solidFill>
                <a:latin typeface="Arial"/>
              </a:defRPr>
            </a:pPr>
            <a:r>
              <a:t>• Surface frame {S} = [t₁, t₂, n_s]: principal compliance directions and evaluation axes.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4892040"/>
            <a:ext cx="3246120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7" y="4965192"/>
            <a:ext cx="3026663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70" b="1" i="0">
                <a:solidFill>
                  <a:srgbClr val="111111"/>
                </a:solidFill>
                <a:latin typeface="Arial"/>
              </a:rPr>
              <a:t>The CoC shift changes the reference point; the surface-frame rotation changes the principal impedance directions.</a:t>
            </a:r>
          </a:p>
        </p:txBody>
      </p:sp>
      <p:pic>
        <p:nvPicPr>
          <p:cNvPr id="10" name="Picture 9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main gains and trajectory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Controller settings held constant unless explicitly varied by the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Common state gains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214884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645920"/>
            <a:ext cx="2075688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111111"/>
                </a:solidFill>
                <a:latin typeface="Arial"/>
              </a:rPr>
              <a:t>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554480"/>
            <a:ext cx="242316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645920"/>
            <a:ext cx="2350008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111111"/>
                </a:solidFill>
                <a:latin typeface="Arial"/>
              </a:rPr>
              <a:t>K_p [t₁,t₂,n_s] N/m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1554480"/>
            <a:ext cx="256032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94376" y="1645920"/>
            <a:ext cx="2487168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111111"/>
                </a:solidFill>
                <a:latin typeface="Arial"/>
              </a:rPr>
              <a:t>K_R [t₁,t₂,n_s] N·m/rad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1554480"/>
            <a:ext cx="68580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54696" y="1645920"/>
            <a:ext cx="612648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111111"/>
                </a:solidFill>
                <a:latin typeface="Arial"/>
              </a:rPr>
              <a:t>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057400"/>
            <a:ext cx="2148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67128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69" b="0" i="0">
                <a:solidFill>
                  <a:srgbClr val="111111"/>
                </a:solidFill>
                <a:latin typeface="Arial"/>
              </a:rPr>
              <a:t>Orientation / approach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057400"/>
            <a:ext cx="2423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167128"/>
            <a:ext cx="23317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69" b="0" i="0">
                <a:solidFill>
                  <a:srgbClr val="111111"/>
                </a:solidFill>
                <a:latin typeface="Arial"/>
              </a:rPr>
              <a:t>150,150,150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205740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167128"/>
            <a:ext cx="2468879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69" b="0" i="0">
                <a:solidFill>
                  <a:srgbClr val="111111"/>
                </a:solidFill>
                <a:latin typeface="Arial"/>
              </a:rPr>
              <a:t>180,180,90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2057400"/>
            <a:ext cx="685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167128"/>
            <a:ext cx="5943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69" b="0" i="0">
                <a:solidFill>
                  <a:srgbClr val="111111"/>
                </a:solidFill>
                <a:latin typeface="Arial"/>
              </a:rPr>
              <a:t>1.9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697480"/>
            <a:ext cx="2148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807208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69" b="0" i="0">
                <a:solidFill>
                  <a:srgbClr val="111111"/>
                </a:solidFill>
                <a:latin typeface="Arial"/>
              </a:rPr>
              <a:t>Contact Establishment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697480"/>
            <a:ext cx="2423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2807208"/>
            <a:ext cx="23317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69" b="0" i="0">
                <a:solidFill>
                  <a:srgbClr val="111111"/>
                </a:solidFill>
                <a:latin typeface="Arial"/>
              </a:rPr>
              <a:t>2000,2000,350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269748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2807208"/>
            <a:ext cx="2468879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69" b="0" i="0">
                <a:solidFill>
                  <a:srgbClr val="111111"/>
                </a:solidFill>
                <a:latin typeface="Arial"/>
              </a:rPr>
              <a:t>5,5,50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0" y="2697480"/>
            <a:ext cx="685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2807208"/>
            <a:ext cx="5943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69" b="0" i="0">
                <a:solidFill>
                  <a:srgbClr val="111111"/>
                </a:solidFill>
                <a:latin typeface="Arial"/>
              </a:rPr>
              <a:t>1.0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474720"/>
            <a:ext cx="2651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Key trajectory / transition parameters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3931920"/>
            <a:ext cx="33832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005072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66666"/>
                </a:solidFill>
                <a:latin typeface="Arial"/>
              </a:rPr>
              <a:t>Minimum orientation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00507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1.0 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59" y="3931920"/>
            <a:ext cx="33832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1999" y="4005072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66666"/>
                </a:solidFill>
                <a:latin typeface="Arial"/>
              </a:rPr>
              <a:t>Orientation timeout / max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79" y="400507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5.0 s / 20°/s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79" y="3931920"/>
            <a:ext cx="33832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19" y="4005072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66666"/>
                </a:solidFill>
                <a:latin typeface="Arial"/>
              </a:rPr>
              <a:t>Approach speed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400507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0.1 m/s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4572000"/>
            <a:ext cx="33832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4645152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66666"/>
                </a:solidFill>
                <a:latin typeface="Arial"/>
              </a:rPr>
              <a:t>Tool clearance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464515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0.020 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80559" y="4572000"/>
            <a:ext cx="33832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1999" y="4645152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66666"/>
                </a:solidFill>
                <a:latin typeface="Arial"/>
              </a:rPr>
              <a:t>Contact minimum / timeout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79" y="464515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2.0 s / 5.0 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83879" y="4572000"/>
            <a:ext cx="33832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19" y="4645152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66666"/>
                </a:solidFill>
                <a:latin typeface="Arial"/>
              </a:rPr>
              <a:t>Press speed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464515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0.080 m/s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5212079"/>
            <a:ext cx="33832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5285231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66666"/>
                </a:solidFill>
                <a:latin typeface="Arial"/>
              </a:rPr>
              <a:t>Virtual press endpoint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08960" y="5285231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0.240 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80559" y="5212079"/>
            <a:ext cx="33832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1999" y="5285231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66666"/>
                </a:solidFill>
                <a:latin typeface="Arial"/>
              </a:rPr>
              <a:t>Pre-contact hold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79" y="5285231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disabled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83879" y="5212079"/>
            <a:ext cx="33832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5319" y="5285231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66666"/>
                </a:solidFill>
                <a:latin typeface="Arial"/>
              </a:rPr>
              <a:t>Pre-grinding hold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5285231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enabled</a:t>
            </a:r>
          </a:p>
        </p:txBody>
      </p:sp>
      <p:pic>
        <p:nvPicPr>
          <p:cNvPr id="58" name="Picture 57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CoC transformation equations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Analytical point-shift formulation used in the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pic>
        <p:nvPicPr>
          <p:cNvPr id="5" name="Picture 4" descr="eq_c1a16142beaa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137" y="1280160"/>
            <a:ext cx="4133244" cy="566928"/>
          </a:xfrm>
          <a:prstGeom prst="rect">
            <a:avLst/>
          </a:prstGeom>
        </p:spPr>
      </p:pic>
      <p:pic>
        <p:nvPicPr>
          <p:cNvPr id="6" name="Picture 5" descr="eq_b840258268f7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122" y="2103120"/>
            <a:ext cx="4063274" cy="502920"/>
          </a:xfrm>
          <a:prstGeom prst="rect">
            <a:avLst/>
          </a:prstGeom>
        </p:spPr>
      </p:pic>
      <p:pic>
        <p:nvPicPr>
          <p:cNvPr id="7" name="Picture 6" descr="eq_02a4685f020d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105" y="2852928"/>
            <a:ext cx="4047308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91840" y="3675887"/>
            <a:ext cx="557784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q_622ab42fd691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269" y="3767327"/>
            <a:ext cx="2940981" cy="475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663440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Arial"/>
              </a:rPr>
              <a:t>For a tangential displacement and normal press:</a:t>
            </a:r>
          </a:p>
        </p:txBody>
      </p:sp>
      <p:pic>
        <p:nvPicPr>
          <p:cNvPr id="11" name="Picture 10" descr="eq_0983aa501069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4278" y="5148072"/>
            <a:ext cx="1824403" cy="457200"/>
          </a:xfrm>
          <a:prstGeom prst="rect">
            <a:avLst/>
          </a:prstGeom>
        </p:spPr>
      </p:pic>
      <p:pic>
        <p:nvPicPr>
          <p:cNvPr id="12" name="Picture 11" descr="eq_4aa83432447c3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2151" y="5742432"/>
            <a:ext cx="2448657" cy="457200"/>
          </a:xfrm>
          <a:prstGeom prst="rect">
            <a:avLst/>
          </a:prstGeom>
        </p:spPr>
      </p:pic>
      <p:pic>
        <p:nvPicPr>
          <p:cNvPr id="13" name="Picture 12" descr="image-2-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null-space equations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Projected damping and sampled singular-value conditioning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pic>
        <p:nvPicPr>
          <p:cNvPr id="5" name="Picture 4" descr="eq_9fdc0acd7176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813" y="1234440"/>
            <a:ext cx="6007893" cy="457200"/>
          </a:xfrm>
          <a:prstGeom prst="rect">
            <a:avLst/>
          </a:prstGeom>
        </p:spPr>
      </p:pic>
      <p:pic>
        <p:nvPicPr>
          <p:cNvPr id="6" name="Picture 5" descr="eq_602287034332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732" y="1847088"/>
            <a:ext cx="2452055" cy="438912"/>
          </a:xfrm>
          <a:prstGeom prst="rect">
            <a:avLst/>
          </a:prstGeom>
        </p:spPr>
      </p:pic>
      <p:pic>
        <p:nvPicPr>
          <p:cNvPr id="7" name="Picture 6" descr="eq_cf23ce1f552f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001" y="2450592"/>
            <a:ext cx="3805517" cy="457200"/>
          </a:xfrm>
          <a:prstGeom prst="rect">
            <a:avLst/>
          </a:prstGeom>
        </p:spPr>
      </p:pic>
      <p:pic>
        <p:nvPicPr>
          <p:cNvPr id="8" name="Picture 7" descr="eq_0123a5d746f0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8706" y="3291840"/>
            <a:ext cx="2497666" cy="457200"/>
          </a:xfrm>
          <a:prstGeom prst="rect">
            <a:avLst/>
          </a:prstGeom>
        </p:spPr>
      </p:pic>
      <p:pic>
        <p:nvPicPr>
          <p:cNvPr id="9" name="Picture 8" descr="eq_29dcb3720171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1762" y="3291840"/>
            <a:ext cx="2924354" cy="457200"/>
          </a:xfrm>
          <a:prstGeom prst="rect">
            <a:avLst/>
          </a:prstGeom>
        </p:spPr>
      </p:pic>
      <p:pic>
        <p:nvPicPr>
          <p:cNvPr id="10" name="Picture 9" descr="eq_c77521c53c572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9451" y="3886200"/>
            <a:ext cx="4788976" cy="457200"/>
          </a:xfrm>
          <a:prstGeom prst="rect">
            <a:avLst/>
          </a:prstGeom>
        </p:spPr>
      </p:pic>
      <p:pic>
        <p:nvPicPr>
          <p:cNvPr id="11" name="Picture 10" descr="eq_317669c56427d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8577" y="4498848"/>
            <a:ext cx="2510725" cy="457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429000" y="5394960"/>
            <a:ext cx="534924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q_5ae082ccbc98e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9170" y="5486400"/>
            <a:ext cx="2628899" cy="457199"/>
          </a:xfrm>
          <a:prstGeom prst="rect">
            <a:avLst/>
          </a:prstGeom>
        </p:spPr>
      </p:pic>
      <p:pic>
        <p:nvPicPr>
          <p:cNvPr id="14" name="Picture 13" descr="image-2-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software and robot-side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Reproducibility and command-handling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51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2834640" cy="2514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111111"/>
                </a:solidFill>
                <a:latin typeface="Arial"/>
              </a:defRPr>
            </a:pPr>
            <a:r>
              <a:t>• Ubuntu 20.04.3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111111"/>
                </a:solidFill>
                <a:latin typeface="Arial"/>
              </a:defRPr>
            </a:pPr>
            <a:r>
              <a:t>• PREEMPT_RT kernel 5.9.1-rt20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111111"/>
                </a:solidFill>
                <a:latin typeface="Arial"/>
              </a:defRPr>
            </a:pPr>
            <a:r>
              <a:t>• g++ 9.3, C++14, -O2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111111"/>
                </a:solidFill>
                <a:latin typeface="Arial"/>
              </a:defRPr>
            </a:pPr>
            <a:r>
              <a:t>• Eigen 3.3.7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111111"/>
                </a:solidFill>
                <a:latin typeface="Arial"/>
              </a:defRPr>
            </a:pPr>
            <a:r>
              <a:t>• libfranka 0.7.1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188720"/>
            <a:ext cx="187451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Robot-side thresholds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572768"/>
            <a:ext cx="3246120" cy="2514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11111"/>
                </a:solidFill>
                <a:latin typeface="Arial"/>
              </a:defRPr>
            </a:pPr>
            <a:r>
              <a:t>• Joint-torque collision thresholds: 140 N·m for all joints.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11111"/>
                </a:solidFill>
                <a:latin typeface="Arial"/>
              </a:defRPr>
            </a:pPr>
            <a:r>
              <a:t>• Cartesian force thresholds: 240 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11111"/>
                </a:solidFill>
                <a:latin typeface="Arial"/>
              </a:defRPr>
            </a:pPr>
            <a:r>
              <a:t>• Cartesian moment thresholds: 240 N·m.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11111"/>
                </a:solidFill>
                <a:latin typeface="Arial"/>
              </a:defRPr>
            </a:pPr>
            <a:r>
              <a:t>• Robot errors/reflexes terminate the active control 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188720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Real-time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572768"/>
            <a:ext cx="3291840" cy="2514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11111"/>
                </a:solidFill>
                <a:latin typeface="Arial"/>
              </a:defRPr>
            </a:pPr>
            <a:r>
              <a:t>• Control callback uses prepared in-memory data only.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11111"/>
                </a:solidFill>
                <a:latin typeface="Arial"/>
              </a:defRPr>
            </a:pPr>
            <a:r>
              <a:t>• Keyboard input is transferred through atomic variables from a separate thread.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11111"/>
                </a:solidFill>
                <a:latin typeface="Arial"/>
              </a:defRPr>
            </a:pPr>
            <a:r>
              <a:t>• Torque-control / communication exceptions end the session.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111111"/>
                </a:solidFill>
                <a:latin typeface="Arial"/>
              </a:defRPr>
            </a:pPr>
            <a:r>
              <a:t>• Data are written to file only after torque control stops.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4800600"/>
            <a:ext cx="96469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4873752"/>
            <a:ext cx="9427464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30" b="1" i="0">
                <a:solidFill>
                  <a:srgbClr val="111111"/>
                </a:solidFill>
                <a:latin typeface="Arial"/>
              </a:rPr>
              <a:t>The FCI performs gravity and motor-friction compensation for external joint-torque mode; the controller adds τ_c(q,q̇).</a:t>
            </a:r>
          </a:p>
        </p:txBody>
      </p:sp>
      <p:pic>
        <p:nvPicPr>
          <p:cNvPr id="13" name="Picture 12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data recording and 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Signals are logged at the control rate and reduced to task-specific comparison quantities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508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Logged each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388620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80">
                <a:solidFill>
                  <a:srgbClr val="111111"/>
                </a:solidFill>
                <a:latin typeface="Arial"/>
              </a:defRPr>
            </a:pPr>
            <a:r>
              <a:t>• Measured robot state and Cartesian pose/velocity.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80">
                <a:solidFill>
                  <a:srgbClr val="111111"/>
                </a:solidFill>
                <a:latin typeface="Arial"/>
              </a:defRPr>
            </a:pPr>
            <a:r>
              <a:t>• Active position/orientation reference.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80">
                <a:solidFill>
                  <a:srgbClr val="111111"/>
                </a:solidFill>
                <a:latin typeface="Arial"/>
              </a:defRPr>
            </a:pPr>
            <a:r>
              <a:t>• Pose errors and commanded Cartesian wrench.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80">
                <a:solidFill>
                  <a:srgbClr val="111111"/>
                </a:solidFill>
                <a:latin typeface="Arial"/>
              </a:defRPr>
            </a:pPr>
            <a:r>
              <a:t>• Controller state and null-space configuration.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80">
                <a:solidFill>
                  <a:srgbClr val="111111"/>
                </a:solidFill>
                <a:latin typeface="Arial"/>
              </a:defRPr>
            </a:pPr>
            <a:r>
              <a:t>• Returned joint-torque command.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1417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Contact metrics</a:t>
            </a:r>
          </a:p>
        </p:txBody>
      </p:sp>
      <p:pic>
        <p:nvPicPr>
          <p:cNvPr id="8" name="Picture 7" descr="eq_3fc7547f6345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947821"/>
            <a:ext cx="2880360" cy="4203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92040" y="2852928"/>
            <a:ext cx="27432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Each setting: mean ± sample standard deviation over 3 repetitions.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188720"/>
            <a:ext cx="1554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Null-space metrics</a:t>
            </a:r>
          </a:p>
        </p:txBody>
      </p:sp>
      <p:pic>
        <p:nvPicPr>
          <p:cNvPr id="11" name="Picture 10" descr="eq_ebc20f14f7bb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272" y="1664208"/>
            <a:ext cx="1481831" cy="8412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92440" y="2761488"/>
            <a:ext cx="28346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Also: net scalar displacement Δη, Δσ_min, and max Cartesian position error.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74519" y="4754880"/>
            <a:ext cx="845820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84248" y="4828032"/>
            <a:ext cx="8238744" cy="49377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Cartesian position-retention criterion during the null-space disturbance: max ||e_p|| &lt; 2 mm.</a:t>
            </a:r>
          </a:p>
        </p:txBody>
      </p:sp>
      <p:pic>
        <p:nvPicPr>
          <p:cNvPr id="15" name="Picture 14" descr="image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numerical result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Key values for rapid discussion during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274320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335024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01568" y="1234440"/>
            <a:ext cx="233172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7" y="1335024"/>
            <a:ext cx="224027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Reference / 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733288" y="1234440"/>
            <a:ext cx="233172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79007" y="1335024"/>
            <a:ext cx="224027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Changed /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5008" y="1234440"/>
            <a:ext cx="352044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8" y="1335024"/>
            <a:ext cx="3429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Measured effect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737360"/>
            <a:ext cx="27432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810512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Case A, + offset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7" y="1810512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θ_init=+9.31°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33288" y="1737360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79007" y="1810512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γ=+7.57°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8" y="1737360"/>
            <a:ext cx="3520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0728" y="1810512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81.3% of initial magnitude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276856"/>
            <a:ext cx="274320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350008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Case A, − offset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01568" y="2276856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7287" y="2350008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θ_init=−9.41°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33288" y="2276856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79007" y="2350008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γ=−10.83°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65008" y="2276856"/>
            <a:ext cx="352044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0728" y="2350008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115.1% of initial magnitude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2816352"/>
            <a:ext cx="27432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2889504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Rotational stiffness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01568" y="2816352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47287" y="2889504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K_R,t₁=5 → γ=7.57°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33288" y="2816352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79007" y="2889504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K_R,t₁=50 → γ=2.73°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65008" y="2816352"/>
            <a:ext cx="3520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0728" y="2889504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63.9% reduction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3355848"/>
            <a:ext cx="274320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3429000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Translational stiffness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01568" y="3355848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47287" y="3429000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K_p,t₂=300 → γ≈7.56°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33288" y="3355848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79007" y="3429000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K_p,t₂=2000 → γ≈7.57°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65008" y="3355848"/>
            <a:ext cx="352044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10728" y="3429000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0.03° span = 0.4%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895344"/>
            <a:ext cx="27432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3968496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CoC, + offset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01568" y="3895344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47287" y="3968496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r_c,t₂=−40 → 0.18°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33288" y="3895344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79007" y="3968496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r_c,t₂=+40 → 7.87°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65008" y="3895344"/>
            <a:ext cx="3520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10728" y="3968496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direction-selective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4434840"/>
            <a:ext cx="274320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8" y="4507992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CoC, − offset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01568" y="4434840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47287" y="4507992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r_c,t₂=−40 → −11.30°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33288" y="4434840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79007" y="4507992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r_c,t₂=+40 → −0.09°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65008" y="4434840"/>
            <a:ext cx="352044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10728" y="4507992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direction-selective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" y="4974336"/>
            <a:ext cx="27432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4088" y="5047488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Projected damping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01568" y="4974336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47287" y="5047488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E_N=7.596°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33288" y="4974336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79007" y="5047488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E_N=5.687°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65008" y="4974336"/>
            <a:ext cx="3520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10728" y="5047488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≈25% less cumulative motion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513831"/>
            <a:ext cx="274320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4088" y="5586983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Conditioning 1.5 / 2.0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01568" y="5513831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47287" y="5586983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|Δη|=0.015°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33288" y="5513831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79007" y="5586983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|Δη|=0.006°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65008" y="5513831"/>
            <a:ext cx="352044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10728" y="5586983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99.8–99.9% net reduction</a:t>
            </a:r>
          </a:p>
        </p:txBody>
      </p:sp>
      <p:pic>
        <p:nvPicPr>
          <p:cNvPr id="77" name="Picture 76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implemented grinding continuation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Grinding is part of the controller sequence but outside the quantitative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1498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After Pre-Grinding Hold, the Grinding state retains the normal pressing reference established during Contact Establishment and superimposes a smooth tangential motion.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514600"/>
            <a:ext cx="28803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788920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Normal 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0040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666666"/>
                </a:solidFill>
                <a:latin typeface="Arial"/>
              </a:rPr>
              <a:t>Reference established during Contact Establishment is retained.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514600"/>
            <a:ext cx="28803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788920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Tangential 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20040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666666"/>
                </a:solidFill>
                <a:latin typeface="Arial"/>
              </a:rPr>
              <a:t>A smooth along-surface trajectory is superimposed.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2514600"/>
            <a:ext cx="28803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788920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CoC at TCP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666666"/>
                </a:solidFill>
                <a:latin typeface="Arial"/>
              </a:rPr>
              <a:t>The implemented Grinding state defines the impedance at the TCP.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4892040"/>
            <a:ext cx="9646920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4168" y="4965192"/>
            <a:ext cx="942746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60" b="1" i="0">
                <a:solidFill>
                  <a:srgbClr val="111111"/>
                </a:solidFill>
                <a:latin typeface="Arial"/>
              </a:rPr>
              <a:t>The thesis evaluates Contact Establishment, not grinding performance. This separation prevents the later tangential motion from confounding the alignment-response comparison.</a:t>
            </a:r>
          </a:p>
        </p:txBody>
      </p:sp>
      <p:pic>
        <p:nvPicPr>
          <p:cNvPr id="17" name="Picture 16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Hochschule München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Cartesian Impedance Control for a 7-DOF Collaborative Robot</dc:title>
  <dc:subject>Master thesis defense</dc:subject>
  <dc:creator>Heykel Khadhraoui</dc:creator>
  <cp:lastModifiedBy>Heykel Khadhraoui</cp:lastModifiedBy>
  <cp:revision>1</cp:revision>
  <dcterms:created xsi:type="dcterms:W3CDTF">2026-08-11T15:49:04Z</dcterms:created>
  <dcterms:modified xsi:type="dcterms:W3CDTF">2026-08-11T15:49:04Z</dcterms:modified>
</cp:coreProperties>
</file>