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9"/>
  </p:notesMasterIdLst>
  <p:sldSz cx="12191999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1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78.png"/><Relationship Id="rId11" Type="http://schemas.openxmlformats.org/officeDocument/2006/relationships/image" Target="../media/image79.png"/><Relationship Id="rId12" Type="http://schemas.openxmlformats.org/officeDocument/2006/relationships/image" Target="../media/image80.png"/><Relationship Id="rId13" Type="http://schemas.openxmlformats.org/officeDocument/2006/relationships/image" Target="../media/image81.png"/><Relationship Id="rId14" Type="http://schemas.openxmlformats.org/officeDocument/2006/relationships/image" Target="../media/image82.png"/><Relationship Id="rId15" Type="http://schemas.openxmlformats.org/officeDocument/2006/relationships/image" Target="../media/image83.png"/><Relationship Id="rId16" Type="http://schemas.openxmlformats.org/officeDocument/2006/relationships/image" Target="../media/image84.png"/><Relationship Id="rId17" Type="http://schemas.openxmlformats.org/officeDocument/2006/relationships/image" Target="../media/image85.png"/><Relationship Id="rId18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4173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11111"/>
                </a:solidFill>
                <a:latin typeface="Arial"/>
              </a:rPr>
              <a:t>Hochschule
München
University of
Applied Sciences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1234440"/>
            <a:ext cx="15087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Fakultät für
Maschinenbau
Fahrzeugtechnik
Flugzeugtechnik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301752"/>
            <a:ext cx="6217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Master Thesis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612648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Computational Engineering (M.Sc.)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868680"/>
            <a:ext cx="6217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463040"/>
            <a:ext cx="68580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11111"/>
                </a:solidFill>
                <a:latin typeface="Arial"/>
              </a:rPr>
              <a:t>Design and Implementation of a Real-Time Cartesian Impedance Controller for a 7-DOF Collaborative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496312"/>
            <a:ext cx="6858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Arial"/>
              </a:rPr>
              <a:t>Contact-induced alignment of a grinding tool with a plane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898648"/>
            <a:ext cx="6858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11111"/>
                </a:solidFill>
                <a:latin typeface="Arial"/>
              </a:rPr>
              <a:t>Supervisors: Prof. Norbert Nitzsche · Prof. Ruth Otto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8" y="5989320"/>
            <a:ext cx="1136407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" y="6510528"/>
            <a:ext cx="5486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Motivation and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Contact begins with an angular mismatch between tool and surface</a:t>
            </a:r>
          </a:p>
        </p:txBody>
      </p:sp>
      <p:pic>
        <p:nvPicPr>
          <p:cNvPr id="4" name="Picture 3" descr="surface_entry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18657"/>
            <a:ext cx="6446520" cy="25496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225296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1664208"/>
            <a:ext cx="39319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11111"/>
                </a:solidFill>
                <a:latin typeface="Arial"/>
              </a:rPr>
              <a:t>Edge- or corner-first contact can create a moment while a rigid pose controller resists the corrective rotation.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980944"/>
            <a:ext cx="1188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410712"/>
            <a:ext cx="393192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How do directional Cartesian stiffness and a virtual centre of compliance shape the contact-induced rotation?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892040"/>
            <a:ext cx="101041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4965192"/>
            <a:ext cx="988466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Goal: press against the surface while allowing the tool to rotate towards alignment.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Real-time Cartesian impedance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One torque command combines the Cartesian task and the secondary null-space terms</a:t>
            </a:r>
          </a:p>
        </p:txBody>
      </p:sp>
      <p:pic>
        <p:nvPicPr>
          <p:cNvPr id="4" name="Picture 3" descr="controller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86289"/>
            <a:ext cx="6995160" cy="32739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55279" y="1417320"/>
            <a:ext cx="324612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2395728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Three design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73568" y="2770632"/>
            <a:ext cx="324612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>
                <a:solidFill>
                  <a:srgbClr val="111111"/>
                </a:solidFill>
                <a:latin typeface="Arial"/>
              </a:defRPr>
            </a:pPr>
            <a:r>
              <a:t>• Directional stiffness and damping in the surface frame.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>
                <a:solidFill>
                  <a:srgbClr val="111111"/>
                </a:solidFill>
                <a:latin typeface="Arial"/>
              </a:defRPr>
            </a:pPr>
            <a:r>
              <a:t>• Shiftable virtual centre of compliance.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>
                <a:solidFill>
                  <a:srgbClr val="111111"/>
                </a:solidFill>
                <a:latin typeface="Arial"/>
              </a:defRPr>
            </a:pPr>
            <a:r>
              <a:t>• Projected null-space damping / conditioning.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892040"/>
            <a:ext cx="1508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 kHz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5257800"/>
            <a:ext cx="15087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nominal torque callback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4892040"/>
            <a:ext cx="1508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7 DOF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5257800"/>
            <a:ext cx="15087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Franka Panda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pic>
        <p:nvPicPr>
          <p:cNvPr id="17" name="Picture 16" descr="s3_tau_cm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140" y="1624306"/>
            <a:ext cx="2542396" cy="271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Virtual centre of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normal press can generate an additional corrective moment</a:t>
            </a:r>
          </a:p>
        </p:txBody>
      </p:sp>
      <p:pic>
        <p:nvPicPr>
          <p:cNvPr id="4" name="Picture 3" descr="compliance_lever_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2114"/>
            <a:ext cx="6583680" cy="2199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3063240"/>
            <a:ext cx="3703320" cy="1920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>
                <a:latin typeface="Arial"/>
              </a:rPr>
              <a:t>• TCP-centred: no directional CoC moment.</a:t>
            </a:r>
          </a:p>
          <a:p>
            <a:r>
              <a:rPr>
                <a:latin typeface="Arial"/>
              </a:rPr>
              <a:t>• Tangential displacement: the normal press creates a moment about a surface tangent.</a:t>
            </a:r>
          </a:p>
          <a:p>
            <a:r>
              <a:rPr>
                <a:latin typeface="Arial"/>
              </a:rPr>
              <a:t>• Reversing the displacement reverses that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074920"/>
            <a:ext cx="996696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5148072"/>
            <a:ext cx="9747504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30" b="1" i="0">
                <a:solidFill>
                  <a:srgbClr val="111111"/>
                </a:solidFill>
                <a:latin typeface="Arial"/>
              </a:rPr>
              <a:t>The useful CoC direction therefore depends on the direction of the initial angular offset.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pic>
        <p:nvPicPr>
          <p:cNvPr id="14" name="Picture 13" descr="s4_mo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1495" y="1582826"/>
            <a:ext cx="3196490" cy="482803"/>
          </a:xfrm>
          <a:prstGeom prst="rect">
            <a:avLst/>
          </a:prstGeom>
        </p:spPr>
      </p:pic>
      <p:pic>
        <p:nvPicPr>
          <p:cNvPr id="15" name="Picture 14" descr="s4_r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397" y="2384659"/>
            <a:ext cx="2588684" cy="3513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Experimental setup and contact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quantitative evaluation focuses on Contact Establishment</a:t>
            </a:r>
          </a:p>
        </p:txBody>
      </p:sp>
      <p:pic>
        <p:nvPicPr>
          <p:cNvPr id="4" name="Picture 3" descr="setup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10350"/>
            <a:ext cx="5989320" cy="2054418"/>
          </a:xfrm>
          <a:prstGeom prst="rect">
            <a:avLst/>
          </a:prstGeom>
        </p:spPr>
      </p:pic>
      <p:pic>
        <p:nvPicPr>
          <p:cNvPr id="5" name="Picture 4" descr="phase_flow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300937"/>
            <a:ext cx="2194560" cy="21189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1325880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Establishment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737360"/>
            <a:ext cx="196596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The tool approaches to a 20 mm geometric clearance and then presses toward the plane while the entry orientation is held.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3840480"/>
            <a:ext cx="19659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0" i="0">
                <a:solidFill>
                  <a:srgbClr val="111111"/>
                </a:solidFill>
                <a:latin typeface="Arial"/>
              </a:rPr>
              <a:t>Measured response: end-effector rotation during this phase.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5532120"/>
            <a:ext cx="4096512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5605272"/>
            <a:ext cx="3877056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11111"/>
                </a:solidFill>
                <a:latin typeface="Arial"/>
              </a:rPr>
              <a:t>All surface-contact comparisons use the same geometry and phase sequence.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Experimental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Cases A–D isolate baseline, stiffness effects, and compliance-centre position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TCP-centred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70048"/>
            <a:ext cx="21579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 i="0">
                <a:solidFill>
                  <a:srgbClr val="666666"/>
                </a:solidFill>
                <a:latin typeface="Arial"/>
              </a:rPr>
              <a:t>initial offset direction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53127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7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0336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Tangential stiffness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5" y="1508760"/>
            <a:ext cx="24871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67543" y="1188720"/>
            <a:ext cx="594360" cy="594360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67543" y="1316736"/>
            <a:ext cx="594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1920240"/>
            <a:ext cx="21945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Tangential CoC 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5196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617720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repetitions / setting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25196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617720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surface-contact trials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251960"/>
            <a:ext cx="2057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4617720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pose-hold trials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5440680"/>
            <a:ext cx="41605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87368" y="5513832"/>
            <a:ext cx="3941063" cy="38404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69 reported trials in total.</a:t>
            </a:r>
          </a:p>
        </p:txBody>
      </p:sp>
      <p:pic>
        <p:nvPicPr>
          <p:cNvPr id="32" name="Picture 31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pic>
        <p:nvPicPr>
          <p:cNvPr id="36" name="Picture 35" descr="s6_K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878" y="2685410"/>
            <a:ext cx="652290" cy="353324"/>
          </a:xfrm>
          <a:prstGeom prst="rect">
            <a:avLst/>
          </a:prstGeom>
        </p:spPr>
      </p:pic>
      <p:pic>
        <p:nvPicPr>
          <p:cNvPr id="37" name="Picture 36" descr="s6_K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471" y="2685410"/>
            <a:ext cx="611522" cy="353324"/>
          </a:xfrm>
          <a:prstGeom prst="rect">
            <a:avLst/>
          </a:prstGeom>
        </p:spPr>
      </p:pic>
      <p:pic>
        <p:nvPicPr>
          <p:cNvPr id="38" name="Picture 37" descr="s6_r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9280" y="2685410"/>
            <a:ext cx="618317" cy="3533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— baseline and stiffness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Rotational stiffness changes the alignment response much more than tangential translational stiffness</a:t>
            </a:r>
          </a:p>
        </p:txBody>
      </p:sp>
      <p:pic>
        <p:nvPicPr>
          <p:cNvPr id="4" name="Picture 3" descr="results_case_a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1841"/>
            <a:ext cx="3429000" cy="2343300"/>
          </a:xfrm>
          <a:prstGeom prst="rect">
            <a:avLst/>
          </a:prstGeom>
        </p:spPr>
      </p:pic>
      <p:pic>
        <p:nvPicPr>
          <p:cNvPr id="5" name="Picture 4" descr="results_case_b_stiff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1721929"/>
            <a:ext cx="3429000" cy="2143125"/>
          </a:xfrm>
          <a:prstGeom prst="rect">
            <a:avLst/>
          </a:prstGeom>
        </p:spPr>
      </p:pic>
      <p:pic>
        <p:nvPicPr>
          <p:cNvPr id="6" name="Picture 5" descr="results_case_c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721929"/>
            <a:ext cx="3429000" cy="2143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450799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11111"/>
                </a:solidFill>
                <a:latin typeface="Arial"/>
              </a:rPr>
              <a:t>TCP centred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983480"/>
            <a:ext cx="26060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−63.9%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349240"/>
            <a:ext cx="26060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response with higher rotational stiffness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83480"/>
            <a:ext cx="26060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0.4%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349240"/>
            <a:ext cx="26060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r>
              <a:rPr>
                <a:latin typeface="Arial"/>
              </a:rPr>
              <a:t>response span from tangential-stiffness sweep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13248"/>
            <a:ext cx="30175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486400"/>
            <a:ext cx="2798063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90" b="1" i="0">
                <a:solidFill>
                  <a:srgbClr val="111111"/>
                </a:solidFill>
                <a:latin typeface="Arial"/>
              </a:rPr>
              <a:t>The contact response is much more sensitive to rotational stiffness about the response axis.</a:t>
            </a:r>
          </a:p>
        </p:txBody>
      </p:sp>
      <p:pic>
        <p:nvPicPr>
          <p:cNvPr id="16" name="Picture 15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7</a:t>
            </a:r>
          </a:p>
        </p:txBody>
      </p:sp>
      <p:pic>
        <p:nvPicPr>
          <p:cNvPr id="20" name="Picture 19" descr="s7_KR_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8837" y="4513844"/>
            <a:ext cx="2247229" cy="280903"/>
          </a:xfrm>
          <a:prstGeom prst="rect">
            <a:avLst/>
          </a:prstGeom>
        </p:spPr>
      </p:pic>
      <p:pic>
        <p:nvPicPr>
          <p:cNvPr id="21" name="Picture 20" descr="s7_Kp_r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571" y="4513844"/>
            <a:ext cx="2280937" cy="280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Results — tangential CoC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same lever direction assists one initial offset and opposes the other</a:t>
            </a:r>
          </a:p>
        </p:txBody>
      </p:sp>
      <p:pic>
        <p:nvPicPr>
          <p:cNvPr id="4" name="Picture 3" descr="results_case_d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6754"/>
            <a:ext cx="6812280" cy="3338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90688" y="132588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Positive initial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926080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Negative initial offset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4617720"/>
            <a:ext cx="342900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690872"/>
            <a:ext cx="320954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30" b="1" i="0">
                <a:solidFill>
                  <a:srgbClr val="111111"/>
                </a:solidFill>
                <a:latin typeface="Arial"/>
              </a:rPr>
              <a:t>Opposite CoC direction reduced the response by ≈98–99%.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5276088"/>
            <a:ext cx="562356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5349240"/>
            <a:ext cx="5404104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11111"/>
                </a:solidFill>
                <a:latin typeface="Arial"/>
              </a:rPr>
              <a:t>Direction matters more than simply increasing stiffness.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8</a:t>
            </a:r>
          </a:p>
        </p:txBody>
      </p:sp>
      <p:pic>
        <p:nvPicPr>
          <p:cNvPr id="19" name="Picture 18" descr="s8_rc_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592" y="1789298"/>
            <a:ext cx="2462296" cy="298460"/>
          </a:xfrm>
          <a:prstGeom prst="rect">
            <a:avLst/>
          </a:prstGeom>
        </p:spPr>
      </p:pic>
      <p:pic>
        <p:nvPicPr>
          <p:cNvPr id="20" name="Picture 19" descr="s8_gamma_p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327" y="2220163"/>
            <a:ext cx="2236825" cy="351129"/>
          </a:xfrm>
          <a:prstGeom prst="rect">
            <a:avLst/>
          </a:prstGeom>
        </p:spPr>
      </p:pic>
      <p:pic>
        <p:nvPicPr>
          <p:cNvPr id="21" name="Picture 20" descr="s8_rc_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592" y="3389498"/>
            <a:ext cx="2462296" cy="298460"/>
          </a:xfrm>
          <a:prstGeom prst="rect">
            <a:avLst/>
          </a:prstGeom>
        </p:spPr>
      </p:pic>
      <p:pic>
        <p:nvPicPr>
          <p:cNvPr id="22" name="Picture 21" descr="s8_gamma_ne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8718" y="3820363"/>
            <a:ext cx="2822041" cy="3511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Why the CoC changes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normal force stays similar while the commanded moment changes strongly</a:t>
            </a:r>
          </a:p>
        </p:txBody>
      </p:sp>
      <p:pic>
        <p:nvPicPr>
          <p:cNvPr id="4" name="Picture 3" descr="MAIN_D_wr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676" y="1097280"/>
            <a:ext cx="4405343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137160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Positive-offset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2240279"/>
            <a:ext cx="27889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steady normal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3493008"/>
            <a:ext cx="29718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TCP moment across ±40 mm CoC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17720"/>
            <a:ext cx="32918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40" b="1" i="0">
                <a:solidFill>
                  <a:srgbClr val="111111"/>
                </a:solidFill>
                <a:latin typeface="Arial"/>
              </a:rPr>
              <a:t>The displaced CoC mainly changes the rotational moment generated by the press, not the press magnitude.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pic>
        <p:nvPicPr>
          <p:cNvPr id="15" name="Picture 14" descr="s9_fo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457" y="1888374"/>
            <a:ext cx="2677363" cy="338050"/>
          </a:xfrm>
          <a:prstGeom prst="rect">
            <a:avLst/>
          </a:prstGeom>
        </p:spPr>
      </p:pic>
      <p:pic>
        <p:nvPicPr>
          <p:cNvPr id="16" name="Picture 15" descr="s9_mo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115" y="3156684"/>
            <a:ext cx="2852928" cy="306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Secondary null-space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Cartesian pose is held while redundant joint motion is shaped separately</a:t>
            </a:r>
          </a:p>
        </p:txBody>
      </p:sp>
      <p:pic>
        <p:nvPicPr>
          <p:cNvPr id="4" name="Picture 3" descr="MAIN_NS_nullspace_auto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37" y="1143000"/>
            <a:ext cx="398870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26679" y="1417320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0688" y="1847088"/>
            <a:ext cx="283464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11111"/>
                </a:solidFill>
                <a:latin typeface="Arial"/>
              </a:rPr>
              <a:t>≈25%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2212848"/>
            <a:ext cx="2834640" cy="5029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111"/>
                </a:solidFill>
                <a:latin typeface="Arial"/>
              </a:rPr>
              <a:t>less cumulative null-space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301752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Conditioning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3822191"/>
            <a:ext cx="2926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r>
              <a:rPr>
                <a:latin typeface="Arial"/>
              </a:rPr>
              <a:t>final net displacement at 1.5 / 2.0 N·m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4892040"/>
            <a:ext cx="333756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965192"/>
            <a:ext cx="3118104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70" b="1" i="0">
                <a:solidFill>
                  <a:srgbClr val="111111"/>
                </a:solidFill>
                <a:latin typeface="Arial"/>
              </a:rPr>
              <a:t>Cartesian position stayed below the 2 mm acceptance limit.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10</a:t>
            </a:r>
          </a:p>
        </p:txBody>
      </p:sp>
      <p:pic>
        <p:nvPicPr>
          <p:cNvPr id="17" name="Picture 16" descr="s10_eta_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7944" y="3444545"/>
            <a:ext cx="2940710" cy="3803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Main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Three results answer the contact-alignment question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132588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44751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280160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Rotational compliance enables contact-induced alignment.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280160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Higher rotational stiffness strongly reduces the response.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816351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35224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770632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A displaced CoC is direction-selective.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770632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Its lever can assist or oppose the required rotation.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306824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425696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261104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The TCP-centred CoC is direction-independent.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261104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It removes the additional directional moment after alignment.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5669280"/>
            <a:ext cx="93726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5742432"/>
            <a:ext cx="9153144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Practical strategy: use a temporary direction-selected CoC, then return the CoC to the TCP.</a:t>
            </a:r>
          </a:p>
        </p:txBody>
      </p:sp>
      <p:pic>
        <p:nvPicPr>
          <p:cNvPr id="18" name="Picture 17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The quantitative results are scoped to the tested hardware and geometry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81328"/>
            <a:ext cx="33832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06040"/>
            <a:ext cx="274320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111111"/>
                </a:solidFill>
                <a:latin typeface="Arial"/>
              </a:rPr>
              <a:t>Physical tool–surface angle and contact centre were not measured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481328"/>
            <a:ext cx="33832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Experimental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2" y="2606040"/>
            <a:ext cx="274320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111111"/>
                </a:solidFill>
                <a:latin typeface="Arial"/>
              </a:rPr>
              <a:t>One robot configuration, tool, surface reference, and contact trajectory.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2752" y="1481328"/>
            <a:ext cx="338328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828800"/>
            <a:ext cx="3017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Tool 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606040"/>
            <a:ext cx="274320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111111"/>
                </a:solidFill>
                <a:latin typeface="Arial"/>
              </a:rPr>
              <a:t>About ±2° unloaded play can make the physical tool motion differ from the measured EE rotation.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138928"/>
            <a:ext cx="10012680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5212080"/>
            <a:ext cx="9793224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230" b="1" i="0">
                <a:solidFill>
                  <a:srgbClr val="111111"/>
                </a:solidFill>
                <a:latin typeface="Arial"/>
              </a:rPr>
              <a:t>The reported percentages describe the investigated parameter ranges, not a universal robot/tool optimum.</a:t>
            </a:r>
          </a:p>
        </p:txBody>
      </p:sp>
      <p:pic>
        <p:nvPicPr>
          <p:cNvPr id="15" name="Picture 14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Adaptive temporary CoC based on the measured initial offset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9105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9105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Start at TCP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7248" y="2542032"/>
            <a:ext cx="274320" cy="0"/>
          </a:xfrm>
          <a:prstGeom prst="line">
            <a:avLst/>
          </a:prstGeom>
          <a:ln w="1778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9300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569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Estimate offset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2542032"/>
            <a:ext cx="274320" cy="0"/>
          </a:xfrm>
          <a:prstGeom prst="line">
            <a:avLst/>
          </a:prstGeom>
          <a:ln w="1778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2764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033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Apply selected lever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96528" y="2542032"/>
            <a:ext cx="274320" cy="0"/>
          </a:xfrm>
          <a:prstGeom prst="line">
            <a:avLst/>
          </a:prstGeom>
          <a:ln w="1778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62288" y="1828800"/>
            <a:ext cx="23957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94976" y="1417320"/>
            <a:ext cx="530352" cy="530352"/>
          </a:xfrm>
          <a:prstGeom prst="ellipse">
            <a:avLst/>
          </a:prstGeom>
          <a:solidFill>
            <a:srgbClr val="5D6D7A"/>
          </a:solidFill>
          <a:ln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94976" y="1536192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240280"/>
            <a:ext cx="2066543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Return to TCP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72000"/>
            <a:ext cx="6537960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10">
                <a:solidFill>
                  <a:srgbClr val="111111"/>
                </a:solidFill>
                <a:latin typeface="Arial"/>
              </a:defRPr>
            </a:pPr>
            <a:r>
              <a:t>• Direct tool-angle / force–torque measurement.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10">
                <a:solidFill>
                  <a:srgbClr val="111111"/>
                </a:solidFill>
                <a:latin typeface="Arial"/>
              </a:defRPr>
            </a:pPr>
            <a:r>
              <a:t>• More directions in the surface tangent plane.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10">
                <a:solidFill>
                  <a:srgbClr val="111111"/>
                </a:solidFill>
                <a:latin typeface="Arial"/>
              </a:defRPr>
            </a:pPr>
            <a:r>
              <a:t>• Combined null-space terms under physical disturbances.</a:t>
            </a:r>
          </a:p>
        </p:txBody>
      </p:sp>
      <p:pic>
        <p:nvPicPr>
          <p:cNvPr id="25" name="Picture 24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13</a:t>
            </a:r>
          </a:p>
        </p:txBody>
      </p:sp>
      <p:pic>
        <p:nvPicPr>
          <p:cNvPr id="29" name="Picture 28" descr="s13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810" y="3670767"/>
            <a:ext cx="2171340" cy="632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Final answer to the contact-alignment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325880"/>
            <a:ext cx="10195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A real-time Cartesian impedance controller was implemented and tested on the Franka Panda.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40280"/>
            <a:ext cx="48920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313432"/>
            <a:ext cx="4672583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Rotational stiffness controls how freely contact can rotate the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2240280"/>
            <a:ext cx="48920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45936" y="2313432"/>
            <a:ext cx="4672583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20" b="1" i="0">
                <a:solidFill>
                  <a:srgbClr val="111111"/>
                </a:solidFill>
                <a:latin typeface="Arial"/>
              </a:rPr>
              <a:t>The virtual CoC controls which rotational direction the press favours.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401568"/>
            <a:ext cx="809244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3474720"/>
            <a:ext cx="7872983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11111"/>
                </a:solidFill>
                <a:latin typeface="Arial"/>
              </a:rPr>
              <a:t>Best practical interpretation: temporary selected lever → TCP-centred compliant contact.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846320"/>
            <a:ext cx="3429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111111"/>
                </a:solidFill>
                <a:latin typeface="Arial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86400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Arial"/>
              </a:rPr>
              <a:t>Questions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surface frame and response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Signed quantities used for the contact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surface_referen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0270"/>
            <a:ext cx="5257800" cy="23943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88720" y="4800600"/>
            <a:ext cx="9738360" cy="7132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4873752"/>
            <a:ext cx="951890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r>
              <a:rPr>
                <a:latin typeface="Arial"/>
              </a:rPr>
              <a:t>The measured response and the initial angular offset have the same sign when the rotation is toward the configured surface-parallel orientation.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15</a:t>
            </a:r>
          </a:p>
        </p:txBody>
      </p:sp>
      <p:pic>
        <p:nvPicPr>
          <p:cNvPr id="15" name="Picture 14" descr="s15_the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742" y="1430122"/>
            <a:ext cx="3482035" cy="614476"/>
          </a:xfrm>
          <a:prstGeom prst="rect">
            <a:avLst/>
          </a:prstGeom>
        </p:spPr>
      </p:pic>
      <p:pic>
        <p:nvPicPr>
          <p:cNvPr id="16" name="Picture 15" descr="s15_gamma_ve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349" y="2286147"/>
            <a:ext cx="4476902" cy="584921"/>
          </a:xfrm>
          <a:prstGeom prst="rect">
            <a:avLst/>
          </a:prstGeom>
        </p:spPr>
      </p:pic>
      <p:pic>
        <p:nvPicPr>
          <p:cNvPr id="17" name="Picture 16" descr="s15_gamma_t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8426" y="3139684"/>
            <a:ext cx="1731068" cy="596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Cartesian impedance equations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Surface-relative translational and rotational impedance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4663440"/>
            <a:ext cx="9738360" cy="8229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4736592"/>
            <a:ext cx="951890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160" b="1" i="0">
                <a:solidFill>
                  <a:srgbClr val="111111"/>
                </a:solidFill>
                <a:latin typeface="Arial"/>
              </a:rPr>
              <a:t>During Contact Establishment the entry orientation is held as the reference; the later end-effector rotation is therefore the measured contact response.</a:t>
            </a:r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16</a:t>
            </a:r>
          </a:p>
        </p:txBody>
      </p:sp>
      <p:pic>
        <p:nvPicPr>
          <p:cNvPr id="15" name="Picture 14" descr="s16_for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477" y="1437944"/>
            <a:ext cx="4166445" cy="489104"/>
          </a:xfrm>
          <a:prstGeom prst="rect">
            <a:avLst/>
          </a:prstGeom>
        </p:spPr>
      </p:pic>
      <p:pic>
        <p:nvPicPr>
          <p:cNvPr id="16" name="Picture 15" descr="s16_mo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532" y="1437552"/>
            <a:ext cx="4608576" cy="489888"/>
          </a:xfrm>
          <a:prstGeom prst="rect">
            <a:avLst/>
          </a:prstGeom>
        </p:spPr>
      </p:pic>
      <p:pic>
        <p:nvPicPr>
          <p:cNvPr id="17" name="Picture 16" descr="s16_tau_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6821" y="2799527"/>
            <a:ext cx="2315756" cy="509137"/>
          </a:xfrm>
          <a:prstGeom prst="rect">
            <a:avLst/>
          </a:prstGeom>
        </p:spPr>
      </p:pic>
      <p:pic>
        <p:nvPicPr>
          <p:cNvPr id="18" name="Picture 17" descr="s16_tau_cm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069" y="2801684"/>
            <a:ext cx="4599500" cy="5048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CoC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Point-shift formulation used by the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4709160"/>
            <a:ext cx="553212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-2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17</a:t>
            </a:r>
          </a:p>
        </p:txBody>
      </p:sp>
      <p:pic>
        <p:nvPicPr>
          <p:cNvPr id="15" name="Picture 14" descr="s17_r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051" y="1286984"/>
            <a:ext cx="2485137" cy="333824"/>
          </a:xfrm>
          <a:prstGeom prst="rect">
            <a:avLst/>
          </a:prstGeom>
        </p:spPr>
      </p:pic>
      <p:pic>
        <p:nvPicPr>
          <p:cNvPr id="16" name="Picture 15" descr="s17_adj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4873" y="1798076"/>
            <a:ext cx="2417494" cy="719815"/>
          </a:xfrm>
          <a:prstGeom prst="rect">
            <a:avLst/>
          </a:prstGeom>
        </p:spPr>
      </p:pic>
      <p:pic>
        <p:nvPicPr>
          <p:cNvPr id="17" name="Picture 16" descr="s17_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2181" y="2753807"/>
            <a:ext cx="4002877" cy="509137"/>
          </a:xfrm>
          <a:prstGeom prst="rect">
            <a:avLst/>
          </a:prstGeom>
        </p:spPr>
      </p:pic>
      <p:pic>
        <p:nvPicPr>
          <p:cNvPr id="18" name="Picture 17" descr="s17_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0959" y="3576767"/>
            <a:ext cx="3985320" cy="509137"/>
          </a:xfrm>
          <a:prstGeom prst="rect">
            <a:avLst/>
          </a:prstGeom>
        </p:spPr>
      </p:pic>
      <p:pic>
        <p:nvPicPr>
          <p:cNvPr id="19" name="Picture 18" descr="s17_mome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3358" y="4824122"/>
            <a:ext cx="3040521" cy="4650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complete controller state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Program-level operating modes and common stop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controller_stat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27" y="1097280"/>
            <a:ext cx="7338105" cy="5285232"/>
          </a:xfrm>
          <a:prstGeom prst="rect">
            <a:avLst/>
          </a:prstGeom>
        </p:spPr>
      </p:pic>
      <p:pic>
        <p:nvPicPr>
          <p:cNvPr id="6" name="Picture 5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tool geometry and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Clearance, leading feature, and configured surface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5" name="Picture 4" descr="tool_clearance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8396"/>
            <a:ext cx="3429000" cy="2032447"/>
          </a:xfrm>
          <a:prstGeom prst="rect">
            <a:avLst/>
          </a:prstGeom>
        </p:spPr>
      </p:pic>
      <p:pic>
        <p:nvPicPr>
          <p:cNvPr id="6" name="Picture 5" descr="leading_feature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75880"/>
            <a:ext cx="3429000" cy="1397479"/>
          </a:xfrm>
          <a:prstGeom prst="rect">
            <a:avLst/>
          </a:prstGeom>
        </p:spPr>
      </p:pic>
      <p:pic>
        <p:nvPicPr>
          <p:cNvPr id="7" name="Picture 6" descr="face_feature_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553371"/>
            <a:ext cx="2514600" cy="22424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4663440"/>
            <a:ext cx="1024128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Tool face: 40 × 120 mm; tool-centre offset: 20 mm.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Approach ends when the minimum face clearance reaches 20 mm.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40">
                <a:solidFill>
                  <a:srgbClr val="111111"/>
                </a:solidFill>
                <a:latin typeface="Arial"/>
              </a:defRPr>
            </a:pPr>
            <a:r>
              <a:t>• The surface and tool-normal calibrations define the orientation metrics.</a:t>
            </a:r>
          </a:p>
        </p:txBody>
      </p:sp>
      <p:pic>
        <p:nvPicPr>
          <p:cNvPr id="9" name="Picture 8" descr="image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main gains and timings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Values held constant unless explicitly varied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Orientation /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188720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Contact Establishment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188720"/>
            <a:ext cx="2514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Surface-contact null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4160520"/>
            <a:ext cx="7909560" cy="69494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4233672"/>
            <a:ext cx="769010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Each parameter setting was repeated three times.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pic>
        <p:nvPicPr>
          <p:cNvPr id="17" name="Picture 16" descr="s20_appro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24" y="2047566"/>
            <a:ext cx="3051352" cy="879203"/>
          </a:xfrm>
          <a:prstGeom prst="rect">
            <a:avLst/>
          </a:prstGeom>
        </p:spPr>
      </p:pic>
      <p:pic>
        <p:nvPicPr>
          <p:cNvPr id="18" name="Picture 17" descr="s20_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445" y="2110869"/>
            <a:ext cx="3309213" cy="752597"/>
          </a:xfrm>
          <a:prstGeom prst="rect">
            <a:avLst/>
          </a:prstGeom>
        </p:spPr>
      </p:pic>
      <p:pic>
        <p:nvPicPr>
          <p:cNvPr id="19" name="Picture 18" descr="s20_nu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670" y="1933956"/>
            <a:ext cx="2750515" cy="87782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surface-contact experimental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Cases A–D and tested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77724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17319"/>
            <a:ext cx="7040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98448"/>
            <a:ext cx="224028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6776" y="1417319"/>
            <a:ext cx="216712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298448"/>
            <a:ext cx="598932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7056" y="1417319"/>
            <a:ext cx="59161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Tested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800" y="1298448"/>
            <a:ext cx="960120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66376" y="1417319"/>
            <a:ext cx="8869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111"/>
                </a:solidFill>
                <a:latin typeface="Arial"/>
              </a:rPr>
              <a:t>Trials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828800"/>
            <a:ext cx="777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93852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182880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55064" y="193852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TCP-centred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828800"/>
            <a:ext cx="5989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29800" y="1828800"/>
            <a:ext cx="960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84664" y="193852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97480"/>
            <a:ext cx="777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0720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2697480"/>
            <a:ext cx="22402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5064" y="280720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697480"/>
            <a:ext cx="59893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2697480"/>
            <a:ext cx="9601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4" y="280720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566160"/>
            <a:ext cx="777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67588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200" y="35661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5064" y="367588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Tangential translational stiffness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566160"/>
            <a:ext cx="5989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29800" y="3566160"/>
            <a:ext cx="960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84664" y="367588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7772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544568"/>
            <a:ext cx="66751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11111"/>
                </a:solidFill>
                <a:latin typeface="Arial"/>
              </a:rPr>
              <a:t>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0200" y="4434840"/>
            <a:ext cx="224028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55064" y="4544568"/>
            <a:ext cx="213055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Tangential CoC position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4434840"/>
            <a:ext cx="59893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29800" y="4434840"/>
            <a:ext cx="96012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84664" y="4544568"/>
            <a:ext cx="850392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019" b="0" i="0">
                <a:solidFill>
                  <a:srgbClr val="111111"/>
                </a:solidFill>
                <a:latin typeface="Arial"/>
              </a:rPr>
              <a:t>36</a:t>
            </a:r>
          </a:p>
        </p:txBody>
      </p:sp>
      <p:pic>
        <p:nvPicPr>
          <p:cNvPr id="45" name="Picture 44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21</a:t>
            </a:r>
          </a:p>
        </p:txBody>
      </p:sp>
      <p:pic>
        <p:nvPicPr>
          <p:cNvPr id="49" name="Picture 48" descr="s21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528" y="2082838"/>
            <a:ext cx="5409224" cy="397180"/>
          </a:xfrm>
          <a:prstGeom prst="rect">
            <a:avLst/>
          </a:prstGeom>
        </p:spPr>
      </p:pic>
      <p:pic>
        <p:nvPicPr>
          <p:cNvPr id="50" name="Picture 49" descr="s21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528" y="2928245"/>
            <a:ext cx="5409224" cy="443725"/>
          </a:xfrm>
          <a:prstGeom prst="rect">
            <a:avLst/>
          </a:prstGeom>
        </p:spPr>
      </p:pic>
      <p:pic>
        <p:nvPicPr>
          <p:cNvPr id="51" name="Picture 50" descr="s21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0528" y="3805266"/>
            <a:ext cx="5409224" cy="427044"/>
          </a:xfrm>
          <a:prstGeom prst="rect">
            <a:avLst/>
          </a:prstGeom>
        </p:spPr>
      </p:pic>
      <p:pic>
        <p:nvPicPr>
          <p:cNvPr id="52" name="Picture 51" descr="s21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0528" y="4733359"/>
            <a:ext cx="5409224" cy="30821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null-space controller and pose-hold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Projected damping and singular-value conditioning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pic>
        <p:nvPicPr>
          <p:cNvPr id="8" name="Picture 7" descr="pose_hold_mod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438" y="1188720"/>
            <a:ext cx="2752122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4005072"/>
            <a:ext cx="461772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>
                <a:latin typeface="Arial"/>
              </a:rPr>
              <a:t>• 4 settings × 3 trials.</a:t>
            </a:r>
          </a:p>
          <a:p>
            <a:r>
              <a:rPr>
                <a:latin typeface="Arial"/>
              </a:rPr>
              <a:t>• 20 N virtual disturbance on link 3.</a:t>
            </a:r>
          </a:p>
          <a:p>
            <a:r>
              <a:rPr>
                <a:latin typeface="Arial"/>
              </a:rPr>
              <a:t>• Cartesian acceptance limit: 2 mm maximum position error.</a:t>
            </a:r>
          </a:p>
        </p:txBody>
      </p:sp>
      <p:pic>
        <p:nvPicPr>
          <p:cNvPr id="10" name="Picture 9" descr="image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22</a:t>
            </a:r>
          </a:p>
        </p:txBody>
      </p:sp>
      <p:pic>
        <p:nvPicPr>
          <p:cNvPr id="14" name="Picture 13" descr="s22_N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2537" y="1337056"/>
            <a:ext cx="3507164" cy="416559"/>
          </a:xfrm>
          <a:prstGeom prst="rect">
            <a:avLst/>
          </a:prstGeom>
        </p:spPr>
      </p:pic>
      <p:pic>
        <p:nvPicPr>
          <p:cNvPr id="15" name="Picture 14" descr="s22_ta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195" y="2077824"/>
            <a:ext cx="2301849" cy="398064"/>
          </a:xfrm>
          <a:prstGeom prst="rect">
            <a:avLst/>
          </a:prstGeom>
        </p:spPr>
      </p:pic>
      <p:pic>
        <p:nvPicPr>
          <p:cNvPr id="16" name="Picture 15" descr="s22_ta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9177" y="2798023"/>
            <a:ext cx="2313884" cy="4207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software, safety, and 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Implementation details for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97180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Ubuntu 20.04.3 + PREEMPT_RT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C++14 / Eigen 3.3.7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libfranka 0.7.1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207008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Real-time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324612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Preallocated callback data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Keyboard input on separate thread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CSV write after torque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20700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1111"/>
                </a:solidFill>
                <a:latin typeface="Arial"/>
              </a:rPr>
              <a:t>Robot-side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91640"/>
            <a:ext cx="320040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Robot errors/reflexes terminate control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Collision thresholds remain robot-side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111111"/>
                </a:solidFill>
                <a:latin typeface="Arial"/>
              </a:defRPr>
            </a:pPr>
            <a:r>
              <a:t>• Gravity compensation handled by FCI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389120"/>
            <a:ext cx="8229600" cy="685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4462272"/>
            <a:ext cx="8010144" cy="5394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Signals are logged at the nominal 1 kHz controller rate.</a:t>
            </a:r>
          </a:p>
        </p:txBody>
      </p:sp>
      <p:pic>
        <p:nvPicPr>
          <p:cNvPr id="13" name="Picture 12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56032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50" b="1" i="0">
                <a:solidFill>
                  <a:srgbClr val="111111"/>
                </a:solidFill>
                <a:latin typeface="Arial"/>
              </a:rPr>
              <a:t>Backup — numerical result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Key values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52760" y="292608"/>
            <a:ext cx="594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1" i="0">
                <a:solidFill>
                  <a:srgbClr val="666666"/>
                </a:solidFill>
                <a:latin typeface="Arial"/>
              </a:rPr>
              <a:t>BACKUP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274320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35024"/>
            <a:ext cx="2651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Comparison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1568" y="1234440"/>
            <a:ext cx="23317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Reference /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733288" y="1234440"/>
            <a:ext cx="233172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79007" y="1335024"/>
            <a:ext cx="2240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Changed /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234440"/>
            <a:ext cx="3520440" cy="502920"/>
          </a:xfrm>
          <a:prstGeom prst="rect">
            <a:avLst/>
          </a:prstGeom>
          <a:solidFill>
            <a:srgbClr val="F7F7F7"/>
          </a:solidFill>
          <a:ln w="12700">
            <a:solidFill>
              <a:srgbClr val="5D6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1335024"/>
            <a:ext cx="3429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11111"/>
                </a:solidFill>
                <a:latin typeface="Arial"/>
              </a:rPr>
              <a:t>Measured effect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737360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81051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Case A, + offset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33288" y="1737360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737360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8" y="181051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81.3% of initial magnitude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276856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35000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Case A, − offset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01568" y="2276856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33288" y="2276856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2276856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235000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115.1% of initial magnitude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816352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2889504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Rotational stiffness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33288" y="2816352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8" y="2816352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8" y="2889504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63.9% reduction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355848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3429000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Translational stiffness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3355848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33288" y="3355848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5008" y="3355848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10728" y="3429000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0.4% span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895344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3968496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CoC, + offset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156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33288" y="3895344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065008" y="3895344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10728" y="3968496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direction-selective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" y="4507992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CoC, − offset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01568" y="4434840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33288" y="4434840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65008" y="4434840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10728" y="4507992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direction-selective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4974336"/>
            <a:ext cx="27432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4088" y="5047488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Projected damping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0156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33288" y="4974336"/>
            <a:ext cx="2331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65008" y="4974336"/>
            <a:ext cx="3520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0728" y="5047488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≈25% less cumulative motion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513831"/>
            <a:ext cx="274320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4088" y="5586983"/>
            <a:ext cx="265176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sz="940" b="1" i="0">
                <a:solidFill>
                  <a:srgbClr val="111111"/>
                </a:solidFill>
                <a:latin typeface="Arial"/>
              </a:rPr>
              <a:t>Conditioning 1.5 / 2.0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01568" y="5513831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733288" y="5513831"/>
            <a:ext cx="233172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065008" y="5513831"/>
            <a:ext cx="3520440" cy="539496"/>
          </a:xfrm>
          <a:prstGeom prst="rect">
            <a:avLst/>
          </a:prstGeom>
          <a:solidFill>
            <a:srgbClr val="F5F5F5"/>
          </a:solidFill>
          <a:ln w="12700">
            <a:solidFill>
              <a:srgbClr val="D4D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10728" y="5586983"/>
            <a:ext cx="3429000" cy="420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sz="940" b="0" i="0">
                <a:solidFill>
                  <a:srgbClr val="111111"/>
                </a:solidFill>
                <a:latin typeface="Arial"/>
              </a:rPr>
              <a:t>very small final displacement</a:t>
            </a:r>
          </a:p>
        </p:txBody>
      </p:sp>
      <p:pic>
        <p:nvPicPr>
          <p:cNvPr id="77" name="Picture 76" descr="image-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8" y="6199632"/>
            <a:ext cx="745767" cy="38404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261872" y="6199632"/>
            <a:ext cx="53949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Design and Implementation of a Real-Time Cartesian Impedance Controller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1872" y="6345936"/>
            <a:ext cx="45720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111111"/>
                </a:solidFill>
                <a:latin typeface="Arial"/>
              </a:rPr>
              <a:t>Master Thesis - Heykel Khadhraoui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58600" y="6327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 i="0">
                <a:solidFill>
                  <a:srgbClr val="111111"/>
                </a:solidFill>
                <a:latin typeface="Arial"/>
              </a:rPr>
              <a:t>24</a:t>
            </a:r>
          </a:p>
        </p:txBody>
      </p:sp>
      <p:pic>
        <p:nvPicPr>
          <p:cNvPr id="81" name="Picture 80" descr="s24_theta_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953" y="1831543"/>
            <a:ext cx="1854947" cy="378560"/>
          </a:xfrm>
          <a:prstGeom prst="rect">
            <a:avLst/>
          </a:prstGeom>
        </p:spPr>
      </p:pic>
      <p:pic>
        <p:nvPicPr>
          <p:cNvPr id="82" name="Picture 81" descr="s24_gamma_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025" y="1831543"/>
            <a:ext cx="1514242" cy="378560"/>
          </a:xfrm>
          <a:prstGeom prst="rect">
            <a:avLst/>
          </a:prstGeom>
        </p:spPr>
      </p:pic>
      <p:pic>
        <p:nvPicPr>
          <p:cNvPr id="83" name="Picture 82" descr="s24_theta_ne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489" y="2371039"/>
            <a:ext cx="1873875" cy="378560"/>
          </a:xfrm>
          <a:prstGeom prst="rect">
            <a:avLst/>
          </a:prstGeom>
        </p:spPr>
      </p:pic>
      <p:pic>
        <p:nvPicPr>
          <p:cNvPr id="84" name="Picture 83" descr="s24_gamma_ne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6313" y="2371039"/>
            <a:ext cx="1665667" cy="378560"/>
          </a:xfrm>
          <a:prstGeom prst="rect">
            <a:avLst/>
          </a:prstGeom>
        </p:spPr>
      </p:pic>
      <p:pic>
        <p:nvPicPr>
          <p:cNvPr id="85" name="Picture 84" descr="s24_KR_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9301" y="2966799"/>
            <a:ext cx="2016251" cy="266033"/>
          </a:xfrm>
          <a:prstGeom prst="rect">
            <a:avLst/>
          </a:prstGeom>
        </p:spPr>
      </p:pic>
      <p:pic>
        <p:nvPicPr>
          <p:cNvPr id="86" name="Picture 85" descr="s24_KR_hig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1021" y="2972965"/>
            <a:ext cx="2016251" cy="253700"/>
          </a:xfrm>
          <a:prstGeom prst="rect">
            <a:avLst/>
          </a:prstGeom>
        </p:spPr>
      </p:pic>
      <p:pic>
        <p:nvPicPr>
          <p:cNvPr id="87" name="Picture 86" descr="s24_Kp_lo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9301" y="3516527"/>
            <a:ext cx="2016251" cy="245569"/>
          </a:xfrm>
          <a:prstGeom prst="rect">
            <a:avLst/>
          </a:prstGeom>
        </p:spPr>
      </p:pic>
      <p:pic>
        <p:nvPicPr>
          <p:cNvPr id="88" name="Picture 87" descr="s24_Kp_hig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1021" y="3521075"/>
            <a:ext cx="2016251" cy="236473"/>
          </a:xfrm>
          <a:prstGeom prst="rect">
            <a:avLst/>
          </a:prstGeom>
        </p:spPr>
      </p:pic>
      <p:pic>
        <p:nvPicPr>
          <p:cNvPr id="89" name="Picture 88" descr="s24_coc_pos_l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9301" y="4064793"/>
            <a:ext cx="2016251" cy="228028"/>
          </a:xfrm>
          <a:prstGeom prst="rect">
            <a:avLst/>
          </a:prstGeom>
        </p:spPr>
      </p:pic>
      <p:pic>
        <p:nvPicPr>
          <p:cNvPr id="90" name="Picture 89" descr="s24_coc_pos_high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1021" y="4064793"/>
            <a:ext cx="2016251" cy="228028"/>
          </a:xfrm>
          <a:prstGeom prst="rect">
            <a:avLst/>
          </a:prstGeom>
        </p:spPr>
      </p:pic>
      <p:pic>
        <p:nvPicPr>
          <p:cNvPr id="91" name="Picture 90" descr="s24_coc_neg_lo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9301" y="4615323"/>
            <a:ext cx="2016251" cy="205961"/>
          </a:xfrm>
          <a:prstGeom prst="rect">
            <a:avLst/>
          </a:prstGeom>
        </p:spPr>
      </p:pic>
      <p:pic>
        <p:nvPicPr>
          <p:cNvPr id="92" name="Picture 91" descr="s24_coc_neg_hig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1021" y="4611296"/>
            <a:ext cx="2016251" cy="214015"/>
          </a:xfrm>
          <a:prstGeom prst="rect">
            <a:avLst/>
          </a:prstGeom>
        </p:spPr>
      </p:pic>
      <p:pic>
        <p:nvPicPr>
          <p:cNvPr id="93" name="Picture 92" descr="s24_EN_lo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60494" y="5068519"/>
            <a:ext cx="1613864" cy="378560"/>
          </a:xfrm>
          <a:prstGeom prst="rect">
            <a:avLst/>
          </a:prstGeom>
        </p:spPr>
      </p:pic>
      <p:pic>
        <p:nvPicPr>
          <p:cNvPr id="94" name="Picture 93" descr="s24_EN_high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2214" y="5068519"/>
            <a:ext cx="1613864" cy="378560"/>
          </a:xfrm>
          <a:prstGeom prst="rect">
            <a:avLst/>
          </a:prstGeom>
        </p:spPr>
      </p:pic>
      <p:pic>
        <p:nvPicPr>
          <p:cNvPr id="95" name="Picture 94" descr="s24_eta_lo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0684" y="5608014"/>
            <a:ext cx="1713485" cy="378560"/>
          </a:xfrm>
          <a:prstGeom prst="rect">
            <a:avLst/>
          </a:prstGeom>
        </p:spPr>
      </p:pic>
      <p:pic>
        <p:nvPicPr>
          <p:cNvPr id="96" name="Picture 95" descr="s24_eta_high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42404" y="5608014"/>
            <a:ext cx="1713485" cy="378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Cartesian Impedance Control for a 7-DOF Collaborative Robot</dc:title>
  <dc:subject>Master thesis defense</dc:subject>
  <dc:creator>Heykel Khadhraoui</dc:creator>
  <cp:lastModifiedBy>Heykel Khadhraoui</cp:lastModifiedBy>
  <cp:revision>1</cp:revision>
  <dcterms:created xsi:type="dcterms:W3CDTF">2026-08-11T15:49:04Z</dcterms:created>
  <dcterms:modified xsi:type="dcterms:W3CDTF">2026-08-11T15:49:04Z</dcterms:modified>
</cp:coreProperties>
</file>