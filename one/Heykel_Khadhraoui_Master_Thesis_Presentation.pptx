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64008" cy="62636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676656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52B"/>
                </a:solidFill>
                <a:latin typeface="Arial"/>
              </a:rPr>
              <a:t>Design and Implementation of a
Real-Time Impedance Controller for a
7-DOF Collaborative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7635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68717A"/>
                </a:solidFill>
                <a:latin typeface="Arial"/>
              </a:rPr>
              <a:t>Contact-induced tool–surface alignment with directional Cartesian compliance and a virtual centre of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246120"/>
            <a:ext cx="4434840" cy="978408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38144"/>
            <a:ext cx="4069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03B6F"/>
                </a:solidFill>
                <a:latin typeface="Arial"/>
              </a:rPr>
              <a:t>Heykel Khadhraoui
Computational Engineering (M.Sc.) · FK03
Supervisors: Prof. Norbert Nitzsche · Prof. Ruth Otto</a:t>
            </a:r>
          </a:p>
        </p:txBody>
      </p:sp>
      <p:pic>
        <p:nvPicPr>
          <p:cNvPr id="8" name="Picture 7" descr="h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595257"/>
            <a:ext cx="2423160" cy="5102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75320" y="3520439"/>
            <a:ext cx="2788920" cy="164592"/>
          </a:xfrm>
          <a:prstGeom prst="rect">
            <a:avLst/>
          </a:prstGeom>
          <a:solidFill>
            <a:srgbClr val="C5CDD8"/>
          </a:solidFill>
          <a:ln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732520" y="2587751"/>
            <a:ext cx="1965960" cy="265176"/>
          </a:xfrm>
          <a:prstGeom prst="line">
            <a:avLst/>
          </a:prstGeom>
          <a:ln w="1143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2852927"/>
            <a:ext cx="0" cy="576073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058400" y="3090672"/>
            <a:ext cx="228600" cy="128015"/>
          </a:xfrm>
          <a:prstGeom prst="line">
            <a:avLst/>
          </a:prstGeom>
          <a:ln w="19050">
            <a:solidFill>
              <a:srgbClr val="2F6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65208" y="345643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00000"/>
                </a:solidFill>
                <a:latin typeface="Arial"/>
              </a:rPr>
              <a:t>normal 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236976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2F6F3E"/>
                </a:solidFill>
                <a:latin typeface="Arial"/>
              </a:rPr>
              <a:t>alignment rotation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828032"/>
            <a:ext cx="3520440" cy="8503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901184"/>
            <a:ext cx="3300984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3B6F"/>
                </a:solidFill>
                <a:latin typeface="Arial"/>
              </a:rPr>
              <a:t>Main result: a displaced CoC is direction-dependent; the TCP-centred CoC remains direction-independent.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062472"/>
            <a:ext cx="4572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8717A"/>
                </a:solidFill>
                <a:latin typeface="Arial"/>
              </a:rPr>
              <a:t>Master’s Thesis Presentation · September 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From the contact problem to the measured controller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234440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80160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161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Motivation and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Why angular mismatch at contact needs compliant rotation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67128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12848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Controller and CoC formulation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Directional impedance, point shift, torque assembly, null space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099816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Implementation and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01568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1 kHz real-time controller, contact sequence, 69 trials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032504"/>
            <a:ext cx="347472" cy="34747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78224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14216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Experimental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34256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Stiffness, CoC direction, commanded wrench, null-space terms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965192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10912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46904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Conclusion and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66944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Adaptive temporary CoC, then return to TCP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234440"/>
            <a:ext cx="5074920" cy="73152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1307592"/>
            <a:ext cx="485546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80" b="1" i="0">
                <a:solidFill>
                  <a:srgbClr val="003B6F"/>
                </a:solidFill>
                <a:latin typeface="Arial"/>
              </a:rPr>
              <a:t>Central question: how can contact-induced rotation be shaped without sacrificing compliant surface contact?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Surface entry can contain both reference error and achieved-pose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PROBLEM</a:t>
            </a:r>
          </a:p>
        </p:txBody>
      </p:sp>
      <p:pic>
        <p:nvPicPr>
          <p:cNvPr id="6" name="Picture 5" descr="surface_entr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8727"/>
            <a:ext cx="5715000" cy="22603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188720"/>
            <a:ext cx="16459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243584"/>
            <a:ext cx="14996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Contact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72768"/>
            <a:ext cx="461772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F252B"/>
                </a:solidFill>
                <a:latin typeface="Arial"/>
              </a:defRPr>
            </a:pPr>
            <a:r>
              <a:t>• Configured and physical surface normals can differ because of placement and calibration tolerances.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F252B"/>
                </a:solidFill>
                <a:latin typeface="Arial"/>
              </a:defRPr>
            </a:pPr>
            <a:r>
              <a:t>• The achieved tool orientation can differ from the desired orientation before contact.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F252B"/>
                </a:solidFill>
                <a:latin typeface="Arial"/>
              </a:defRPr>
            </a:pPr>
            <a:r>
              <a:t>• Edge- or corner-first contact generates moments; a rigid pose controller opposes the corrective rotation.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F252B"/>
                </a:solidFill>
                <a:latin typeface="Arial"/>
              </a:defRPr>
            </a:pPr>
            <a:r>
              <a:t>• Finite rotational compliance allows the contact interaction to rotate the end effector towards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43984"/>
            <a:ext cx="17373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498848"/>
            <a:ext cx="1591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Desired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3168"/>
            <a:ext cx="10561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Keep the commanded normal press and tangential position retention.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Allow passive rotation about surface tangents during Contact Establishment.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Use the virtual CoC only to bias the rotational direction when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846320"/>
            <a:ext cx="4526280" cy="658368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4919472"/>
            <a:ext cx="430682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2F6F3E"/>
                </a:solidFill>
                <a:latin typeface="Arial"/>
              </a:rPr>
              <a:t>The measured quantity is the end-effector rotation generated during Contact Establishment.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Research question and thesis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experiments isolate stiffness and compliance-centre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789920" cy="7772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16152"/>
            <a:ext cx="10570464" cy="6309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003B6F"/>
                </a:solidFill>
                <a:latin typeface="Arial"/>
              </a:rPr>
              <a:t>How do directional Cartesian stiffness and a virtual CoC affect contact-induced tool rotation — and can one fixed non-zero CoC remain useful for both offset directions?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20116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31136"/>
            <a:ext cx="18653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Controller contribution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76272"/>
            <a:ext cx="21488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231136"/>
            <a:ext cx="20025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Experimental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489204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Real-time Cartesian impedance controller on the Franka Emika Panda.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Surface-relative translational and rotational stiffness/damping.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Software-defined virtual centre of compliance displaced from the TCP.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Projected null-space damping and singular-value conditioning.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78608"/>
            <a:ext cx="507492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Rotational stiffness, tangential translational stiffness, and CoC position varied in contact.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Positive and negative initial angular offsets compared about t₁.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Separate pose-hold experiment isolates the two null-space terms.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F252B"/>
                </a:solidFill>
                <a:latin typeface="Arial"/>
              </a:defRPr>
            </a:pPr>
            <a:r>
              <a:t>• 69 total trials: 57 surface-contact + 12 pose-hold.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5166360"/>
            <a:ext cx="6995160" cy="64008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5239512"/>
            <a:ext cx="677570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80" b="1" i="0">
                <a:solidFill>
                  <a:srgbClr val="1F252B"/>
                </a:solidFill>
                <a:latin typeface="Arial"/>
              </a:rPr>
              <a:t>Main measured response: γₜ₁ — signed end-effector rotation relative to the held contact-entry orientation.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Controller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One torque command combines the Cartesian task, secondary null-space terms, and model compensation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3B6F"/>
                </a:solidFill>
                <a:latin typeface="Arial"/>
              </a:rPr>
              <a:t>Surface-relative impedance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F252B"/>
                </a:solidFill>
                <a:latin typeface="Arial"/>
              </a:rPr>
              <a:t>Directional K and D define compliant pressing, tangential retention, and rotational freedom.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167128"/>
            <a:ext cx="384049" cy="0"/>
          </a:xfrm>
          <a:prstGeom prst="line">
            <a:avLst/>
          </a:prstGeom>
          <a:ln w="16510">
            <a:solidFill>
              <a:srgbClr val="6871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6052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00000"/>
                </a:solidFill>
                <a:latin typeface="Arial"/>
              </a:rPr>
              <a:t>Virtual CoC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F252B"/>
                </a:solidFill>
                <a:latin typeface="Arial"/>
              </a:rPr>
              <a:t>A point shift couples translation and rotation and adds a controllable moment contribution.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59752" y="2167128"/>
            <a:ext cx="384048" cy="0"/>
          </a:xfrm>
          <a:prstGeom prst="line">
            <a:avLst/>
          </a:prstGeom>
          <a:ln w="16510">
            <a:solidFill>
              <a:srgbClr val="6871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3524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F6F3E"/>
                </a:solidFill>
                <a:latin typeface="Arial"/>
              </a:rPr>
              <a:t>Null-space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F252B"/>
                </a:solidFill>
                <a:latin typeface="Arial"/>
              </a:rPr>
              <a:t>Projected damping reduces redundant motion; conditioning improves the sampled Jacobian configuration.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456432"/>
            <a:ext cx="7406640" cy="685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3529584"/>
            <a:ext cx="7187183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3B6F"/>
                </a:solidFill>
                <a:latin typeface="Arial"/>
              </a:rPr>
              <a:t>τ_cmd = JᵀF + τ_d + τ_σ + τ_c(q,q̇)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16552"/>
            <a:ext cx="101041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F252B"/>
                </a:solidFill>
                <a:latin typeface="Arial"/>
              </a:rPr>
              <a:t>The same 1 ms callback evaluates the active Cartesian reference, the CoC transformation (when enabled), the null-space torque, and the final torque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525780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6504" y="5349240"/>
            <a:ext cx="18562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1 kHz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5733288"/>
            <a:ext cx="1819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nominal FCI control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25780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5349240"/>
            <a:ext cx="18562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7 DOF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5733288"/>
            <a:ext cx="1819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Panda manipulator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525780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349240"/>
            <a:ext cx="18562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6×7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5733288"/>
            <a:ext cx="1819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geometric Jacobian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525780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78824" y="5349240"/>
            <a:ext cx="18562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5733288"/>
            <a:ext cx="1819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redundant direction at full rank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Surface frame and response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All contact comparisons are resolved relative to the configured surface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pic>
        <p:nvPicPr>
          <p:cNvPr id="6" name="Picture 5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80061"/>
            <a:ext cx="5120640" cy="2331917"/>
          </a:xfrm>
          <a:prstGeom prst="rect">
            <a:avLst/>
          </a:prstGeom>
        </p:spPr>
      </p:pic>
      <p:pic>
        <p:nvPicPr>
          <p:cNvPr id="7" name="Picture 6" descr="rotation_sign_con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23741"/>
            <a:ext cx="2011680" cy="14445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34440"/>
            <a:ext cx="15087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1352" y="1289304"/>
            <a:ext cx="13624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Entry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09928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3B6F"/>
                </a:solidFill>
                <a:latin typeface="Cambria Math"/>
              </a:rPr>
              <a:t>θ_init,t₁ = −t₁ᵀ(φ₀u₀)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267712"/>
            <a:ext cx="2651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0" i="0">
                <a:solidFill>
                  <a:srgbClr val="68717A"/>
                </a:solidFill>
                <a:latin typeface="Arial"/>
              </a:rPr>
              <a:t>Signed achieved angular offset about t₁ at contact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990088"/>
            <a:ext cx="16459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3044952"/>
            <a:ext cx="14996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Contact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456432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0000"/>
                </a:solidFill>
                <a:latin typeface="Cambria Math"/>
              </a:rPr>
              <a:t>γₜ₁ = t₁ᵀ 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005072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0" i="0">
                <a:solidFill>
                  <a:srgbClr val="68717A"/>
                </a:solidFill>
                <a:latin typeface="Arial"/>
              </a:rPr>
              <a:t>γ is the relative rotation from the measured end orientation back to the held entry orientation.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983480"/>
            <a:ext cx="9784080" cy="75895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5056632"/>
            <a:ext cx="9564624" cy="6126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3B6F"/>
                </a:solidFill>
                <a:latin typeface="Arial"/>
              </a:rPr>
              <a:t>Alignment convention: γₜ₁ and θ_init,t₁ have the same sign when contact rotates the end effector towards the configured surface-parallel orientation.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Cartesian impedance and complete torque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Directional compliance is defined in the surface frame and mapped to joint torque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61872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81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B6F"/>
                </a:solidFill>
                <a:latin typeface="Arial"/>
              </a:rPr>
              <a:t>Cartesian wrench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75104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252B"/>
                </a:solidFill>
                <a:latin typeface="Cambria Math"/>
              </a:rPr>
              <a:t>f = Kₚ eₚ − Dₚ(v_EE − v_d)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F252B"/>
                </a:solidFill>
                <a:latin typeface="Cambria Math"/>
              </a:rPr>
              <a:t>m = Kᴿ eᴿ − Dᴿ ω_EE    (at the TCP when r_c =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261872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0000"/>
                </a:solidFill>
                <a:latin typeface="Arial"/>
              </a:rPr>
              <a:t>Joint torque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965960"/>
            <a:ext cx="43891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252B"/>
                </a:solidFill>
                <a:latin typeface="Cambria Math"/>
              </a:rPr>
              <a:t>τ_cart = Jᵀ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05456"/>
            <a:ext cx="45720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252B"/>
                </a:solidFill>
                <a:latin typeface="Cambria Math"/>
              </a:rPr>
              <a:t>τ_cmd = τ_cart + τ_null + τ_c(q,q̇)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03320"/>
            <a:ext cx="32461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58183"/>
            <a:ext cx="30998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Contact Establishment directional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640080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F252B"/>
                </a:solidFill>
                <a:latin typeface="Arial"/>
              </a:defRPr>
            </a:pPr>
            <a:r>
              <a:t>• High tangential translational stiffness Kₚ,t₁ and Kₚ,t₂ retains the tool position along the plane.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F252B"/>
                </a:solidFill>
                <a:latin typeface="Arial"/>
              </a:defRPr>
            </a:pPr>
            <a:r>
              <a:t>• Lower normal stiffness Kₚ,n provides compliant pressing.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F252B"/>
                </a:solidFill>
                <a:latin typeface="Arial"/>
              </a:defRPr>
            </a:pPr>
            <a:r>
              <a:t>• Low rotational stiffness about t₁ and t₂ permits contact-induced alignment; higher stiffness about n_s keeps in-plane orientation.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096512"/>
            <a:ext cx="3977639" cy="1234440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4169664"/>
            <a:ext cx="3758183" cy="10881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F6F3E"/>
                </a:solidFill>
                <a:latin typeface="Arial"/>
              </a:rPr>
              <a:t>The contact trajectory holds the measured entry orientation as R_d, so any later end-effector rotation becomes the measured contact response.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Virtual centre of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point shift changes where the impedance is defined and introduces translation–rotation 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pic>
        <p:nvPicPr>
          <p:cNvPr id="6" name="Picture 5" descr="moment_book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09645"/>
            <a:ext cx="4800600" cy="28671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0" y="1325880"/>
            <a:ext cx="12344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380744"/>
            <a:ext cx="10881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Point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01368"/>
            <a:ext cx="2560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B6F"/>
                </a:solidFill>
                <a:latin typeface="Cambria Math"/>
              </a:rPr>
              <a:t>r_c = p_c − p_TCP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22576"/>
            <a:ext cx="4434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252B"/>
                </a:solidFill>
                <a:latin typeface="Cambria Math"/>
              </a:rPr>
              <a:t>Ad(r_c) = [ I   −[r_c]× ; 0   I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880360"/>
            <a:ext cx="16002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2935224"/>
            <a:ext cx="1453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Shifted stiffness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55848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52B"/>
                </a:solidFill>
                <a:latin typeface="Cambria Math"/>
              </a:rPr>
              <a:t>K_TCP = Ad(r_c)ᵀ K_c Ad(r_c)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858768"/>
            <a:ext cx="4709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68717A"/>
                </a:solidFill>
                <a:latin typeface="Arial"/>
              </a:rPr>
              <a:t>Off-diagonal blocks couple translation and rotation.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718304"/>
            <a:ext cx="10287000" cy="685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791456"/>
            <a:ext cx="10067544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003B6F"/>
                </a:solidFill>
                <a:latin typeface="Arial"/>
              </a:rPr>
              <a:t>Complete commanded TCP moment:  m = m_R + r_c × 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513832"/>
            <a:ext cx="94183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1F252B"/>
                </a:solidFill>
                <a:latin typeface="Arial"/>
              </a:rPr>
              <a:t>At r_c = 0, the coupling term vanishes. Finite rotational compliance remains active, but no extra CoC-induced moment favours either rotational direction.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Why the CoC direction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A tangential lever turns the commanded normal press into a directional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pic>
        <p:nvPicPr>
          <p:cNvPr id="6" name="Picture 5" descr="compliance_lever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67318"/>
            <a:ext cx="6629400" cy="22146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280160"/>
            <a:ext cx="14173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335024"/>
            <a:ext cx="12710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Direction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773936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03B6F"/>
                </a:solidFill>
                <a:latin typeface="Cambria Math"/>
              </a:rPr>
              <a:t>r_c,t ∝ n_s ×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404872"/>
            <a:ext cx="310896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Cambria Math"/>
              </a:rPr>
              <a:t>For +θₜ₁  →  r_c,t = +|r_c,t| t₂
For −θₜ₁  →  reverse r_c,t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3502152"/>
            <a:ext cx="32004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68717A"/>
                </a:solidFill>
                <a:latin typeface="Arial"/>
              </a:rPr>
              <a:t>During pressing, F_n &lt; 0. The selected r_c,t makes r_c,t × f_n oppose the angular-offset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617720"/>
            <a:ext cx="1022299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90872"/>
            <a:ext cx="10003536" cy="6309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70" b="1" i="0">
                <a:solidFill>
                  <a:srgbClr val="C00000"/>
                </a:solidFill>
                <a:latin typeface="Arial"/>
              </a:rPr>
              <a:t>Reversing the initial angular offset reverses the useful CoC displacement. Therefore one fixed non-zero tangential CoC cannot assist both directions equally.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532120"/>
            <a:ext cx="5074920" cy="548640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5605272"/>
            <a:ext cx="4855464" cy="40233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F6F3E"/>
                </a:solidFill>
                <a:latin typeface="Arial"/>
              </a:rPr>
              <a:t>TCP-centred CoC: r_c = 0 → no directional bias.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Real-time controller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torque callback operates only on preallocated state and robot/model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IMPLEMENTATION</a:t>
            </a:r>
          </a:p>
        </p:txBody>
      </p:sp>
      <p:pic>
        <p:nvPicPr>
          <p:cNvPr id="6" name="Picture 5" descr="controller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8514"/>
            <a:ext cx="7223760" cy="338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43584"/>
            <a:ext cx="19659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298448"/>
            <a:ext cx="18196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Implementation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64208"/>
            <a:ext cx="3154680" cy="2971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F252B"/>
                </a:solidFill>
                <a:latin typeface="Arial"/>
              </a:defRPr>
            </a:pPr>
            <a:r>
              <a:t>• C++14 with libfranka 0.7.1 and Eigen 3.3.7.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F252B"/>
                </a:solidFill>
                <a:latin typeface="Arial"/>
              </a:defRPr>
            </a:pPr>
            <a:r>
              <a:t>• Ubuntu 20.04.3, PREEMPT_RT kernel 5.9.1-rt20.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F252B"/>
                </a:solidFill>
                <a:latin typeface="Arial"/>
              </a:defRPr>
            </a:pPr>
            <a:r>
              <a:t>• Nominal 1 ms callback; terminal input handled by a separate keyboard thread.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F252B"/>
                </a:solidFill>
                <a:latin typeface="Arial"/>
              </a:defRPr>
            </a:pPr>
            <a:r>
              <a:t>• File output is deferred until torque control stops.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F252B"/>
                </a:solidFill>
                <a:latin typeface="Arial"/>
              </a:defRPr>
            </a:pPr>
            <a:r>
              <a:t>• Each session reloads and validates the parameter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4956048"/>
            <a:ext cx="3182112" cy="795528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5029200"/>
            <a:ext cx="2962656" cy="6492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F252B"/>
                </a:solidFill>
                <a:latin typeface="Arial"/>
              </a:rPr>
              <a:t>Gravity compensation is handled by the FCI; the application adds the model Coriolis/centrifugal term τ_c.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Surface-contact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experiment separates orientation, approach, contact establishment, hold, and grinding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IMPLEMENTATION</a:t>
            </a:r>
          </a:p>
        </p:txBody>
      </p:sp>
      <p:pic>
        <p:nvPicPr>
          <p:cNvPr id="6" name="Picture 5" descr="phase_flow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75" y="1124712"/>
            <a:ext cx="5350673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225296"/>
            <a:ext cx="15087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2" y="1280160"/>
            <a:ext cx="13624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Measured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64208"/>
            <a:ext cx="3913632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Tool Orientation: establish the commanded pre-contact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Surface Approach: descend until the minimum rectangular-tool clearance reaches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Contact Establishment: move the selected tool point toward the surface for up to 5 s while holding the captured entry orientation.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Pre-Grinding Hold: preserve the final contact reference until operator confirmation.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Grinding: retain the normal press and superimpose tangential motion; not part of the quantitative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285232"/>
            <a:ext cx="3886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0648" y="5358384"/>
            <a:ext cx="366674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C00000"/>
                </a:solidFill>
                <a:latin typeface="Arial"/>
              </a:rPr>
              <a:t>All reported contact-response values come from Contact Establishment.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Tool geometry, clearance, and contact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controller uses the rectangular face geometry to decide when approach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IMPLEMENTATION</a:t>
            </a:r>
          </a:p>
        </p:txBody>
      </p:sp>
      <p:pic>
        <p:nvPicPr>
          <p:cNvPr id="6" name="Picture 5" descr="tool_clearance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3548"/>
            <a:ext cx="3749039" cy="2222142"/>
          </a:xfrm>
          <a:prstGeom prst="rect">
            <a:avLst/>
          </a:prstGeom>
        </p:spPr>
      </p:pic>
      <p:pic>
        <p:nvPicPr>
          <p:cNvPr id="7" name="Picture 6" descr="leading_feature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92031"/>
            <a:ext cx="3840480" cy="1565176"/>
          </a:xfrm>
          <a:prstGeom prst="rect">
            <a:avLst/>
          </a:prstGeom>
        </p:spPr>
      </p:pic>
      <p:pic>
        <p:nvPicPr>
          <p:cNvPr id="8" name="Picture 7" descr="face_feature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757234"/>
            <a:ext cx="2057400" cy="18347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389120"/>
            <a:ext cx="24688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443983"/>
            <a:ext cx="23225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Geometry used in the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28032"/>
            <a:ext cx="5989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Tool face: 40 × 120 mm · centre: +20 mm along Z_EE · custom gripper fingers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6400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68717A"/>
                </a:solidFill>
                <a:latin typeface="Arial"/>
              </a:rPr>
              <a:t>The minimum clearance of the complete rectangular face determines the transition from Surface Approach to Contact Establishment.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663440"/>
            <a:ext cx="3794760" cy="9144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8" y="4736592"/>
            <a:ext cx="3575304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003B6F"/>
                </a:solidFill>
                <a:latin typeface="Arial"/>
              </a:rPr>
              <a:t>Contact begins from the selected leading face feature while the controller still regulates the TCP.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Experimental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Franka Panda, rectangular tool, planar plate, and a real-time control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METHOD</a:t>
            </a:r>
          </a:p>
        </p:txBody>
      </p:sp>
      <p:pic>
        <p:nvPicPr>
          <p:cNvPr id="6" name="Picture 5" descr="setu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9387"/>
            <a:ext cx="6537960" cy="22426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16152"/>
            <a:ext cx="1874519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2" y="1271016"/>
            <a:ext cx="17282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Hardware and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27632"/>
            <a:ext cx="361188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F252B"/>
                </a:solidFill>
                <a:latin typeface="Arial"/>
              </a:defRPr>
            </a:pPr>
            <a:r>
              <a:t>• Franka Emika Panda, 7 DOF, torque-controlled through the FCI.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F252B"/>
                </a:solidFill>
                <a:latin typeface="Arial"/>
              </a:defRPr>
            </a:pPr>
            <a:r>
              <a:t>• Rectangular grinding tool clamped by the Franka Hand with custom pads/fingers.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F252B"/>
                </a:solidFill>
                <a:latin typeface="Arial"/>
              </a:defRPr>
            </a:pPr>
            <a:r>
              <a:t>• Plane plate mounted on a raised base board; dry contact in every trial.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F252B"/>
                </a:solidFill>
                <a:latin typeface="Arial"/>
              </a:defRPr>
            </a:pPr>
            <a:r>
              <a:t>• Control and logging at the nominal 1 kHz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617720"/>
            <a:ext cx="16002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4709159"/>
            <a:ext cx="14904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40×120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5093208"/>
            <a:ext cx="1453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tool face [mm]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4617720"/>
            <a:ext cx="16002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0344" y="4709159"/>
            <a:ext cx="14904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5093208"/>
            <a:ext cx="1453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tool-centre offset [mm]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5577840"/>
            <a:ext cx="3611880" cy="530352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7" y="5650992"/>
            <a:ext cx="339242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F6F3E"/>
                </a:solidFill>
                <a:latin typeface="Arial"/>
              </a:rPr>
              <a:t>Communication_test passed the libfranka mean command-success criterion ≥ 0.90.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Surface-reference and tool-normal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controller reference and the physical tool normal were established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METHOD</a:t>
            </a:r>
          </a:p>
        </p:txBody>
      </p:sp>
      <p:pic>
        <p:nvPicPr>
          <p:cNvPr id="6" name="Picture 5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0869"/>
            <a:ext cx="5349240" cy="24360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261872"/>
            <a:ext cx="16002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16736"/>
            <a:ext cx="1453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Surface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80060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Complete tool face seated on the plane once.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−Z_EE transformed to base coordinates defines the outward configured surface normal n_s.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Configured normal corresponds to −1.585° about base x and +0.988° about base 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675887"/>
            <a:ext cx="13258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730751"/>
            <a:ext cx="11795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Tool 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78224"/>
            <a:ext cx="4800600" cy="1572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Tool face seated on the plane at three yaw orientations.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A unit vector in end-effector coordinates was fitted to make its base-frame direction as constant as possible.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F252B"/>
                </a:solidFill>
                <a:latin typeface="Arial"/>
              </a:defRPr>
            </a:pPr>
            <a:r>
              <a:t>• Calibrated tool normal differs from nominal +Z_EE by ≈1.56°.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645152"/>
            <a:ext cx="4855464" cy="90525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90" b="1" i="0">
                <a:solidFill>
                  <a:srgbClr val="C00000"/>
                </a:solidFill>
                <a:latin typeface="Arial"/>
              </a:rPr>
              <a:t>θ_init,t₁ is calculated from the measured entry orientation and these calibrated directions; the physical tool–surface angle was not measured directly.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Contact-test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All comparisons change one parameter while the remaining contact sequence and geometry stay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874519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243584"/>
            <a:ext cx="17282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Orientation /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188720"/>
            <a:ext cx="20116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243584"/>
            <a:ext cx="18653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Contact Establishment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188720"/>
            <a:ext cx="18288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243584"/>
            <a:ext cx="16824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Repetitions /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27632"/>
            <a:ext cx="301752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Orientation + approach gains: Kₚ = 150 N/m in all directions; Kᴿ = [180, 180, 90]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Damping factor ζ = 1.9.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Approach speed 0.1 m/s; clearance = 20 mm.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27632"/>
            <a:ext cx="306324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Baseline contact gains: Kₚ = [2000, 2000, 350] N/m and Kᴿ = [5, 5, 50]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Damping factor ζ = 1.0, inertia-scaled by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Press speed 0.08 m/s; independent 5 s timeout.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627632"/>
            <a:ext cx="320040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Each parameter setting repeated 3 times.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57 surface-contact trials + 12 pose-hold trials = 69 total.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Runtime signals stored in a preallocated in-memory ring buffer and written to CSV after torque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069080"/>
            <a:ext cx="9098280" cy="713232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7" y="4142232"/>
            <a:ext cx="887882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F252B"/>
                </a:solidFill>
                <a:latin typeface="Arial"/>
              </a:rPr>
              <a:t>During Cases A–D the surface-contact null-space configuration stayed fixed: d_null = 2 N·m·s/rad and k_σ = 1 N·m.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120640"/>
            <a:ext cx="20116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4" y="5212079"/>
            <a:ext cx="1901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5596127"/>
            <a:ext cx="18653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repetitions per setting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5120640"/>
            <a:ext cx="20116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5212079"/>
            <a:ext cx="1901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C00000"/>
                </a:solidFill>
                <a:latin typeface="Arial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5596127"/>
            <a:ext cx="18653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contact parameter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5120640"/>
            <a:ext cx="20116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5212079"/>
            <a:ext cx="1901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5596127"/>
            <a:ext cx="18653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reported trials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Main surface-contact experimental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Cases A–D separate the baseline, stiffness effects, and tangential CoC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502920"/>
          </a:xfrm>
          <a:prstGeom prst="rect">
            <a:avLst/>
          </a:prstGeom>
          <a:solidFill>
            <a:srgbClr val="EAF3FB"/>
          </a:solidFill>
          <a:ln w="889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08176"/>
            <a:ext cx="56692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B6F"/>
                </a:solidFill>
                <a:latin typeface="Arial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6736" y="1298448"/>
            <a:ext cx="2057400" cy="502920"/>
          </a:xfrm>
          <a:prstGeom prst="rect">
            <a:avLst/>
          </a:prstGeom>
          <a:solidFill>
            <a:srgbClr val="EAF3FB"/>
          </a:solidFill>
          <a:ln w="889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2456" y="1408176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B6F"/>
                </a:solidFill>
                <a:latin typeface="Arial"/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2468880" cy="502920"/>
          </a:xfrm>
          <a:prstGeom prst="rect">
            <a:avLst/>
          </a:prstGeom>
          <a:solidFill>
            <a:srgbClr val="EAF3FB"/>
          </a:solidFill>
          <a:ln w="889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408176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B6F"/>
                </a:solidFill>
                <a:latin typeface="Arial"/>
              </a:rPr>
              <a:t>Achieved initial 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3016" y="1298448"/>
            <a:ext cx="3886200" cy="502920"/>
          </a:xfrm>
          <a:prstGeom prst="rect">
            <a:avLst/>
          </a:prstGeom>
          <a:solidFill>
            <a:srgbClr val="EAF3FB"/>
          </a:solidFill>
          <a:ln w="889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8736" y="1408176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B6F"/>
                </a:solidFill>
                <a:latin typeface="Arial"/>
              </a:rPr>
              <a:t>Tested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29216" y="1298448"/>
            <a:ext cx="749808" cy="502920"/>
          </a:xfrm>
          <a:prstGeom prst="rect">
            <a:avLst/>
          </a:prstGeom>
          <a:solidFill>
            <a:srgbClr val="EAF3FB"/>
          </a:solidFill>
          <a:ln w="889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4936" y="1408176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B6F"/>
                </a:solidFill>
                <a:latin typeface="Arial"/>
              </a:rPr>
              <a:t>Trials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801368"/>
            <a:ext cx="6583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1892807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F252B"/>
                </a:solidFill>
                <a:latin typeface="Arial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6736" y="1801368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0744" y="1892807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CoC at TCP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1801368"/>
            <a:ext cx="2468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892807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φ₀=0.74°; +9.31°; −9.41° about t₁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3016" y="1801368"/>
            <a:ext cx="38862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1892807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F252B"/>
                </a:solidFill>
                <a:latin typeface="Arial"/>
              </a:rPr>
              <a:t>r_c =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9216" y="1801368"/>
            <a:ext cx="74980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3224" y="1892807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642616"/>
            <a:ext cx="658368" cy="841248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2734056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F252B"/>
                </a:solidFill>
                <a:latin typeface="Arial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16736" y="2642616"/>
            <a:ext cx="2057400" cy="841248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734056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Rotational stiffness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4136" y="2642616"/>
            <a:ext cx="2468880" cy="841248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2734056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+9.31° to +9.32° about t₁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3016" y="2642616"/>
            <a:ext cx="3886200" cy="841248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7024" y="2734056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F252B"/>
                </a:solidFill>
                <a:latin typeface="Arial"/>
              </a:rPr>
              <a:t>K_R,t₁ = 15, 50 N·m/rad
(+ 5 N·m/rad baseline)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9216" y="2642616"/>
            <a:ext cx="749808" cy="841248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3224" y="2734056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83864"/>
            <a:ext cx="6583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3575304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F252B"/>
                </a:solidFill>
                <a:latin typeface="Arial"/>
              </a:rPr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16736" y="3483864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0744" y="3575304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Tangential translational stiffness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74136" y="3483864"/>
            <a:ext cx="2468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3575304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+9.24° to +9.31° about t₁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3016" y="3483864"/>
            <a:ext cx="38862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07024" y="3575304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F252B"/>
                </a:solidFill>
                <a:latin typeface="Arial"/>
              </a:rPr>
              <a:t>K_p,t₂ = 300, 800 N/m
(+ 2000 N/m baseline)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9216" y="3483864"/>
            <a:ext cx="74980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93224" y="3575304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325112"/>
            <a:ext cx="658368" cy="1060704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4416552"/>
            <a:ext cx="530352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C00000"/>
                </a:solidFill>
                <a:latin typeface="Arial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16736" y="4325112"/>
            <a:ext cx="2057400" cy="1060704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80744" y="4416552"/>
            <a:ext cx="192938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Tangential CoC position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4136" y="4325112"/>
            <a:ext cx="2468880" cy="1060704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38144" y="4416552"/>
            <a:ext cx="234086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+9.32° and −9.36° about t₁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3016" y="4325112"/>
            <a:ext cx="3886200" cy="1060704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07024" y="4416552"/>
            <a:ext cx="375818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F252B"/>
                </a:solidFill>
                <a:latin typeface="Arial"/>
              </a:rPr>
              <a:t>r_c,t₂ = −40, −20, −10, +10, +20, +40 mm
(+ 0 mm baseline)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29216" y="4325112"/>
            <a:ext cx="749808" cy="1060704"/>
          </a:xfrm>
          <a:prstGeom prst="rect">
            <a:avLst/>
          </a:prstGeom>
          <a:solidFill>
            <a:srgbClr val="F2F4F6"/>
          </a:solidFill>
          <a:ln w="571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93224" y="4416552"/>
            <a:ext cx="621792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F252B"/>
                </a:solidFill>
                <a:latin typeface="Arial"/>
              </a:rPr>
              <a:t>36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44752" y="5541264"/>
            <a:ext cx="9281160" cy="53035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5614416"/>
            <a:ext cx="906170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03B6F"/>
                </a:solidFill>
                <a:latin typeface="Arial"/>
              </a:rPr>
              <a:t>The r_c,t₂ = 0 reference in Cases B–D reuses the corresponding Case-A TCP-centred measurement.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Results I — TCP-centred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Case A: with r_c = 0, contact-induced rotation occurs towards the configured surface for both tested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results_case_a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77" y="1225296"/>
            <a:ext cx="5017725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32588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5703" y="1417320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+7.57°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801368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at +9.31° initial offset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2588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0264" y="1417320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−10.83°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2" y="1801368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at −9.41° initial offset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450592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3" y="254203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81.3%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926080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|response| / |initial|, positive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450592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4" y="254203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115.1%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926080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|response| / |initial|, negative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703320"/>
            <a:ext cx="13258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58183"/>
            <a:ext cx="11795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078224"/>
            <a:ext cx="416052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At the TCP, r_c × f = 0: there is no additional CoC moment selecting a rotational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The finite rotational compliance still permits contact-induced rotation in both directions.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This makes the TCP-centred condition a suitable direction-independent final configuration after alignment.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5074920"/>
            <a:ext cx="4526280" cy="594360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4248" y="5148072"/>
            <a:ext cx="430682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70" b="1" i="0">
                <a:solidFill>
                  <a:srgbClr val="2F6F3E"/>
                </a:solidFill>
                <a:latin typeface="Arial"/>
              </a:rPr>
              <a:t>TCP-centred CoC = direction-independent baseline.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Results II — stiffness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Rotational stiffness controls the alignment response much more strongly than tangential translational stiffness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results_case_b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7" y="1188720"/>
            <a:ext cx="4754880" cy="2971800"/>
          </a:xfrm>
          <a:prstGeom prst="rect">
            <a:avLst/>
          </a:prstGeom>
        </p:spPr>
      </p:pic>
      <p:pic>
        <p:nvPicPr>
          <p:cNvPr id="7" name="Picture 6" descr="results_case_c_stiff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3" y="1188720"/>
            <a:ext cx="4754880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4343400"/>
            <a:ext cx="16916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398264"/>
            <a:ext cx="15453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Case B — K_R,t₁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36592"/>
            <a:ext cx="20116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52B"/>
                </a:solidFill>
                <a:latin typeface="Arial"/>
              </a:rPr>
              <a:t>5 → 50 N·m/rad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4462272"/>
            <a:ext cx="22402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4553712"/>
            <a:ext cx="21305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C00000"/>
                </a:solidFill>
                <a:latin typeface="Arial"/>
              </a:rPr>
              <a:t>−63.9%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4937760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reduction: 7.57° → 2.73°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4343400"/>
            <a:ext cx="16916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4398264"/>
            <a:ext cx="15453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Case C — K_p,t₂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736592"/>
            <a:ext cx="21031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52B"/>
                </a:solidFill>
                <a:latin typeface="Arial"/>
              </a:rPr>
              <a:t>300 → 2000 N/m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58784" y="4462272"/>
            <a:ext cx="22402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4553712"/>
            <a:ext cx="21305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37760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span: 7.56°–7.59°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532120"/>
            <a:ext cx="9692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605272"/>
            <a:ext cx="947318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C00000"/>
                </a:solidFill>
                <a:latin typeface="Arial"/>
              </a:rPr>
              <a:t>Takeaway: the alignment response is far more sensitive to rotational stiffness about the response axis than to the tested cross-axis translational stiffness.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Results III — tangential CoC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Case D: the displaced CoC selects a preferred rotational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results_case_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6816"/>
            <a:ext cx="6537960" cy="32042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234440"/>
            <a:ext cx="23317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289304"/>
            <a:ext cx="2185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Positive initial offset (+9.32°)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91640"/>
            <a:ext cx="33375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Cambria Math"/>
              </a:rPr>
              <a:t>r_c,t₂ = −40 → +40 mm
γₜ₁ = 0.18° → 7.87°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51760"/>
            <a:ext cx="24231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2706624"/>
            <a:ext cx="22768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Negative initial offset (−9.36°)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08960"/>
            <a:ext cx="33375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Cambria Math"/>
              </a:rPr>
              <a:t>r_c,t₂ = −40 → +40 mm
γₜ₁ = −11.30° → −0.09°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160520"/>
            <a:ext cx="35204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7" y="4233672"/>
            <a:ext cx="33009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C00000"/>
                </a:solidFill>
                <a:latin typeface="Arial"/>
              </a:rPr>
              <a:t>Same lever direction, opposite effect: useful for one sign and strongly opposing for the other.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1955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Selecting the CoC direction according to the initial offset increased the final response by ≈4%. Selecting the opposite direction reduced the response by ≈98–99%.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Results IV — mechanism behind the CoC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normal press stays similar, while the commanded TCP moment changes strongly and reverses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MAIN_D_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09" y="1143000"/>
            <a:ext cx="4234261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14032" y="1234440"/>
            <a:ext cx="20116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7184" y="1289304"/>
            <a:ext cx="18653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Positive-offset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664208"/>
            <a:ext cx="406908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Compared r_c,t₂ = −40, 0, +40 mm at mean θ_init,t₁ = 9.32°.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Commanded normal force settles in a narrow range: about −77 to −82 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Commanded TCP moment settles at ≈ +3.28, +0.66, and −2.44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The moment reverses direction between the two displaced CoCs, while the normal force changes only slightly.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526280"/>
            <a:ext cx="17373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8624" y="4617720"/>
            <a:ext cx="16276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2.3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5001768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≈ steady response, +40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526280"/>
            <a:ext cx="17373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4617720"/>
            <a:ext cx="162763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3.6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5001768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≈ steady response, TCP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5532120"/>
            <a:ext cx="4069080" cy="530352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5605272"/>
            <a:ext cx="384962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70" b="1" i="0">
                <a:solidFill>
                  <a:srgbClr val="2F6F3E"/>
                </a:solidFill>
                <a:latin typeface="Arial"/>
              </a:rPr>
              <a:t>The displaced CoC mainly changes the rotational moment generated by the commanded press — not the press magnitude itself.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Secondary null-space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7-DOF Panda has one redundant direction at full Jacobian 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34440"/>
            <a:ext cx="15544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89304"/>
            <a:ext cx="14081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SVD and projector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19072"/>
            <a:ext cx="3886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03B6F"/>
                </a:solidFill>
                <a:latin typeface="Cambria Math"/>
              </a:rPr>
              <a:t>J = U Σ Vᵀ,   J v₇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252B"/>
                </a:solidFill>
                <a:latin typeface="Cambria Math"/>
              </a:rPr>
              <a:t>N_q = I − J⁺J,    N_τ = N_qᵀ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16916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289304"/>
            <a:ext cx="15453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Projected damping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77393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0000"/>
                </a:solidFill>
                <a:latin typeface="Cambria Math"/>
              </a:rPr>
              <a:t>τ_d = −d_null N_τ q̇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95728"/>
            <a:ext cx="3063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0" i="0">
                <a:solidFill>
                  <a:srgbClr val="68717A"/>
                </a:solidFill>
                <a:latin typeface="Arial"/>
              </a:rPr>
              <a:t>Dissipates redundant joint motion already present.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234440"/>
            <a:ext cx="23317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289304"/>
            <a:ext cx="2185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Singular-value conditioning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737360"/>
            <a:ext cx="31546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0" b="1" i="0">
                <a:solidFill>
                  <a:srgbClr val="2F6F3E"/>
                </a:solidFill>
                <a:latin typeface="Cambria Math"/>
              </a:rPr>
              <a:t>q± = q ± α_probe v₇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286000"/>
            <a:ext cx="31546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0" b="1" i="0">
                <a:solidFill>
                  <a:srgbClr val="1F252B"/>
                </a:solidFill>
                <a:latin typeface="Cambria Math"/>
              </a:rPr>
              <a:t>τ_σ = k_σ N_τ(s_σ v₇)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79776"/>
            <a:ext cx="3200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Drives the configuration toward the sampled neighbour with the larger σ_min.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749039"/>
            <a:ext cx="4434840" cy="65836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3822191"/>
            <a:ext cx="4215383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03B6F"/>
                </a:solidFill>
                <a:latin typeface="Arial"/>
              </a:rPr>
              <a:t>τ_null = τ_d + τ_σ</a:t>
            </a:r>
          </a:p>
        </p:txBody>
      </p:sp>
      <p:pic>
        <p:nvPicPr>
          <p:cNvPr id="21" name="Picture 20" descr="pose_hold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18" y="4526280"/>
            <a:ext cx="1579922" cy="141732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Null-space pose-hold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two secondary terms are evaluated separately under one repeatable virtual disturbance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88720"/>
            <a:ext cx="20574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43584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Four settings × 3 trials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91056"/>
            <a:ext cx="352044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Mode 0: τ_null = 0.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Mode 1: projected damping, d_null = 2 N·m·s/rad.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Mode 2: conditioning only, k_σ = 1.5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Mode 2: conditioning only, k_σ = 2.0 N·m.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88720"/>
            <a:ext cx="192024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243584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Held Cartesian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591056"/>
            <a:ext cx="30175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K_p,hold = 2000 N/m.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K_R,hold = 50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D_p,hold = 50 N·s/m.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D_R,hold = 8 N·m·s/rad.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Acceptance: max ||e_p|| &lt; 2 mm during disturbance.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188720"/>
            <a:ext cx="18288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243584"/>
            <a:ext cx="16824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Virtual disturbance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591056"/>
            <a:ext cx="3401568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F252B"/>
                </a:solidFill>
                <a:latin typeface="Arial"/>
              </a:defRPr>
            </a:pPr>
            <a:r>
              <a:t>• 20 N virtual point force on link 3 at r_p = [0, 0, 0.2]ᵀ 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F252B"/>
                </a:solidFill>
                <a:latin typeface="Arial"/>
              </a:defRPr>
            </a:pPr>
            <a:r>
              <a:t>• Force direction aligned with the selected link-point motion produced by the initial structural null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F252B"/>
                </a:solidFill>
                <a:latin typeface="Arial"/>
              </a:defRPr>
            </a:pPr>
            <a:r>
              <a:t>• Equivalent torque bounded by 3 N·m.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4937760"/>
            <a:ext cx="9921240" cy="0"/>
          </a:xfrm>
          <a:prstGeom prst="line">
            <a:avLst/>
          </a:prstGeom>
          <a:ln w="25400">
            <a:solidFill>
              <a:srgbClr val="68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156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39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0 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4340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6908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5 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7 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1228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3796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8 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60919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9 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72800" y="4828032"/>
            <a:ext cx="0" cy="246888"/>
          </a:xfrm>
          <a:prstGeom prst="line">
            <a:avLst/>
          </a:prstGeom>
          <a:ln w="12700">
            <a:solidFill>
              <a:srgbClr val="1F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69848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8717A"/>
                </a:solidFill>
                <a:latin typeface="Arial"/>
              </a:rPr>
              <a:t>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526280"/>
            <a:ext cx="3291840" cy="256032"/>
          </a:xfrm>
          <a:prstGeom prst="roundRect">
            <a:avLst/>
          </a:prstGeom>
          <a:solidFill>
            <a:srgbClr val="F2F4F6"/>
          </a:solidFill>
          <a:ln w="508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56285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8717A"/>
                </a:solidFill>
                <a:latin typeface="Arial"/>
              </a:rPr>
              <a:t>settling / conditioning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526280"/>
            <a:ext cx="1645920" cy="256032"/>
          </a:xfrm>
          <a:prstGeom prst="roundRect">
            <a:avLst/>
          </a:prstGeom>
          <a:solidFill>
            <a:srgbClr val="EAF3FB"/>
          </a:solidFill>
          <a:ln w="508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562856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003B6F"/>
                </a:solidFill>
                <a:latin typeface="Arial"/>
              </a:rPr>
              <a:t>smooth ramp 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526280"/>
            <a:ext cx="822960" cy="256032"/>
          </a:xfrm>
          <a:prstGeom prst="roundRect">
            <a:avLst/>
          </a:prstGeom>
          <a:solidFill>
            <a:srgbClr val="FAE8E8"/>
          </a:solidFill>
          <a:ln w="50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3328" y="4562856"/>
            <a:ext cx="6949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C00000"/>
                </a:solidFill>
                <a:latin typeface="Arial"/>
              </a:rPr>
              <a:t>20 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2280" y="4526280"/>
            <a:ext cx="822960" cy="256032"/>
          </a:xfrm>
          <a:prstGeom prst="roundRect">
            <a:avLst/>
          </a:prstGeom>
          <a:solidFill>
            <a:srgbClr val="EAF3FB"/>
          </a:solidFill>
          <a:ln w="508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562856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003B6F"/>
                </a:solidFill>
                <a:latin typeface="Arial"/>
              </a:rPr>
              <a:t>ramp down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526280"/>
            <a:ext cx="3337560" cy="256032"/>
          </a:xfrm>
          <a:prstGeom prst="roundRect">
            <a:avLst/>
          </a:prstGeom>
          <a:solidFill>
            <a:srgbClr val="F2F4F6"/>
          </a:solidFill>
          <a:ln w="508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456285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8717A"/>
                </a:solidFill>
                <a:latin typeface="Arial"/>
              </a:rPr>
              <a:t>post-disturbance observation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5623560"/>
            <a:ext cx="9098280" cy="50292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82495" y="5696712"/>
            <a:ext cx="8878824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1F252B"/>
                </a:solidFill>
                <a:latin typeface="Arial"/>
              </a:rPr>
              <a:t>Evaluation metrics: cumulative projected null-space motion E_N, net displacement Δη, Δσ_min, and Cartesian position retention.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Results V — null-space pose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Projected damping reduces redundant motion; conditioning nearly removes the final net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MAIN_NS_nullspace_auto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144" y="1170432"/>
            <a:ext cx="4066911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5160" y="1234440"/>
            <a:ext cx="17830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289304"/>
            <a:ext cx="1636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Projected damping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1691640"/>
            <a:ext cx="3794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1" i="0">
                <a:solidFill>
                  <a:srgbClr val="1F252B"/>
                </a:solidFill>
                <a:latin typeface="Cambria Math"/>
              </a:rPr>
              <a:t>E_N: 7.596° → 5.687°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176272"/>
            <a:ext cx="3794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1" i="0">
                <a:solidFill>
                  <a:srgbClr val="1F252B"/>
                </a:solidFill>
                <a:latin typeface="Cambria Math"/>
              </a:rPr>
              <a:t>Net: 7.517° → 5.609°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8352" y="2697480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770632"/>
            <a:ext cx="3026663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0000"/>
                </a:solidFill>
                <a:latin typeface="Arial"/>
              </a:rPr>
              <a:t>≈25% less redundant 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429000"/>
            <a:ext cx="23317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483864"/>
            <a:ext cx="2185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Singular-value 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3858768"/>
            <a:ext cx="3794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0" b="1" i="0">
                <a:solidFill>
                  <a:srgbClr val="1F252B"/>
                </a:solidFill>
                <a:latin typeface="Cambria Math"/>
              </a:rPr>
              <a:t>|Δη| = 0.015° at 1.5 N·m
|Δη| = 0.006° at 2.0 N·m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4645152"/>
            <a:ext cx="376732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Net-displacement reduction: 99.8% and 99.9% relative to inactive.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5257800"/>
            <a:ext cx="4041648" cy="74980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5330952"/>
            <a:ext cx="3822191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40" b="1" i="0">
                <a:solidFill>
                  <a:srgbClr val="003B6F"/>
                </a:solidFill>
                <a:latin typeface="Arial"/>
              </a:rPr>
              <a:t>2.0 N·m leaves slightly less final displacement but produces much more back-and-forth motion: E_N = 1.619° vs 0.283°.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Main experimental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What the measurements establish within the investigated task and parameter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RESULTS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234440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8473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188720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Arial"/>
              </a:rPr>
              <a:t>TCP-centred CoC is direction-independent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188720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Contact-induced rotation occurred towards the configured surface for both tested initial directions.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176272"/>
            <a:ext cx="347472" cy="34747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2656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Arial"/>
              </a:rPr>
              <a:t>Rotational stiffness is the dominant stiffness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30552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5 → 50 N·m/rad reduced the response by 63.9%; K_p,t₂ variation changed it by only 0.4%.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118104"/>
            <a:ext cx="347472" cy="34747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6839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072384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Arial"/>
              </a:rPr>
              <a:t>A displaced CoC is direction-selective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072384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Matched direction slightly increased/faster response; the opposite direction reduced the response by ≈98–99%.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059935"/>
            <a:ext cx="347472" cy="347472"/>
          </a:xfrm>
          <a:prstGeom prst="ellipse">
            <a:avLst/>
          </a:prstGeom>
          <a:solidFill>
            <a:srgbClr val="2F6F3E"/>
          </a:solidFill>
          <a:ln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11022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014215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Arial"/>
              </a:rPr>
              <a:t>The mechanism is the commanded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014215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Normal force stayed similar while M_t₁ changed strongly and reversed sign with CoC direction.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5001768"/>
            <a:ext cx="347472" cy="347472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05206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956048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52B"/>
                </a:solidFill>
                <a:latin typeface="Arial"/>
              </a:rPr>
              <a:t>Null-space terms have distinct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956048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Projected damping reduces motion; singular-value conditioning actively changes the redundant configuration.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870448"/>
            <a:ext cx="6263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81528" y="5943600"/>
            <a:ext cx="6044183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30" b="1" i="0">
                <a:solidFill>
                  <a:srgbClr val="C00000"/>
                </a:solidFill>
                <a:latin typeface="Arial"/>
              </a:rPr>
              <a:t>Complete CoC setting = magnitude + direction + coordinate frame.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quantitative conclusions are intentionally scoped to the tested geometry and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8288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243584"/>
            <a:ext cx="16824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Surface-contact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074920" cy="2578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One Panda configuration, rectangular tool and mounting arrangement, configured surface reference, and Contact Establishment trajectory.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Main repeatable comparison was rotation about t₁; t₂ measurements were more variable.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Each trial used one fixed CoC displacement during Contact Establishment; adaptive switching was not tested.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Grinding motion was implemented but not included in the quantitative contact-response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17373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243584"/>
            <a:ext cx="1591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Measurement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00200"/>
            <a:ext cx="4800600" cy="2578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Physical tool–surface angle and instantaneous pressure/contact centre were not measured directly.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θ_init,t₁ and γₜ₁ therefore describe end-effector orientation relative to the configured surface reference.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F252B"/>
                </a:solidFill>
                <a:latin typeface="Arial"/>
              </a:defRPr>
            </a:pPr>
            <a:r>
              <a:t>• Tool mount had about ±2° unloaded angular play about y_EE, approximately aligned with t₂ in the flat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17720"/>
            <a:ext cx="160020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672583"/>
            <a:ext cx="1453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Null-space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50292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52B"/>
                </a:solidFill>
                <a:latin typeface="Arial"/>
              </a:rPr>
              <a:t>Projected damping and singular-value conditioning were tested separately in pose hold under one virtual disturbance direction and one robot configuration.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4754880" cy="82296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828032"/>
            <a:ext cx="453542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252B"/>
                </a:solidFill>
                <a:latin typeface="Arial"/>
              </a:rPr>
              <a:t>Interpret the reported percentages as measured effects within the investigated task and parameter ranges.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Future work — adaptive temporary CoC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The results suggest a simple state-dependent compliance-centre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261872"/>
            <a:ext cx="502920" cy="502920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Start at 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8717A"/>
                </a:solidFill>
                <a:latin typeface="Arial"/>
              </a:rPr>
              <a:t>No directional bias before the initial offset is known.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2606040"/>
            <a:ext cx="228600" cy="0"/>
          </a:xfrm>
          <a:prstGeom prst="line">
            <a:avLst/>
          </a:prstGeom>
          <a:ln w="16510">
            <a:solidFill>
              <a:srgbClr val="6871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261872"/>
            <a:ext cx="502920" cy="502920"/>
          </a:xfrm>
          <a:prstGeom prst="ellipse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Estimate offset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8717A"/>
                </a:solidFill>
                <a:latin typeface="Arial"/>
              </a:rPr>
              <a:t>Use the achieved tool orientation relative to the configured surface.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2472" y="2606040"/>
            <a:ext cx="228600" cy="0"/>
          </a:xfrm>
          <a:prstGeom prst="line">
            <a:avLst/>
          </a:prstGeom>
          <a:ln w="16510">
            <a:solidFill>
              <a:srgbClr val="6871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60920" y="1261872"/>
            <a:ext cx="502920" cy="502920"/>
          </a:xfrm>
          <a:prstGeom prst="ellipse">
            <a:avLst/>
          </a:prstGeom>
          <a:solidFill>
            <a:srgbClr val="2F6F3E"/>
          </a:solidFill>
          <a:ln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Apply temporary tangential CoC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8717A"/>
                </a:solidFill>
                <a:latin typeface="Arial"/>
              </a:rPr>
              <a:t>Select r_c,t perpendicular to the offset so r_c × f_n supports the required rotation.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42832" y="2606040"/>
            <a:ext cx="228600" cy="0"/>
          </a:xfrm>
          <a:prstGeom prst="line">
            <a:avLst/>
          </a:prstGeom>
          <a:ln w="16510">
            <a:solidFill>
              <a:srgbClr val="6871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3544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261872"/>
            <a:ext cx="502920" cy="502920"/>
          </a:xfrm>
          <a:prstGeom prst="ellipse">
            <a:avLst/>
          </a:prstGeom>
          <a:solidFill>
            <a:srgbClr val="2F6F3E"/>
          </a:solidFill>
          <a:ln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52B"/>
                </a:solidFill>
                <a:latin typeface="Arial"/>
              </a:rPr>
              <a:t>Return to TCP after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8717A"/>
                </a:solidFill>
                <a:latin typeface="Arial"/>
              </a:rPr>
              <a:t>Remove the directional preference and retain bidirectional compliant rotation.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160520"/>
            <a:ext cx="10241280" cy="8412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233672"/>
            <a:ext cx="1002182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3B6F"/>
                </a:solidFill>
                <a:latin typeface="Arial"/>
              </a:rPr>
              <a:t>Additional work: direct physical tool–surface angle measurement, stiffer tool mount, t₂ and arbitrary tangent-plane rotations, combined null-space terms under physical disturbances.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5321808"/>
            <a:ext cx="7086600" cy="640080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5394960"/>
            <a:ext cx="68671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F6F3E"/>
                </a:solidFill>
                <a:latin typeface="Arial"/>
              </a:rPr>
              <a:t>Proposed logic: TCP CoC → estimate deviation → selected lever → return to TCP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Final answer to the contact-alignment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C00000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166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07592"/>
            <a:ext cx="49469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00000"/>
                </a:solidFill>
                <a:latin typeface="Arial"/>
              </a:rPr>
              <a:t>A fixed non-zero tangential CoC is not direction-independent.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166360" cy="731520"/>
          </a:xfrm>
          <a:prstGeom prst="roundRect">
            <a:avLst/>
          </a:prstGeom>
          <a:solidFill>
            <a:srgbClr val="F0F7F2"/>
          </a:solidFill>
          <a:ln w="12700">
            <a:solidFill>
              <a:srgbClr val="2F6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307592"/>
            <a:ext cx="49469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6F3E"/>
                </a:solidFill>
                <a:latin typeface="Arial"/>
              </a:rPr>
              <a:t>The TCP-centred CoC is direction-independent and remains the robust final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99669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Arial"/>
              </a:rPr>
              <a:t>The displaced CoC changes the commanded moment generated by the normal press. That moment can support or oppose contact-induced alignment depending on the displacement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794760"/>
            <a:ext cx="2331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3886200"/>
            <a:ext cx="222199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C00000"/>
                </a:solidFill>
                <a:latin typeface="Arial"/>
              </a:rPr>
              <a:t>63.9%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70248"/>
            <a:ext cx="2185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reduction from rotational stiffness sweep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794760"/>
            <a:ext cx="2331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3886200"/>
            <a:ext cx="222199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F6F3E"/>
                </a:solidFill>
                <a:latin typeface="Arial"/>
              </a:rPr>
              <a:t>≈4%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4270248"/>
            <a:ext cx="2185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final-response gain with matched CoC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2331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3886200"/>
            <a:ext cx="222199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C00000"/>
                </a:solidFill>
                <a:latin typeface="Arial"/>
              </a:rPr>
              <a:t>98–99%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270248"/>
            <a:ext cx="2185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response suppression with opposite CoC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794760"/>
            <a:ext cx="2331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4" y="3886200"/>
            <a:ext cx="222199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03B6F"/>
                </a:solidFill>
                <a:latin typeface="Arial"/>
              </a:rPr>
              <a:t>99.8–99.9%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270248"/>
            <a:ext cx="2185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68717A"/>
                </a:solidFill>
                <a:latin typeface="Arial"/>
              </a:rPr>
              <a:t>net-displacement reduction from conditioning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349240"/>
            <a:ext cx="3291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1F252B"/>
                </a:solidFill>
                <a:latin typeface="Arial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85216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8717A"/>
                </a:solidFill>
                <a:latin typeface="Arial"/>
              </a:rPr>
              <a:t>Questions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complete controller state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Program-level operating modes and common stop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pic>
        <p:nvPicPr>
          <p:cNvPr id="6" name="Picture 5" descr="controller_sta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27" y="1097280"/>
            <a:ext cx="7338105" cy="5285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reference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Base, end-effector, TCP/tool, and configured surface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pic>
        <p:nvPicPr>
          <p:cNvPr id="6" name="Picture 5" descr="reference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8472"/>
            <a:ext cx="6446520" cy="32324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371600"/>
            <a:ext cx="13258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426464"/>
            <a:ext cx="11795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Frame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24612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F252B"/>
                </a:solidFill>
                <a:latin typeface="Arial"/>
              </a:defRPr>
            </a:pPr>
            <a:r>
              <a:t>• Base frame {0}: global expression of pose, Jacobian, forces, and moments.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F252B"/>
                </a:solidFill>
                <a:latin typeface="Arial"/>
              </a:defRPr>
            </a:pPr>
            <a:r>
              <a:t>• End-effector frame {EE}: measured robot state and calibrated tool geometry.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F252B"/>
                </a:solidFill>
                <a:latin typeface="Arial"/>
              </a:defRPr>
            </a:pPr>
            <a:r>
              <a:t>• TCP: coincident with the end-effector origin in the controller formulation.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F252B"/>
                </a:solidFill>
                <a:latin typeface="Arial"/>
              </a:defRPr>
            </a:pPr>
            <a:r>
              <a:t>• Surface frame {S} = [t₁, t₂, n_s]: principal compliance directions and evaluation axes.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892040"/>
            <a:ext cx="3246120" cy="841248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4965192"/>
            <a:ext cx="3026663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70" b="1" i="0">
                <a:solidFill>
                  <a:srgbClr val="1F252B"/>
                </a:solidFill>
                <a:latin typeface="Arial"/>
              </a:rPr>
              <a:t>The CoC shift changes the reference point; the surface-frame rotation changes the principal impedance directions.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main gains and trajectory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Controller settings held constant unless explicitly varied by 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6459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197864"/>
            <a:ext cx="14996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Common state gains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214884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645920"/>
            <a:ext cx="207568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003B6F"/>
                </a:solidFill>
                <a:latin typeface="Arial"/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554480"/>
            <a:ext cx="242316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645920"/>
            <a:ext cx="235000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003B6F"/>
                </a:solidFill>
                <a:latin typeface="Arial"/>
              </a:rPr>
              <a:t>K_p [t₁,t₂,n_s] N/m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554480"/>
            <a:ext cx="25603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645920"/>
            <a:ext cx="248716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003B6F"/>
                </a:solidFill>
                <a:latin typeface="Arial"/>
              </a:rPr>
              <a:t>K_R [t₁,t₂,n_s] N·m/rad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554480"/>
            <a:ext cx="68580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1645920"/>
            <a:ext cx="61264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003B6F"/>
                </a:solidFill>
                <a:latin typeface="Arial"/>
              </a:rPr>
              <a:t>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057400"/>
            <a:ext cx="2148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Orientation /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057400"/>
            <a:ext cx="2423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167128"/>
            <a:ext cx="23317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150,150,150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0574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167128"/>
            <a:ext cx="2468879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180,180,90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057400"/>
            <a:ext cx="685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16712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1.9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697480"/>
            <a:ext cx="2148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0720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Contact Establishment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697480"/>
            <a:ext cx="2423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807208"/>
            <a:ext cx="23317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2000,2000,350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69748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2807208"/>
            <a:ext cx="2468879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5,5,50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697480"/>
            <a:ext cx="685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80720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F252B"/>
                </a:solidFill>
                <a:latin typeface="Arial"/>
              </a:rPr>
              <a:t>1.0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474720"/>
            <a:ext cx="26517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529584"/>
            <a:ext cx="25054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Key trajectory / transition parameters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Minimum orientation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1.0 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59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1999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Orientation timeout / max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79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5.0 s / 20°/s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Approach speed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0.1 m/s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Tool clearance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0.020 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59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1999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Contact minimum / timeout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79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2.0 s / 5.0 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Press speed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0.080 m/s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Virtual press endpoint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0.240 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59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1999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Pre-contact 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79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disabled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79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19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8717A"/>
                </a:solidFill>
                <a:latin typeface="Arial"/>
              </a:rPr>
              <a:t>Pre-grinding hold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F252B"/>
                </a:solidFill>
                <a:latin typeface="Arial"/>
              </a:rPr>
              <a:t>enabled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CoC transformation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Analytical point-shift formulation used in the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03B6F"/>
                </a:solidFill>
                <a:latin typeface="Cambria Math"/>
              </a:rPr>
              <a:t>e_c = Ad(r_c) [e_p ; e_R],    Ad(r_c) = [ I  −[r_c]× ; 0  I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F252B"/>
                </a:solidFill>
                <a:latin typeface="Cambria Math"/>
              </a:rPr>
              <a:t>K_TCP = Ad(r_c)ᵀ K_c Ad(r_c)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F252B"/>
                </a:solidFill>
                <a:latin typeface="Cambria Math"/>
              </a:rPr>
              <a:t>D_TCP = Ad(r_c)ᵀ D_c Ad(r_c)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675887"/>
            <a:ext cx="55778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3749039"/>
            <a:ext cx="5358383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0000"/>
                </a:solidFill>
                <a:latin typeface="Arial"/>
              </a:rPr>
              <a:t>m = m_R + r_c ×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8717A"/>
                </a:solidFill>
                <a:latin typeface="Arial"/>
              </a:rPr>
              <a:t>For a tangential displacement and normal press: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48072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F252B"/>
                </a:solidFill>
                <a:latin typeface="Cambria Math"/>
              </a:rPr>
              <a:t>r_c,t = |r_c,t| (θ_t₁ t₂ − θ_t₂ t₁) / √(θ_t₁²+θ_t₂²)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42432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F252B"/>
                </a:solidFill>
                <a:latin typeface="Cambria Math"/>
              </a:rPr>
              <a:t>r_c,t × f_n = |r_c,t| F_n (θ_t₁ t₁ + θ_t₂ t₂) / √(θ_t₁²+θ_t₂²)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null-space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Projected damping and sampled singular-value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b="1" i="0">
                <a:solidFill>
                  <a:srgbClr val="003B6F"/>
                </a:solidFill>
                <a:latin typeface="Cambria Math"/>
              </a:rPr>
              <a:t>J = U Σ Vᵀ,    Jv₇ = 0,    σ_min = σ₆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0607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0" i="0">
                <a:solidFill>
                  <a:srgbClr val="1F252B"/>
                </a:solidFill>
                <a:latin typeface="Cambria Math"/>
              </a:rPr>
              <a:t>J⁺ = Σ (1/σ_i) v_i u_iᵀ  for retained singular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252B"/>
                </a:solidFill>
                <a:latin typeface="Cambria Math"/>
              </a:rPr>
              <a:t>N_q = I − J⁺J,    N_τ = N_qᵀ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0000"/>
                </a:solidFill>
                <a:latin typeface="Cambria Math"/>
              </a:rPr>
              <a:t>τ_d = −d_null N_τ q̇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291840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3E"/>
                </a:solidFill>
                <a:latin typeface="Cambria Math"/>
              </a:rPr>
              <a:t>q± = q ± α_probe v₇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F252B"/>
                </a:solidFill>
                <a:latin typeface="Cambria Math"/>
              </a:rPr>
              <a:t>Δ_σ = σ_min(J(q+)) − σ_min(J(q−))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498848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3E"/>
                </a:solidFill>
                <a:latin typeface="Cambria Math"/>
              </a:rPr>
              <a:t>τ_σ = k_σ N_τ(s_σ v₇)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5394960"/>
            <a:ext cx="5349240" cy="64008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5468112"/>
            <a:ext cx="5129783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03B6F"/>
                </a:solidFill>
                <a:latin typeface="Arial"/>
              </a:rPr>
              <a:t>τ_null = τ_d + τ_σ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software and robot-side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Reproducibility and command-handling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0515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243584"/>
            <a:ext cx="90525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83464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F252B"/>
                </a:solidFill>
                <a:latin typeface="Arial"/>
              </a:defRPr>
            </a:pPr>
            <a:r>
              <a:t>• Ubuntu 20.04.3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F252B"/>
                </a:solidFill>
                <a:latin typeface="Arial"/>
              </a:defRPr>
            </a:pPr>
            <a:r>
              <a:t>• PREEMPT_RT kernel 5.9.1-rt20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F252B"/>
                </a:solidFill>
                <a:latin typeface="Arial"/>
              </a:defRPr>
            </a:pPr>
            <a:r>
              <a:t>• g++ 9.3, C++14, -O2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F252B"/>
                </a:solidFill>
                <a:latin typeface="Arial"/>
              </a:defRPr>
            </a:pPr>
            <a:r>
              <a:t>• Eigen 3.3.7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F252B"/>
                </a:solidFill>
                <a:latin typeface="Arial"/>
              </a:defRPr>
            </a:pPr>
            <a:r>
              <a:t>• libfranka 0.7.1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1874519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243584"/>
            <a:ext cx="17282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Robot-side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572768"/>
            <a:ext cx="324612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Joint-torque collision thresholds: 140 N·m for all joints.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Cartesian force thresholds: 240 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Cartesian moment thresholds: 240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Robot errors/reflexes terminate the active control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188720"/>
            <a:ext cx="17373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243584"/>
            <a:ext cx="1591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Real-time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572768"/>
            <a:ext cx="329184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Control callback uses prepared in-memory data only.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Keyboard input is transferred through atomic variables from a separate thread.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Torque-control / communication exceptions end the session.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F252B"/>
                </a:solidFill>
                <a:latin typeface="Arial"/>
              </a:defRPr>
            </a:pPr>
            <a:r>
              <a:t>• Data are written to file only after torque control stops.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800600"/>
            <a:ext cx="9646920" cy="658368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4873752"/>
            <a:ext cx="942746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30" b="1" i="0">
                <a:solidFill>
                  <a:srgbClr val="1F252B"/>
                </a:solidFill>
                <a:latin typeface="Arial"/>
              </a:rPr>
              <a:t>The FCI performs gravity and motor-friction compensation for external joint-torque mode; the controller adds τ_c(q,q̇).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data recording and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Signals are logged at the control rate and reduced to task-specific comparison quantities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50876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243584"/>
            <a:ext cx="13624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03B6F"/>
                </a:solidFill>
                <a:latin typeface="Arial"/>
              </a:rPr>
              <a:t>Logged each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388620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Measured robot state and Cartesian pose/velocity.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Active position/orientation reference.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Pose errors and commanded Cartesian wrench.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Controller state and null-space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F252B"/>
                </a:solidFill>
                <a:latin typeface="Arial"/>
              </a:defRPr>
            </a:pPr>
            <a:r>
              <a:t>• Returned joint-torque command.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141732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243584"/>
            <a:ext cx="12710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C00000"/>
                </a:solidFill>
                <a:latin typeface="Arial"/>
              </a:rPr>
              <a:t>Contact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691640"/>
            <a:ext cx="288036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F252B"/>
                </a:solidFill>
                <a:latin typeface="Cambria Math"/>
              </a:rPr>
              <a:t>θ_init,t₁ = signed achieved entry offset
γₜ₁ = signed Contact Establishment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852928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Each setting: mean ± sample standard deviation over 3 repetitions.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188720"/>
            <a:ext cx="1554480" cy="301752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243584"/>
            <a:ext cx="14081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6F3E"/>
                </a:solidFill>
                <a:latin typeface="Arial"/>
              </a:rPr>
              <a:t>Null-space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1664208"/>
            <a:ext cx="28803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252B"/>
                </a:solidFill>
                <a:latin typeface="Cambria Math"/>
              </a:rPr>
              <a:t>E_N = ∫ ||q̇_null|| dt
Δq_null = ∫ q̇_null 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61488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8717A"/>
                </a:solidFill>
                <a:latin typeface="Arial"/>
              </a:rPr>
              <a:t>Also: net scalar displacement Δη, Δσ_min, and max Cartesian position 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754880"/>
            <a:ext cx="8458200" cy="64008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8" y="4828032"/>
            <a:ext cx="82387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3B6F"/>
                </a:solidFill>
                <a:latin typeface="Arial"/>
              </a:rPr>
              <a:t>Cartesian position-retention criterion during the null-space disturbance: max ||e_p|| &lt; 2 mm.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numerical result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Key values for rapid discussion during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274320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350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003B6F"/>
                </a:solidFill>
                <a:latin typeface="Arial"/>
              </a:rPr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234440"/>
            <a:ext cx="23317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003B6F"/>
                </a:solidFill>
                <a:latin typeface="Arial"/>
              </a:rPr>
              <a:t>Reference / 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1234440"/>
            <a:ext cx="23317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003B6F"/>
                </a:solidFill>
                <a:latin typeface="Arial"/>
              </a:rPr>
              <a:t>Changed / 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234440"/>
            <a:ext cx="352044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335024"/>
            <a:ext cx="3429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003B6F"/>
                </a:solidFill>
                <a:latin typeface="Arial"/>
              </a:rPr>
              <a:t>Measured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737360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81051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Case A, + offset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θ_init=+9.31°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3328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γ=+7.57°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737360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181051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81.3% of initial magnitude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276856"/>
            <a:ext cx="274320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35000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Case A, − offset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276856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θ_init=−9.41°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33288" y="2276856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7900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γ=−10.83°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2276856"/>
            <a:ext cx="352044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8" y="235000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115.1% of initial magnitude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816352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2889504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Rotational stiffness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K_R,t₁=5 → γ=7.57°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3328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K_R,t₁=50 → γ=2.73°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8" y="2816352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8" y="2889504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63.9%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355848"/>
            <a:ext cx="274320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3429000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Translational stiffness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355848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K_p,t₂=300 → γ≈7.56°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33288" y="3355848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K_p,t₂=2000 → γ≈7.57°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355848"/>
            <a:ext cx="352044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0728" y="3429000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0.03° span = 0.4%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895344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3968496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CoC, + offset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156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4728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r_c,t₂=−40 → 0.18°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3328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7900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r_c,t₂=+40 → 7.87°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5008" y="3895344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0728" y="3968496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direction-selective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434840"/>
            <a:ext cx="274320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" y="450799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CoC, − offset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01568" y="4434840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4728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r_c,t₂=−40 → −11.30°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33288" y="4434840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7900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r_c,t₂=+40 → −0.09°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4434840"/>
            <a:ext cx="352044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8" y="450799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direction-selective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4974336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" y="504748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Projected damping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0156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728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E_N=7.596°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3328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7900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E_N=5.687°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65008" y="4974336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0728" y="504748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≈25% less cumulative motion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" y="5513831"/>
            <a:ext cx="274320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4088" y="5586983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F252B"/>
                </a:solidFill>
                <a:latin typeface="Arial"/>
              </a:rPr>
              <a:t>Conditioning 1.5 / 2.0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1568" y="5513831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4728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|Δη|=0.015°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33288" y="5513831"/>
            <a:ext cx="233172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7900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|Δη|=0.006°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65008" y="5513831"/>
            <a:ext cx="3520440" cy="539496"/>
          </a:xfrm>
          <a:prstGeom prst="rect">
            <a:avLst/>
          </a:prstGeom>
          <a:solidFill>
            <a:srgbClr val="F2F4F6"/>
          </a:solidFill>
          <a:ln w="1270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10728" y="5586983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F252B"/>
                </a:solidFill>
                <a:latin typeface="Arial"/>
              </a:rPr>
              <a:t>99.8–99.9% net reduction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B6F"/>
          </a:solidFill>
          <a:ln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18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1F252B"/>
                </a:solidFill>
                <a:latin typeface="Arial"/>
              </a:rPr>
              <a:t>Backup — implemented grinding continuation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8717A"/>
                </a:solidFill>
                <a:latin typeface="Arial"/>
              </a:rPr>
              <a:t>Grinding is part of the controller sequence but outside the quantitative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3832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68717A"/>
                </a:solidFill>
                <a:latin typeface="Arial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149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F252B"/>
                </a:solidFill>
                <a:latin typeface="Arial"/>
              </a:rPr>
              <a:t>After Pre-Grinding Hold, the Grinding state retains the normal pressing reference established during Contact Establishment and superimposes a smooth tangential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00000"/>
                </a:solidFill>
                <a:latin typeface="Arial"/>
              </a:rPr>
              <a:t>Normal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Reference established during Contact Establishment is retained.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3B6F"/>
                </a:solidFill>
                <a:latin typeface="Arial"/>
              </a:rPr>
              <a:t>Tangential 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A smooth along-surface trajectory is superimposed.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F6F3E"/>
                </a:solidFill>
                <a:latin typeface="Arial"/>
              </a:rPr>
              <a:t>CoC at 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8717A"/>
                </a:solidFill>
                <a:latin typeface="Arial"/>
              </a:rPr>
              <a:t>The implemented Grinding state defines the impedance at the TCP.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892040"/>
            <a:ext cx="9646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965192"/>
            <a:ext cx="94274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60" b="1" i="0">
                <a:solidFill>
                  <a:srgbClr val="C00000"/>
                </a:solidFill>
                <a:latin typeface="Arial"/>
              </a:rPr>
              <a:t>The thesis evaluates Contact Establishment, not grinding performance. This separation prevents the later tangential motion from confounding the alignment-response comparison.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6537960"/>
            <a:ext cx="11365992" cy="0"/>
          </a:xfrm>
          <a:prstGeom prst="line">
            <a:avLst/>
          </a:prstGeom>
          <a:ln w="889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6565392"/>
            <a:ext cx="5852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Heykel Khadhraoui · Master Thesis · Hochschule München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8717A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