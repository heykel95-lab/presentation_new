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fig_4_2_measured_angles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m_log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3474720" cy="1356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65960"/>
            <a:ext cx="7223760" cy="1417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Design and Implementation of a Real-Time
Cartesian Impedance Controller for a
7-DOF Collaborative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566160"/>
            <a:ext cx="6675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Aptos"/>
              </a:rPr>
              <a:t>Contact-induced tool-surface alignment with a virtual centre of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Aptos"/>
              </a:rPr>
              <a:t>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36592"/>
            <a:ext cx="50292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Master Thesis Defense · Computational Engineering (M.Sc.)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47488"/>
            <a:ext cx="530352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Aptos"/>
              </a:rPr>
              <a:t>Supervisors: Prof. Norbert Nitzsche · Prof. Ruth Otto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71600"/>
            <a:ext cx="3337560" cy="3977639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4_1_experimental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627632"/>
            <a:ext cx="2926080" cy="13076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4937760"/>
            <a:ext cx="292608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Robot, tool and surface-contact geometry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647688"/>
            <a:ext cx="7772400" cy="14630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Hochschule München · Faculty of Mechanical, Automotive and Aeronautical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From the contact problem to the measured controller behaviour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188720"/>
            <a:ext cx="640080" cy="502920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43584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225296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Motivation and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965960"/>
            <a:ext cx="640080" cy="502920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20824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02536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Controller and CoC theory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743200"/>
            <a:ext cx="640080" cy="502920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98064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79776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Implementation and experiments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520440"/>
            <a:ext cx="640080" cy="502920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75304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57016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Results and interpretation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297680"/>
            <a:ext cx="640080" cy="502920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52544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334256"/>
            <a:ext cx="7772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Conclusion and outlook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188720"/>
            <a:ext cx="2148840" cy="38404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463040"/>
            <a:ext cx="1645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74B50"/>
                </a:solidFill>
                <a:latin typeface="Aptos"/>
              </a:rPr>
              <a:t>Main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920240"/>
            <a:ext cx="169164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0">
                <a:solidFill>
                  <a:srgbClr val="191919"/>
                </a:solidFill>
                <a:latin typeface="Aptos"/>
              </a:rPr>
              <a:t>How do stiffness and virtual CoC position influence passive tool-surface alignment during Contact Establishment?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Angular mismatch at contact entry can create edge-first loading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2</a:t>
            </a:r>
          </a:p>
        </p:txBody>
      </p:sp>
      <p:pic>
        <p:nvPicPr>
          <p:cNvPr id="9" name="Picture 8" descr="fig_4_1_experimental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5760720" cy="25744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257800"/>
            <a:ext cx="54864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Experimental tool and surface geometry used in the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143000"/>
            <a:ext cx="4023360" cy="4297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Surface placement, calibration and tool mounting introduce small orientation differences before contact.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A tilted rectangular face can first contact along an edge or corner, producing concentrated contact loads.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Rigid position control resists the corrective rotation. Finite rotational compliance allows contact interaction to rotate the tool towards the surface.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The aim is to keep the normal pressing action while allowing passive contact-induced 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Thesis objective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What was implemented and what was measured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493776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1143000"/>
            <a:ext cx="493776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30175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Controller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343400" cy="3200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Real-time Cartesian impedance controller for the Franka Emika Panda.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Directional translational and rotational stiffness and damping defined relative to the surface.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Software-defined virtual centre of compliance displaced from the TCP.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Projected null-space damping and singular-value conditioning.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32004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Experimental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783080"/>
            <a:ext cx="4343400" cy="3200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Main contact study: Cases A–D.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Case A: TCP-centred baseline.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Case B: rotational stiffness.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Case C: translational stiffness along the surface.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Case D: signed tangential CoC position.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Separate Cartesian pose-hold study for the null-space controller.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Cartesian impedance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The controller regulates position and orientation directly in Cartesian space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12064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97880" y="1097280"/>
            <a:ext cx="4846320" cy="438912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2588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Impedance wrench</a:t>
            </a:r>
          </a:p>
        </p:txBody>
      </p:sp>
      <p:pic>
        <p:nvPicPr>
          <p:cNvPr id="12" name="Picture 11" descr="formula_impe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480560" cy="10549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3063240"/>
            <a:ext cx="4389120" cy="1143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The surface frame provides the physically relevant directions: t₁, t₂ and nₛ. Stiffness and damping are assigned separately along/about these directions.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325880"/>
            <a:ext cx="2743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Joint-torque command</a:t>
            </a:r>
          </a:p>
        </p:txBody>
      </p:sp>
      <p:pic>
        <p:nvPicPr>
          <p:cNvPr id="15" name="Picture 14" descr="formula_joint_torq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3977639" cy="6412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2880360"/>
            <a:ext cx="40690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Jᵀ maps the commanded Cartesian wrench to joint torque.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τnull is an additive secondary torque projected into the kinematic null space.</a:t>
            </a:r>
          </a:p>
          <a:p>
            <a:pPr>
              <a:spcAft>
                <a:spcPts val="600"/>
              </a:spcAft>
              <a:defRPr sz="1500">
                <a:solidFill>
                  <a:srgbClr val="191919"/>
                </a:solidFill>
                <a:latin typeface="Aptos"/>
              </a:defRPr>
            </a:pPr>
            <a:r>
              <a:t>τc supplies the Coriolis/centrifugal model term required by the robot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Virtual centre of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A displaced reference couples normal pressing to a selectable rotational moment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5</a:t>
            </a:r>
          </a:p>
        </p:txBody>
      </p:sp>
      <p:pic>
        <p:nvPicPr>
          <p:cNvPr id="9" name="Picture 8" descr="fig_2_3_coc_dir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669280" cy="21057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5262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Small-angle tilt direction and the selected tangential CoC displacement.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4251960" cy="45262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ormula_coc_mo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44752"/>
            <a:ext cx="3246120" cy="589238"/>
          </a:xfrm>
          <a:prstGeom prst="rect">
            <a:avLst/>
          </a:prstGeom>
        </p:spPr>
      </p:pic>
      <p:pic>
        <p:nvPicPr>
          <p:cNvPr id="13" name="Picture 12" descr="formula_coc_dir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240280"/>
            <a:ext cx="3566160" cy="11263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4160520"/>
            <a:ext cx="18288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74B50"/>
                </a:solidFill>
                <a:latin typeface="Aptos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480560"/>
            <a:ext cx="352044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The CoC magnitude sets the lever length, while its tangential direction sets the sign and axis of the additional TCP moment generated by the press.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Real-time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One 1 kHz callback evaluates the reference, impedance wrench and torque command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6</a:t>
            </a:r>
          </a:p>
        </p:txBody>
      </p:sp>
      <p:pic>
        <p:nvPicPr>
          <p:cNvPr id="9" name="Picture 8" descr="fig_3_2_controll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7315200" cy="3147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983480"/>
            <a:ext cx="713232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Cartesian impedance feedback loop and additive torque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2514600" cy="4206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active state provides the desired Cartesian reference and the state-specific gains.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measured robot state supplies pose, velocity, joint state and Jacobian information.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During Contact Establishment, the orientation reference is held at the entry orientation; the measured rotation is therefore contact-induced.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same torque-level architecture is used for the contact study and the separate pose-hold study.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Contact sequence and 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The measured response is generated during Contact Establishment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1691640" cy="713232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62456"/>
            <a:ext cx="1600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191919"/>
                </a:solidFill>
                <a:latin typeface="Aptos"/>
              </a:rPr>
              <a:t>Tool
Orientation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1591056"/>
            <a:ext cx="502920" cy="0"/>
          </a:xfrm>
          <a:prstGeom prst="line">
            <a:avLst/>
          </a:prstGeom>
          <a:ln w="1778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234440"/>
            <a:ext cx="1691640" cy="713232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362456"/>
            <a:ext cx="1600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191919"/>
                </a:solidFill>
                <a:latin typeface="Aptos"/>
              </a:rPr>
              <a:t>Surface
Approach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1591056"/>
            <a:ext cx="548640" cy="0"/>
          </a:xfrm>
          <a:prstGeom prst="line">
            <a:avLst/>
          </a:prstGeom>
          <a:ln w="1778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80" y="1234440"/>
            <a:ext cx="1691640" cy="713232"/>
          </a:xfrm>
          <a:prstGeom prst="roundRect">
            <a:avLst/>
          </a:prstGeom>
          <a:solidFill>
            <a:srgbClr val="FFF0F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62456"/>
            <a:ext cx="1600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74B50"/>
                </a:solidFill>
                <a:latin typeface="Aptos"/>
              </a:rPr>
              <a:t>Contact
Establishment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1591056"/>
            <a:ext cx="594360" cy="0"/>
          </a:xfrm>
          <a:prstGeom prst="line">
            <a:avLst/>
          </a:prstGeom>
          <a:ln w="1778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69480" y="1234440"/>
            <a:ext cx="1691640" cy="713232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362456"/>
            <a:ext cx="1600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191919"/>
                </a:solidFill>
                <a:latin typeface="Aptos"/>
              </a:rPr>
              <a:t>Pre-Grinding
Hold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1591056"/>
            <a:ext cx="502920" cy="0"/>
          </a:xfrm>
          <a:prstGeom prst="line">
            <a:avLst/>
          </a:prstGeom>
          <a:ln w="1778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4040" y="1234440"/>
            <a:ext cx="1691640" cy="713232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362456"/>
            <a:ext cx="1600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191919"/>
                </a:solidFill>
                <a:latin typeface="Aptos"/>
              </a:rPr>
              <a:t>Grinding</a:t>
            </a:r>
          </a:p>
        </p:txBody>
      </p:sp>
      <p:pic>
        <p:nvPicPr>
          <p:cNvPr id="23" name="Picture 22" descr="fig_4_2_measured_ang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1" y="2580740"/>
            <a:ext cx="5650990" cy="228173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2240280"/>
            <a:ext cx="4480560" cy="297180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74B50"/>
                </a:solidFill>
                <a:latin typeface="Aptos"/>
              </a:rPr>
              <a:t>Main contact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834640"/>
            <a:ext cx="3749039" cy="1920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Case A — CoC at TCP; three measured entry offsets.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Case B — rotational stiffness about t₁.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Case C — tangential translational stiffness along t₂.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Case D — tangential CoC position for both angular-offset directions.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Three repetitions per parameter setting.</a:t>
            </a:r>
          </a:p>
        </p:txBody>
      </p:sp>
      <p:sp>
        <p:nvSpPr>
          <p:cNvPr id="27" name="Measured angle references"/>
          <p:cNvSpPr txBox="1"/>
          <p:nvPr/>
        </p:nvSpPr>
        <p:spPr>
          <a:xfrm>
            <a:off x="658368" y="5532120"/>
            <a:ext cx="10652760" cy="67665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buNone/>
            </a:pPr>
            <a:r>
              <a:rPr sz="1400">
                <a:solidFill>
                  <a:srgbClr val="606060"/>
                </a:solidFill>
                <a:latin typeface="Aptos"/>
              </a:rPr>
              <a:t>Measured entry offset: configured reference → contact entry.</a:t>
            </a:r>
          </a:p>
          <a:p>
            <a:pPr marL="0" indent="0">
              <a:buNone/>
            </a:pPr>
            <a:r>
              <a:rPr sz="1400">
                <a:solidFill>
                  <a:srgbClr val="606060"/>
                </a:solidFill>
                <a:latin typeface="Aptos"/>
              </a:rPr>
              <a:t>Contact response: contact end → entry, opposite to the end-effector rotation during contact.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Controller wrench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Commanded and model-estimated interaction quantities agree closely in stationary contact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8</a:t>
            </a:r>
          </a:p>
        </p:txBody>
      </p:sp>
      <p:pic>
        <p:nvPicPr>
          <p:cNvPr id="9" name="Picture 8" descr="fig_5_1_wrench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8992"/>
            <a:ext cx="6400800" cy="47715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600200"/>
            <a:ext cx="1645920" cy="77724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691640"/>
            <a:ext cx="1499616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74B50"/>
                </a:solidFill>
                <a:latin typeface="Aptos"/>
              </a:rPr>
              <a:t>2.32%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1499616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normal-force difference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600200"/>
            <a:ext cx="1645920" cy="77724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691640"/>
            <a:ext cx="1499616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74B50"/>
                </a:solidFill>
                <a:latin typeface="Aptos"/>
              </a:rPr>
              <a:t>4.87%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002536"/>
            <a:ext cx="1499616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moment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43200"/>
            <a:ext cx="3383280" cy="2331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comparison uses one TCP-centred positive-offset Contact Establishment trial.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Both commanded and model-estimated quantities are expressed at the TCP and resolved on the same surface axes.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small stationary differences support using the robot’s model-estimated wrench as the measured interaction wrench available from the robot.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Quasi-static plausibility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Separate translational and rotational perturbations check the implemented stiffness relations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9</a:t>
            </a:r>
          </a:p>
        </p:txBody>
      </p:sp>
      <p:pic>
        <p:nvPicPr>
          <p:cNvPr id="9" name="Picture 8" descr="fig_5_2_force_plau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5349240" cy="2650951"/>
          </a:xfrm>
          <a:prstGeom prst="rect">
            <a:avLst/>
          </a:prstGeom>
        </p:spPr>
      </p:pic>
      <p:pic>
        <p:nvPicPr>
          <p:cNvPr id="10" name="Picture 9" descr="fig_5_3_moment_plau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03520" cy="28629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315968"/>
            <a:ext cx="50292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Normal-force perturbation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315968"/>
            <a:ext cx="498348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Moment perturbation about t₁</a:t>
            </a:r>
          </a:p>
        </p:txBody>
      </p:sp>
      <p:pic>
        <p:nvPicPr>
          <p:cNvPr id="13" name="Picture 12" descr="formula_quasi_sta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572000"/>
            <a:ext cx="5943600" cy="14390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5504688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191919"/>
                </a:solidFill>
                <a:latin typeface="Aptos"/>
              </a:rPr>
              <a:t>Quasi-static prediction vs commanded: 0.05% for force and agreement to reported precision for moment. Model-estimated differences were 13.50% and 7.75%, respectively.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Main results I — baseline and stiffness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Cases A–C establish how strongly the response depends on the basic impedance settings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fig_5_4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70761"/>
            <a:ext cx="3474719" cy="2373995"/>
          </a:xfrm>
          <a:prstGeom prst="rect">
            <a:avLst/>
          </a:prstGeom>
        </p:spPr>
      </p:pic>
      <p:pic>
        <p:nvPicPr>
          <p:cNvPr id="10" name="Picture 9" descr="fig_5_5_rotational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1" y="1456027"/>
            <a:ext cx="3520438" cy="2180782"/>
          </a:xfrm>
          <a:prstGeom prst="rect">
            <a:avLst/>
          </a:prstGeom>
        </p:spPr>
      </p:pic>
      <p:pic>
        <p:nvPicPr>
          <p:cNvPr id="11" name="Picture 10" descr="fig_5_6_translational_stiff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1" y="1386561"/>
            <a:ext cx="3474718" cy="21423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233672"/>
            <a:ext cx="29718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Case A — TCP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33672"/>
            <a:ext cx="29718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Case B — rotational stiffness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233672"/>
            <a:ext cx="297180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Aptos"/>
              </a:rPr>
              <a:t>Case C — translational stiffness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058400" cy="1234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Case A: contact-induced rotation occurred towards the configured surface for both tested rotational directions.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Case B: increasing K_R,t₁ from 5 to 50 N m/rad reduced the response from 7.57° to 2.73° — a 63.9% reduction.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Case C: the tested K_p,t₂ variation changed the response by only 0.03°, equal to about 0.4% of the TCP-centred 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Main results II — tangential CoC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The CoC displacement strongly changes the preferred rotational direction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fig_5_7_coc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30119"/>
            <a:ext cx="6035039" cy="41007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86600" y="1097280"/>
            <a:ext cx="3657600" cy="489204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3258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Case D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737360"/>
            <a:ext cx="3063240" cy="39776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For the positive offset, moving the CoC from −40 mm to +40 mm increased the measured response from 0.18° to 7.87°.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For the negative offset, the same CoC sweep changed the response from −11.30° to −0.09°.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A suitably selected displaced CoC increased the final response only slightly (~4%) but produced faster alignment.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The opposite displacement direction reduced the response by approximately 98–99%.</a:t>
            </a:r>
          </a:p>
          <a:p>
            <a:pPr>
              <a:spcAft>
                <a:spcPts val="6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Main interpretation: the displaced CoC acts primarily as a selector of the preferred rotational direction.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Main results III — mechanism behind the CoC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The estimated contact moment changes strongly while the normal force remains similar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fig_5_8_interaction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684129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0" y="1143000"/>
            <a:ext cx="3017520" cy="45262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371600"/>
            <a:ext cx="2468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74B50"/>
                </a:solidFill>
                <a:latin typeface="Aptos"/>
              </a:rPr>
              <a:t>Final stationary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8288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CoC position:  −40 mm   TCP   +40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24028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Estimated Fₙ [N]
−82.9      −79.0      −78.0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01752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Estimated Mₜ₁ [N m]
+4.07      +0.73      −2.54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86200"/>
            <a:ext cx="2423160" cy="1143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ptos"/>
              </a:rPr>
              <a:t>The normal force changes little, whereas the TCP moment changes sign and magnitude. The measured rotational response follows this change.</a:t>
            </a:r>
          </a:p>
        </p:txBody>
      </p:sp>
      <p:pic>
        <p:nvPicPr>
          <p:cNvPr id="16" name="Picture 15" descr="formula_coc_mo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4983480"/>
            <a:ext cx="2194560" cy="3983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Secondary study — null-space pose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Projected damping and singular-value conditioning modify redundant joint motion while the Cartesian pose is held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fig_5_9_null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4164278" cy="4983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143000"/>
            <a:ext cx="3108960" cy="461772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1389888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74B50"/>
                </a:solidFill>
                <a:latin typeface="Aptos"/>
              </a:rPr>
              <a:t>Measured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83080"/>
            <a:ext cx="2606040" cy="3383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t>Projected damping reduced cumulative projected null-space motion from 7.596° to 5.687° — about 25%.</a:t>
            </a:r>
          </a:p>
          <a:p>
            <a:pPr>
              <a:spcAft>
                <a:spcPts val="6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t>Singular-value conditioning reduced the net displacement from 7.517° to 0.015° and 0.006° for the two tested torque magnitudes.</a:t>
            </a:r>
          </a:p>
          <a:p>
            <a:pPr>
              <a:spcAft>
                <a:spcPts val="6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t>This corresponds to approximately 99.8–99.9% reduction in net displacement.</a:t>
            </a:r>
          </a:p>
          <a:p>
            <a:pPr>
              <a:spcAft>
                <a:spcPts val="6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t>All tested conditioning cases remained below the 2 mm Cartesian position-error criterion.</a:t>
            </a:r>
          </a:p>
          <a:p>
            <a:pPr>
              <a:spcAft>
                <a:spcPts val="6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t>The larger conditioning torque produced more cumulative back-and-forth motion despite a similar final region.</a:t>
            </a:r>
          </a:p>
        </p:txBody>
      </p:sp>
      <p:pic>
        <p:nvPicPr>
          <p:cNvPr id="13" name="Picture 12" descr="formula_null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5074920"/>
            <a:ext cx="2286000" cy="5956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Main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What the experiments establish together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43000"/>
            <a:ext cx="530352" cy="530352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25296"/>
            <a:ext cx="530352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161288"/>
            <a:ext cx="9326880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Aptos"/>
              </a:rPr>
              <a:t>Rotational compliance enables passive contact-induced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47672"/>
            <a:ext cx="530352" cy="530352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29967"/>
            <a:ext cx="530352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965960"/>
            <a:ext cx="9326880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Aptos"/>
              </a:rPr>
              <a:t>Rotational stiffness has a strong effect; the tested translational stiffness variation has only a small effect.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52344"/>
            <a:ext cx="530352" cy="530352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39"/>
            <a:ext cx="530352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770632"/>
            <a:ext cx="9326880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The tangential CoC position strongly biases the rotational response through the additional TCP moment.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57015"/>
            <a:ext cx="530352" cy="530352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1"/>
            <a:ext cx="530352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575303"/>
            <a:ext cx="9326880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Aptos"/>
              </a:rPr>
              <a:t>The TCP-centred CoC is direction-neutral and therefore a sensible final configuration after alignment.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61688"/>
            <a:ext cx="530352" cy="530352"/>
          </a:xfrm>
          <a:prstGeom prst="roundRect">
            <a:avLst/>
          </a:prstGeom>
          <a:solidFill>
            <a:srgbClr val="F74B5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43983"/>
            <a:ext cx="530352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379975"/>
            <a:ext cx="9326880" cy="47548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0">
                <a:solidFill>
                  <a:srgbClr val="191919"/>
                </a:solidFill>
                <a:latin typeface="Aptos"/>
              </a:rPr>
              <a:t>Projected damping and singular-value conditioning provide complementary null-space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349240"/>
            <a:ext cx="8321040" cy="502920"/>
          </a:xfrm>
          <a:prstGeom prst="roundRect">
            <a:avLst/>
          </a:prstGeom>
          <a:solidFill>
            <a:srgbClr val="FFF0F0"/>
          </a:solidFill>
          <a:ln>
            <a:solidFill>
              <a:srgbClr val="F7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5458968"/>
            <a:ext cx="804672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F74B50"/>
                </a:solidFill>
                <a:latin typeface="Aptos"/>
              </a:rPr>
              <a:t>Core takeaway: CoC placement is a directional control parameter, not only a scalar lever length.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Scope of the present conclusions and the next controller step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4983480" cy="45262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143000"/>
            <a:ext cx="4892040" cy="45262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89888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343400" cy="3474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One robot configuration, one rectangular tool, one configured surface and one Contact Establishment trajectory.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physical tool-surface angle and instantaneous contact point were not measured directly.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The model-estimated wrench is not an independent force/torque-sensor measurement.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Tool-mount angular play can make the physical tool-face motion differ from the measured end-effector motion.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Grinding itself was implemented but not quantitatively evaluated in this study.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89888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F74B50"/>
                </a:solidFill>
                <a:latin typeface="Aptos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4251960" cy="3566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Measure the physical tool-surface angle and validate the interaction wrench with an external F/T sensor.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Evaluate a more rigid tool mount and additional surface/tool configurations.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Implement an adaptive CoC strategy: start at the TCP, estimate the angular offset, temporarily select the supporting tangential displacement, then return the CoC to the TCP after alignment.</a:t>
            </a:r>
          </a:p>
          <a:p>
            <a:pPr>
              <a:spcAft>
                <a:spcPts val="600"/>
              </a:spcAft>
              <a:defRPr sz="1400">
                <a:solidFill>
                  <a:srgbClr val="191919"/>
                </a:solidFill>
                <a:latin typeface="Aptos"/>
              </a:defRPr>
            </a:pPr>
            <a:r>
              <a:t>Extend the evaluation to sustained grinding and automatic contact-quality measures.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7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961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191919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67512"/>
            <a:ext cx="8686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050">
                <a:solidFill>
                  <a:srgbClr val="606060"/>
                </a:solidFill>
                <a:latin typeface="Aptos"/>
              </a:rPr>
              <a:t>A real-time virtual compliance reference can shape passive tool-surface alignment</a:t>
            </a:r>
          </a:p>
        </p:txBody>
      </p:sp>
      <p:pic>
        <p:nvPicPr>
          <p:cNvPr id="5" name="Picture 4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88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11112"/>
            <a:ext cx="1219200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38544"/>
            <a:ext cx="53035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06060"/>
                </a:solidFill>
                <a:latin typeface="Aptos"/>
              </a:rPr>
              <a:t>Master Thesis Defense · Heykel Khadhraoui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638544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060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6858000" cy="4297680"/>
          </a:xfrm>
          <a:prstGeom prst="roundRect">
            <a:avLst/>
          </a:prstGeom>
          <a:solidFill>
            <a:srgbClr val="F6F6F6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6309360" cy="3108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The Cartesian impedance controller generated the required normal pressing action while allowing contact-induced rotation towards the configured surface.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The experiments show that the displaced virtual CoC mainly changes the rotational moment and therefore the preferred direction of the alignment response.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A supporting CoC direction can accelerate and slightly increase the response, while the opposite direction can almost suppress it.</a:t>
            </a:r>
          </a:p>
          <a:p>
            <a:pPr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This motivates an adaptive CoC strategy that uses a temporary direction-selected displacement and returns to the TCP after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21945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F74B50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889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  <a:latin typeface="Aptos"/>
              </a:rPr>
              <a:t>Questions?</a:t>
            </a:r>
          </a:p>
        </p:txBody>
      </p:sp>
      <p:pic>
        <p:nvPicPr>
          <p:cNvPr id="13" name="Picture 12" descr="hm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703320"/>
            <a:ext cx="1371600" cy="706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