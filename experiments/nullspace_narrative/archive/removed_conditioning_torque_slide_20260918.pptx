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97" r:id="rIdNarrative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32" Type="http://schemas.openxmlformats.org/officeDocument/2006/relationships/tableStyles" Target="tableStyles.xml"/><Relationship Id="rId28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30" Type="http://schemas.openxmlformats.org/officeDocument/2006/relationships/viewProps" Target="viewProps.xml"/><Relationship Id="rIdNarrative4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83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previous slides used 2 newton metres to make the contrasting responses visible. The lower tested conditioning torque of 1.5 newton metres produced less cumulative motion in both conditions.</a:t>
            </a:r>
          </a:p>
          <a:p>
            <a:r>
              <a:t>Conditioning alone gives 0.29 and 1.69 degrees at the two magnitudes. With the same damping coefficient of 2 newton metre seconds per radian, the combined values are 0.19 and 0.83 degrees.</a:t>
            </a:r>
          </a:p>
          <a:p>
            <a:r>
              <a:t>These are three-trial means. The complete curves and their sample standard deviations are retained in the backup slides.</a:t>
            </a:r>
          </a:p>
          <a:p>
            <a:r>
              <a:t>Increasing conditioning torque did not reduce motion in these trials. Its magnitude and damping should be considered together.</a:t>
            </a:r>
          </a:p>
          <a:p>
            <a:r>
              <a:t>[Sources]
MyOwn/figures/ch05/MAIN_NS_nullspace_automatic.pdf, panels (a)--(c)
MyOwn/chapters/05_results_and_discussion.tex, Null-Space Pose-Hold Results
MyOwn/code/python/figures/make_nullspace_figure.py
Thesis_Final_Control/experiments/derived/MAIN_NS_automatic_summary.csv. Three trials per setting
one sample standard deviation. Figure provenance: Final Presentation/figures_and_images/manifest.json.
All null-space result metrics use the recorded samples from original t = 5.000 s to 9.000 s inclusive. The displayed time is t_d = t - 5 s, spanning 0 to 4 s after disturbance onset. Cumulative joint motion, net joint motion and minimum-singular-value change use this same interval. The time integrals use actual recorded timestamps. Three trials per setting. Shading and error bars show one sample standard deviation.
[Combined experiment]
Mode 3: tau_null = tau_sigma + tau_damping. k_sigma = 1.5 or 2 N m, d_null = 2 N m s/rad. Three trials per combined setting on 2026-09-16. Exact archived controller revision 0210e7f2 and saved parameters, with only mode 2 changed to mode 3. Original 5–9 s interval, displayed as 0–4 s. Later acquisition session: session effects were not independently controlled.
experiments/h_mode_combined/README.md
experiments/h_mode_combined_1p5/README.md
figures_and_images/sources/combined_nullspace_provenance.json
figures_and_images/sources/make_combined_nullspace.py</a:t>
            </a:r>
          </a:p>
          <a:p>
            <a:r>
              <a:t>[Narrative]
Main comparison: no torque, damping 2, conditioning 2, combined 2+2. Parameter comparison: conditioning 1.5 and 2, each with and without damping 2. Original 18 measured trials retained. Main plots use the same processing as six-setting backups. Combined trials were acquired in a later session, so session effects are not independently controlled.
figures_and_images/sources/make_nullspace_narrative.py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CombinedResult" Type="http://schemas.openxmlformats.org/officeDocument/2006/relationships/image" Target="../media/nullspace_damping_combined.png"/></Relationships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75488" y="237744"/>
            <a:ext cx="7680960" cy="3616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>
                <a:solidFill>
                  <a:srgbClr val="17365D"/>
                </a:solidFill>
              </a:defRPr>
            </a:pPr>
            <a:r>
              <a:rPr lang="fr-FR" sz="1750" b="1">
                <a:solidFill>
                  <a:srgbClr val="17365D"/>
                </a:solidFill>
                <a:latin typeface="Arial"/>
              </a:rPr>
              <a:t>Effect of conditioning torque</a:t>
            </a:r>
          </a:p>
        </p:txBody>
      </p:sp>
      <p:pic>
        <p:nvPicPr>
          <p:cNvPr id="4" name="Picture 3" descr="image-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6382512"/>
            <a:ext cx="502920" cy="2589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64224"/>
            <a:ext cx="42976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Design and Implementation of a Real-Time Impedance Controller for a 7-DOF Collaborative Robot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92240"/>
            <a:ext cx="2926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96969"/>
                </a:solidFill>
                <a:latin typeface="Arial"/>
              </a:rPr>
              <a:t>Master Thesis · Heykel Khadhraoui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275590" cy="1231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fr-FR" sz="800" b="0">
                <a:solidFill>
                  <a:srgbClr val="696969"/>
                </a:solidFill>
                <a:latin typeface="Arial"/>
              </a:rPr>
              <a:t>23</a:t>
            </a:r>
          </a:p>
        </p:txBody>
      </p:sp>
      <p:sp>
        <p:nvSpPr>
          <p:cNvPr id="20" name="Continuous title rule"/>
          <p:cNvSpPr/>
          <p:nvPr/>
        </p:nvSpPr>
        <p:spPr>
          <a:xfrm>
            <a:off x="475488" y="610819"/>
            <a:ext cx="11228832" cy="127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Null-space finding 1">
            <a:extLst>
              <a:ext uri="{FF2B5EF4-FFF2-40B4-BE49-F238E27FC236}">
                <a16:creationId xmlns:a16="http://schemas.microsoft.com/office/drawing/2014/main" id="{FC219669-6E79-67B4-4134-76D7FD2335E9}"/>
              </a:ext>
            </a:extLst>
          </p:cNvPr>
          <p:cNvSpPr>
            <a:spLocks noGrp="1"/>
          </p:cNvSpPr>
          <p:nvPr/>
        </p:nvSpPr>
        <p:spPr>
          <a:xfrm>
            <a:off x="863600" y="5397500"/>
            <a:ext cx="104775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54000" indent="-254000">
              <a:lnSpc>
                <a:spcPct val="110000"/>
              </a:lnSpc>
              <a:buClr>
                <a:srgbClr val="17365D"/>
              </a:buClr>
              <a:buSzPct val="80000"/>
              <a:buFont typeface="Arial" panose="020B0604020202020204" pitchFamily="34" charset="0"/>
              <a:buChar char="•"/>
              <a:defRPr sz="20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414"/>
                </a:solidFill>
                <a:latin typeface="Arial" panose="020B0604020202020204" pitchFamily="34" charset="0"/>
                <a:ea typeface="Arial"/>
                <a:cs typeface="Arial"/>
              </a:rPr>
              <a:t>At 1.5 N m, both settings produced less cumulative motion.</a:t>
            </a:r>
          </a:p>
        </p:txBody>
      </p:sp>
      <p:sp>
        <p:nvSpPr>
          <p:cNvPr id="14" name="Null-space finding 2">
            <a:extLst>
              <a:ext uri="{FF2B5EF4-FFF2-40B4-BE49-F238E27FC236}">
                <a16:creationId xmlns:a16="http://schemas.microsoft.com/office/drawing/2014/main" id="{DC74AA1C-B0AF-7777-2B29-00D6077B3625}"/>
              </a:ext>
            </a:extLst>
          </p:cNvPr>
          <p:cNvSpPr>
            <a:spLocks noGrp="1"/>
          </p:cNvSpPr>
          <p:nvPr/>
        </p:nvSpPr>
        <p:spPr>
          <a:xfrm>
            <a:off x="863600" y="5905500"/>
            <a:ext cx="104775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54000" indent="-254000">
              <a:lnSpc>
                <a:spcPct val="110000"/>
              </a:lnSpc>
              <a:buClr>
                <a:srgbClr val="17365D"/>
              </a:buClr>
              <a:buSzPct val="80000"/>
              <a:buFont typeface="Arial" panose="020B0604020202020204" pitchFamily="34" charset="0"/>
              <a:buChar char="•"/>
              <a:defRPr sz="2000" b="0">
                <a:solidFill>
                  <a:srgbClr val="141414"/>
                </a:solidFill>
                <a:latin typeface="Arial"/>
                <a:ea typeface="Arial"/>
                <a:cs typeface="Arial"/>
              </a:defRPr>
            </a:pPr>
            <a:r>
              <a:rPr sz="2000">
                <a:solidFill>
                  <a:srgbClr val="141414"/>
                </a:solidFill>
                <a:latin typeface="Arial" panose="020B0604020202020204" pitchFamily="34" charset="0"/>
                <a:ea typeface="Arial"/>
                <a:cs typeface="Arial"/>
              </a:rPr>
              <a:t>Adding damping reduced motion at both tested torque magnitudes.</a:t>
            </a:r>
          </a:p>
        </p:txBody>
      </p:sp>
      <p:sp>
        <p:nvSpPr>
          <p:cNvPr id="21" name="Comparison quantity"/>
          <p:cNvSpPr txBox="1"/>
          <p:nvPr/>
        </p:nvSpPr>
        <p:spPr>
          <a:xfrm>
            <a:off x="762000" y="1041400"/>
            <a:ext cx="10668000" cy="431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254000" indent="-254000">
              <a:buSzPct val="80000"/>
              <a:buFont typeface="Arial"/>
              <a:buChar char="•"/>
              <a:defRPr sz="2200">
                <a:solidFill>
                  <a:srgbClr val="17365D"/>
                </a:solidFill>
                <a:latin typeface="Arial"/>
              </a:defRPr>
            </a:pPr>
            <a:r>
              <a:t>Cumulative joint motion · Three-trial means</a:t>
            </a:r>
          </a:p>
        </p:txBody>
      </p:sp>
      <p:graphicFrame>
        <p:nvGraphicFramePr>
          <p:cNvPr id="22" name="Conditioning torque comparison"/>
          <p:cNvGraphicFramePr>
            <a:graphicFrameLocks noGrp="1"/>
          </p:cNvGraphicFramePr>
          <p:nvPr/>
        </p:nvGraphicFramePr>
        <p:xfrm>
          <a:off x="1016000" y="1866900"/>
          <a:ext cx="101600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/>
                <a:gridCol w="3492500"/>
                <a:gridCol w="3492500"/>
              </a:tblGrid>
              <a:tr h="736600"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Conditioning torque</a:t>
                      </a:r>
                    </a:p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[N m]</a:t>
                      </a:r>
                    </a:p>
                  </a:txBody>
                  <a:tcPr anchor="ctr" marT="38100" marB="38100" marL="76200" marR="7620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Conditioning alone</a:t>
                      </a:r>
                    </a:p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[°]</a:t>
                      </a:r>
                    </a:p>
                  </a:txBody>
                  <a:tcPr anchor="ctr" marT="38100" marB="38100" marL="76200" marR="7620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Combined</a:t>
                      </a:r>
                    </a:p>
                    <a:p>
                      <a:pPr algn="ctr">
                        <a:defRPr sz="20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[°]</a:t>
                      </a:r>
                    </a:p>
                  </a:txBody>
                  <a:tcPr anchor="ctr" marT="38100" marB="38100" marL="76200" marR="76200">
                    <a:solidFill>
                      <a:srgbClr val="17365D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ctr">
                        <a:defRPr sz="24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 anchor="ctr" marT="38100" marB="38100" marL="76200" marR="76200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0.29</a:t>
                      </a:r>
                    </a:p>
                  </a:txBody>
                  <a:tcPr anchor="ctr" marT="38100" marB="38100" marL="76200" marR="76200"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0.19</a:t>
                      </a:r>
                    </a:p>
                  </a:txBody>
                  <a:tcPr anchor="ctr" marT="38100" marB="38100" marL="76200" marR="76200">
                    <a:solidFill>
                      <a:srgbClr val="EDF2F8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ctr">
                        <a:defRPr sz="24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 marT="38100" marB="38100" marL="76200" marR="762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1.69</a:t>
                      </a:r>
                    </a:p>
                  </a:txBody>
                  <a:tcPr anchor="ctr" marT="38100" marB="38100" marL="76200" marR="76200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t>0.83</a:t>
                      </a:r>
                    </a:p>
                  </a:txBody>
                  <a:tcPr anchor="ctr" marT="38100" marB="38100" marL="76200" marR="76200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23" name="Comparison damping coefficient"/>
          <p:cNvSpPr txBox="1"/>
          <p:nvPr/>
        </p:nvSpPr>
        <p:spPr>
          <a:xfrm>
            <a:off x="1016000" y="43942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000">
                <a:solidFill>
                  <a:srgbClr val="141414"/>
                </a:solidFill>
                <a:latin typeface="Arial"/>
              </a:defRPr>
            </a:pPr>
            <a:r>
              <a:t>Combined damping: 2 N m s/rad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7482</Words>
  <Application>Microsoft Office PowerPoint</Application>
  <PresentationFormat>Grand écran</PresentationFormat>
  <Paragraphs>538</Paragraphs>
  <Slides>34</Slides>
  <Notes>34</Notes>
  <HiddenSlides>9</HiddenSlides>
  <MMClips>3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7" baseType="lpstr">
      <vt:lpstr>Arial</vt:lpstr>
      <vt:lpstr>Times New Roman</vt:lpstr>
      <vt:lpstr>Office Theme</vt:lpstr>
      <vt:lpstr>Master Thesis Presentation</vt:lpstr>
      <vt:lpstr>Motivation</vt:lpstr>
      <vt:lpstr>Contact demonstration</vt:lpstr>
      <vt:lpstr>Overview</vt:lpstr>
      <vt:lpstr>Cartesian pose</vt:lpstr>
      <vt:lpstr>Cartesian impedance controller</vt:lpstr>
      <vt:lpstr>Real-time control</vt:lpstr>
      <vt:lpstr>Translation–rotation coupling</vt:lpstr>
      <vt:lpstr>Centre of compliance (CoC)</vt:lpstr>
      <vt:lpstr>Contact experiment</vt:lpstr>
      <vt:lpstr>Angular quantities</vt:lpstr>
      <vt:lpstr>Normal-force plausibility assessment</vt:lpstr>
      <vt:lpstr>Moment plausibility assessment</vt:lpstr>
      <vt:lpstr>Commanded and estimated wrench</vt:lpstr>
      <vt:lpstr>Baseline angular error</vt:lpstr>
      <vt:lpstr>Effect of rotational stiffness</vt:lpstr>
      <vt:lpstr>Effect of CoC position</vt:lpstr>
      <vt:lpstr>Angular error and interaction wrench</vt:lpstr>
      <vt:lpstr>Null-space controller</vt:lpstr>
      <vt:lpstr>Null-space experiment</vt:lpstr>
      <vt:lpstr>Cumulative joint motion</vt:lpstr>
      <vt:lpstr>Jacobian conditioning</vt:lpstr>
      <vt:lpstr>Joint motion over time</vt:lpstr>
      <vt:lpstr>Effect of conditioning torque</vt:lpstr>
      <vt:lpstr>Conclusion</vt:lpstr>
      <vt:lpstr>Null-space torques and projector</vt:lpstr>
      <vt:lpstr>Disturbance demonstration</vt:lpstr>
      <vt:lpstr>Cumulative joint motion: all settings</vt:lpstr>
      <vt:lpstr>Jacobian conditioning: all settings</vt:lpstr>
      <vt:lpstr>Joint motion: mean of three trials</vt:lpstr>
      <vt:lpstr>Joint motion: all individual trials</vt:lpstr>
      <vt:lpstr>Joint motion: one trial per setting</vt:lpstr>
      <vt:lpstr>Net joint motion over time</vt:lpstr>
      <vt:lpstr>Net joint motion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Thesis Defense — Cartesian Impedance and Passive Alignment</dc:title>
  <dc:subject>gg0 theme preserved; brief bullets and introductory symbol definitions</dc:subject>
  <dc:creator>Heykel Khadhraoui</dc:creator>
  <cp:keywords>Cartesian impedance, passive alignment, centre of compliance, thesis defense</cp:keywords>
  <cp:lastModifiedBy>Heykel Khadhraoui</cp:lastModifiedBy>
  <cp:revision>78</cp:revision>
  <dcterms:created xsi:type="dcterms:W3CDTF">2026-08-11T15:49:04Z</dcterms:created>
  <dcterms:modified xsi:type="dcterms:W3CDTF">2026-09-15T10:59:25Z</dcterms:modified>
</cp:coreProperties>
</file>