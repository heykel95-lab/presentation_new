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a:t>
            </a:r>
          </a:p>
          <a:p>
            <a:r>
              <a:t>Target time: 0:30</a:t>
            </a:r>
          </a:p>
          <a:p/>
          <a:p>
            <a:r>
              <a:t>Introduce yourself, the degree programme and the thesis. State the application in one phrase: a rectangular tool approaching a planar surface. The measured study concerns compliant contact entry; sustained grinding is the intended subsequent application.</a:t>
            </a:r>
          </a:p>
          <a:p/>
          <a:p>
            <a:r>
              <a:t>Source: gg0(1).pptx, title slide; Thesis title page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a:t>
            </a:r>
          </a:p>
          <a:p>
            <a:r>
              <a:t>Target time: 1:20</a:t>
            </a:r>
          </a:p>
          <a:p/>
          <a:p>
            <a:r>
              <a:t>Begin with the leading edge in the illustration. Small placement and mounting errors mean the tool may meet the plate at an edge rather than across its face. A rigid pose controller resists rotation. The intended behaviour is to keep pressing while allowing contact to rotate the tool. The specific research question is how directional stiffness and the virtual centre of compliance affect that response. Introduce those two settings gradually in the next slides.</a:t>
            </a:r>
          </a:p>
          <a:p/>
          <a:p>
            <a:r>
              <a:t>Source: Thesis, Sections 1.1–1.3; figures/ch04/setup_schematic.tex</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a:t>
            </a:r>
          </a:p>
          <a:p>
            <a:r>
              <a:t>Target time: 0:25</a:t>
            </a:r>
          </a:p>
          <a:p/>
          <a:p>
            <a:r>
              <a:t>Outline the sequence once: how compliance is generated, how its reference point changes the moment, what was measured, and the main conclusion. Do not repeat the motivation.</a:t>
            </a:r>
          </a:p>
          <a:p/>
          <a:p>
            <a:r>
              <a:t>Source: Presentation structure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Cartesian impedance</a:t>
            </a:r>
          </a:p>
          <a:p>
            <a:r>
              <a:t>Target time: 1:50</a:t>
            </a:r>
          </a:p>
          <a:p/>
          <a:p>
            <a:r>
              <a:t>Explain the virtual spring and damper before reading the equations. A pose error creates a commanded force or moment through stiffness; a velocity difference contributes damping. Briefly introduce the symbols in the right column. K and D are directional matrices, not just scalar gains. The dot over p means velocity. The subscript d is desired and EE denotes the measured end effector. The real-time implementation maps the resulting wrench to joint torque. Avoid deriving the Jacobian or the full rigid-body dynamics in the main talk.</a:t>
            </a:r>
          </a:p>
          <a:p/>
          <a:p>
            <a:r>
              <a:t>Source: Thesis, Equations (2.19)–(2.21), Section 3.1</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Surface-relative compliance</a:t>
            </a:r>
          </a:p>
          <a:p>
            <a:r>
              <a:t>Target time: 1:15</a:t>
            </a:r>
          </a:p>
          <a:p/>
          <a:p>
            <a:r>
              <a:t>Use the three arrows to define the surface frame. Normal means perpendicular to the plane, while the two tangents lie in the plane. For translation, the controller should yield more in the pressing direction and retain tangential position. For rotation, it should allow tilt about either tangent but retain the in-plane orientation through greater stiffness about the normal. These directional choices are more important here than the numerical gains.</a:t>
            </a:r>
          </a:p>
          <a:p/>
          <a:p>
            <a:r>
              <a:t>Source: Thesis, Sections 2.5, 3.2.5 and Table 4.2</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of compliance</a:t>
            </a:r>
          </a:p>
          <a:p>
            <a:r>
              <a:t>Target time: 1:55</a:t>
            </a:r>
          </a:p>
          <a:p/>
          <a:p>
            <a:r>
              <a:t>Introduce the TCP as the controlled reference attached to the end effector. The centre of compliance is a virtual reference for the impedance, not a physical hinge. r_c points from the TCP to the virtual centre; p_c is its position. Shifting the reference introduces translation–rotation coupling. The moment is the ordinary rotational spring–damper moment plus r_c cross f. The sketch isolates the normal-force contribution for a tangential displacement. Reversing the displacement reverses that contribution. At the TCP the additional term vanishes, but rotational stiffness remains active. This explains why one displaced centre can assist one tilt direction while opposing the other.</a:t>
            </a:r>
          </a:p>
          <a:p/>
          <a:p>
            <a:r>
              <a:t>Source: Thesis, Equations (2.35), (2.42), (2.49); figures/ch02/compliance_lever_moment.tex</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Experimental procedure</a:t>
            </a:r>
          </a:p>
          <a:p>
            <a:r>
              <a:t>Target time: 1:15</a:t>
            </a:r>
          </a:p>
          <a:p/>
          <a:p>
            <a:r>
              <a:t>Show the four phases. The robot first orients and approaches the tool, then applies the pressing trajectory during the five-second Contact Establishment phase. The desired orientation is held at the measured entry orientation, so the observed rotation is generated through compliant contact. Explain the matched comparisons A to D without listing every numerical setting. The 57 contact trials are 19 settings repeated three times; the separate null-space study adds 12 trials. Sustained grinding is outside the quantified contact-entry study.</a:t>
            </a:r>
          </a:p>
          <a:p/>
          <a:p>
            <a:r>
              <a:t>Source: Thesis, Sections 4.1, 4.3 and 4.4</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Angular quantities</a:t>
            </a:r>
          </a:p>
          <a:p>
            <a:r>
              <a:t>Target time: 1:20</a:t>
            </a:r>
          </a:p>
          <a:p/>
          <a:p>
            <a:r>
              <a:t>Distinguish command, achieved entry condition and measured contact response. The configured tilt is what is requested before contact; the achieved tilt is what the pose-based tool direction shows at entry. The response gamma is calculated from the relative end-effector rotation from the measured end orientation back to the held entry reference. Therefore its sign is opposite to the physical start-to-end rotation. In the single-axis illustration, a positive entry tilt and positive gamma correspond to rotation towards alignment. The illustration is a schematic one-axis example; it is not a new general three-dimensional subtraction rule. Physical tool–surface angle is not independently measured.</a:t>
            </a:r>
          </a:p>
          <a:p/>
          <a:p>
            <a:r>
              <a:t>Source: Thesis, Section 4.5, Equations (4.1)–(4.6)</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contact response</a:t>
            </a:r>
          </a:p>
          <a:p>
            <a:r>
              <a:t>Target time: 1:00</a:t>
            </a:r>
          </a:p>
          <a:p/>
          <a:p>
            <a:r>
              <a:t>Explain the baseline before parameter changes. The command categories are nominal zero, positive ten degrees and negative ten degrees about the first tangent. The original measured responses are -0.97, +7.57 and -10.83 degrees. Both nonzero-tilt conditions rotate towards the configured surface-parallel orientation, although their response magnitudes differ. The plot intentionally uses configured-tilt categories for all three bars. It does not relabel the former 0.74-degree total mismatch as a signed achieved component; that near-zero achieved component has not been recalculated here.</a:t>
            </a:r>
          </a:p>
          <a:p/>
          <a:p>
            <a:r>
              <a:t>Source: Thesis, Section 5.2.1 and Table D.1; figures/ch05/results_case_a_bars.tex</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 of stiffness</a:t>
            </a:r>
          </a:p>
          <a:p>
            <a:r>
              <a:t>Target time: 1:25</a:t>
            </a:r>
          </a:p>
          <a:p/>
          <a:p>
            <a:r>
              <a:t>First read the left plot. Increasing rotational stiffness from 5 to 50 newton metres per radian reduces the contact response from 7.57 to 2.73 degrees, a 63.9-percent reduction. A stiffer rotational spring resists the aligning rotation. Then contrast the nearly flat right plot: changing tangential translational stiffness from 300 to 2000 newtons per metre produces only a 0.03-degree span, or 0.4 percent of the baseline. State this conclusion within the tested parameter range rather than as a universal rule for contact mechanics.</a:t>
            </a:r>
          </a:p>
          <a:p/>
          <a:p>
            <a:r>
              <a:t>Source: Thesis, Section 5.2.2; Tables D.2 and D.3</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 of CoC position</a:t>
            </a:r>
          </a:p>
          <a:p>
            <a:r>
              <a:t>Target time: 1:40</a:t>
            </a:r>
          </a:p>
          <a:p/>
          <a:p>
            <a:r>
              <a:t>Introduce the horizontal axis as the signed tangential CoC coordinate along the second tangent. Read one tilt direction at a time. For the positive entry tilt, a positive displacement supports the response and a negative displacement strongly suppresses it. For the negative entry tilt the required side reverses. Compared with the TCP baseline, the supporting side increases the final magnitude by only about four percent, while the opposing side suppresses it by about 98 to 99 percent. The main result is directional preference, not a general increase in compliance or a universally optimal offset. All tested nonzero offsets are tool-fixed; the reported coordinates are the surface projections in the flat target configuration.</a:t>
            </a:r>
          </a:p>
          <a:p/>
          <a:p>
            <a:r>
              <a:t>Source: Thesis, Section 5.2.3 and Table D.4</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response and interaction moment</a:t>
            </a:r>
          </a:p>
          <a:p>
            <a:r>
              <a:t>Target time: 1:35</a:t>
            </a:r>
          </a:p>
          <a:p/>
          <a:p>
            <a:r>
              <a:t>The figure panels are extracted as vectors from the original thesis figure, not screen captures. Point out the common black, red and blue CoC settings. The selected side develops its approximately steady response around 2.3 seconds, compared with around 3.6 seconds at the TCP. The interaction moment changes sign between the two displaced settings. The original normal-force panel and the thesis report similar final force levels, approximately -82.9, -79.0 and -78.0 newtons. The moment values are approximately +4.07, +0.73 and -2.54 newton metres. Retain the est qualifier: these are the robot’s model-based external-wrench estimates, not an independent force/torque sensor. The 1.3-second comparison is from these representative traces, not a universal rise-time statistic.</a:t>
            </a:r>
          </a:p>
          <a:p/>
          <a:p>
            <a:r>
              <a:t>Source: Thesis, Figure 5.8 and Section 5.2.3; figures/ch05/MAIN_D_wrench.pdf</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Secondary study: null-space motion</a:t>
            </a:r>
          </a:p>
          <a:p>
            <a:r>
              <a:t>Target time: 1:25</a:t>
            </a:r>
          </a:p>
          <a:p/>
          <a:p>
            <a:r>
              <a:t>Explain redundancy in plain language: seven joints allow internal joint motion while approximately retaining the tool pose. This was a separate pose-hold study, not another contact case. The robot received the same internally commanded disturbance in twelve trials. The plot compares total projected joint motion, not just final drift: damping reduces it from 7.596 to 5.687 degrees, approximately 25 percent. The configuration-conditioning settings leave net projected displacements of 0.015 and -0.006 degrees in the tested direction. The larger conditioning torque produces more back-and-forth motion even though its final drift is small. The largest measured position error over the study is 1.304 mm, below the 2 mm criterion. No derivation of the projector is needed for the main presentation.</a:t>
            </a:r>
          </a:p>
          <a:p/>
          <a:p>
            <a:r>
              <a:t>Source: Thesis, Sections 4.7 and 5.3; figures/ch05/MAIN_NS_nullspace_automatic.pdf</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and next steps</a:t>
            </a:r>
          </a:p>
          <a:p>
            <a:r>
              <a:t>Target time: 0:50</a:t>
            </a:r>
          </a:p>
          <a:p/>
          <a:p>
            <a:r>
              <a:t>Keep the limitations proportionate. The repeatable contact comparison concerns one geometry and primarily one surface-tangent rotation. Robot orientation and calibrated tool geometry provide the angle estimate, so tool-mount motion is not independently separated. The next step is direct angle measurement and a tested adaptive strategy: select the useful tangential displacement during alignment, then return to the TCP. Clearly label that strategy as future work.</a:t>
            </a:r>
          </a:p>
          <a:p/>
          <a:p>
            <a:r>
              <a:t>Source: Thesis, Sections 6.2 and 6.3</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a:t>
            </a:r>
          </a:p>
          <a:p>
            <a:r>
              <a:t>Target time: 0:50</a:t>
            </a:r>
          </a:p>
          <a:p/>
          <a:p>
            <a:r>
              <a:t>Close with the general answer. Cartesian compliance allows passive contact-induced rotation. Rotational stiffness changes how much the tool can respond. A tangential virtual CoC displacement primarily selects the preferred rotational direction by introducing an additional commanded moment. It must therefore be chosen with respect to the angular-offset direction; one fixed nonzero shift is not neutral for both signs. The adaptive strategy remains a proposal to test. Finish and invite questions.</a:t>
            </a:r>
          </a:p>
          <a:p/>
          <a:p>
            <a:r>
              <a:t>Source: Thesis, Section 6.1</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Commanded and estimated wrench</a:t>
            </a:r>
          </a:p>
          <a:p>
            <a:r>
              <a:t>Target time: 0:00 (optional backup; outside main talk)</a:t>
            </a:r>
          </a:p>
          <a:p/>
          <a:p>
            <a:r>
              <a:t>Optional answer to a question about the wrench estimate. Compare the final stationary portion only when quoting the percentages. This does not establish independent sensor accuracy; the command and estimate share the robot model and sign/reference-point conventions defined in the thesis. During the transient the traces need not coincide.</a:t>
            </a:r>
          </a:p>
          <a:p/>
          <a:p>
            <a:r>
              <a:t>Source: Thesis, Sections 4.6.1 and 5.1.1; Figure 5.1</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Normal-force plausibility assessment</a:t>
            </a:r>
          </a:p>
          <a:p>
            <a:r>
              <a:t>Target time: 0:00 (optional backup; outside main talk)</a:t>
            </a:r>
          </a:p>
          <a:p/>
          <a:p>
            <a:r>
              <a:t>Optional deeper explanation. The test uses the CoC at the TCP, inactive null-space torque and a held reference. The baseline before manual displacement is subtracted from the evaluated response. With normal stiffness 1000 N/m and measured displacement -19.65 mm, the spring prediction is -19.650 N. The commanded mean is -19.640 N and the model-estimated mean -22.292 N. This supports the implemented spring relation; it is not an independent sensor calibration.</a:t>
            </a:r>
          </a:p>
          <a:p/>
          <a:p>
            <a:r>
              <a:t>Source: Thesis, Sections 4.6.2 and 5.1.2; Figure 5.2</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Moment plausibility assessment</a:t>
            </a:r>
          </a:p>
          <a:p>
            <a:r>
              <a:t>Target time: 0:00 (optional backup; outside main talk)</a:t>
            </a:r>
          </a:p>
          <a:p/>
          <a:p>
            <a:r>
              <a:t>Optional deeper explanation. The rotational perturbation starts from the loaded stationary state. Subtracting that reference removes the pre-existing load-related moment from the comparison. The measured rotation is 6.565 degrees and rotational stiffness 15 N m/rad. The spring prediction and commanded mean are both 1.719 N m to reported precision. The model-estimated mean is 1.852 N m, a 7.75-percent difference. Time is local to this evaluation; it is not evidence of a separately recorded trial.</a:t>
            </a:r>
          </a:p>
          <a:p/>
          <a:p>
            <a:r>
              <a:t>Source: Thesis, Sections 4.6.2 and 5.1.2; Figure 5.3</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25.png"/><Relationship Id="rId6" Type="http://schemas.openxmlformats.org/officeDocument/2006/relationships/image" Target="../media/image50.png"/><Relationship Id="rId7" Type="http://schemas.openxmlformats.org/officeDocument/2006/relationships/image" Target="../media/image47.png"/><Relationship Id="rId8"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320040"/>
            <a:ext cx="1280160" cy="685800"/>
          </a:xfrm>
          <a:prstGeom prst="rect">
            <a:avLst/>
          </a:prstGeom>
          <a:noFill/>
        </p:spPr>
        <p:txBody>
          <a:bodyPr wrap="square" anchor="t">
            <a:spAutoFit/>
          </a:bodyPr>
          <a:lstStyle/>
          <a:p>
            <a:pPr algn="l"/>
            <a:r>
              <a:rPr sz="850" b="0">
                <a:solidFill>
                  <a:srgbClr val="696969"/>
                </a:solidFill>
                <a:latin typeface="Arial"/>
              </a:rPr>
              <a:t>Hochschule
München
University of
Applied Sciences</a:t>
            </a:r>
          </a:p>
        </p:txBody>
      </p:sp>
      <p:sp>
        <p:nvSpPr>
          <p:cNvPr id="3" name="TextBox 2"/>
          <p:cNvSpPr txBox="1"/>
          <p:nvPr/>
        </p:nvSpPr>
        <p:spPr>
          <a:xfrm>
            <a:off x="2240280" y="411480"/>
            <a:ext cx="3657600" cy="292608"/>
          </a:xfrm>
          <a:prstGeom prst="rect">
            <a:avLst/>
          </a:prstGeom>
          <a:noFill/>
        </p:spPr>
        <p:txBody>
          <a:bodyPr wrap="square" anchor="t">
            <a:spAutoFit/>
          </a:bodyPr>
          <a:lstStyle/>
          <a:p>
            <a:pPr algn="l"/>
            <a:r>
              <a:rPr sz="1800" b="1">
                <a:solidFill>
                  <a:srgbClr val="141414"/>
                </a:solidFill>
                <a:latin typeface="Arial"/>
              </a:rPr>
              <a:t>Master Thesis Defense</a:t>
            </a:r>
          </a:p>
        </p:txBody>
      </p:sp>
      <p:sp>
        <p:nvSpPr>
          <p:cNvPr id="4" name="TextBox 3"/>
          <p:cNvSpPr txBox="1"/>
          <p:nvPr/>
        </p:nvSpPr>
        <p:spPr>
          <a:xfrm>
            <a:off x="2240280" y="758952"/>
            <a:ext cx="3840480" cy="228600"/>
          </a:xfrm>
          <a:prstGeom prst="rect">
            <a:avLst/>
          </a:prstGeom>
          <a:noFill/>
        </p:spPr>
        <p:txBody>
          <a:bodyPr wrap="square" anchor="t">
            <a:spAutoFit/>
          </a:bodyPr>
          <a:lstStyle/>
          <a:p>
            <a:pPr algn="l"/>
            <a:r>
              <a:rPr sz="1200" b="0">
                <a:solidFill>
                  <a:srgbClr val="696969"/>
                </a:solidFill>
                <a:latin typeface="Arial"/>
              </a:rPr>
              <a:t>Computational Engineering (M.Sc.)</a:t>
            </a:r>
          </a:p>
        </p:txBody>
      </p:sp>
      <p:sp>
        <p:nvSpPr>
          <p:cNvPr id="5" name="TextBox 4"/>
          <p:cNvSpPr txBox="1"/>
          <p:nvPr/>
        </p:nvSpPr>
        <p:spPr>
          <a:xfrm>
            <a:off x="2240280" y="1060704"/>
            <a:ext cx="3474720" cy="228600"/>
          </a:xfrm>
          <a:prstGeom prst="rect">
            <a:avLst/>
          </a:prstGeom>
          <a:noFill/>
        </p:spPr>
        <p:txBody>
          <a:bodyPr wrap="square" anchor="t">
            <a:spAutoFit/>
          </a:bodyPr>
          <a:lstStyle/>
          <a:p>
            <a:pPr algn="l"/>
            <a:r>
              <a:rPr sz="1200" b="0">
                <a:solidFill>
                  <a:srgbClr val="141414"/>
                </a:solidFill>
                <a:latin typeface="Arial"/>
              </a:rPr>
              <a:t>Heykel Khadhraoui</a:t>
            </a:r>
          </a:p>
        </p:txBody>
      </p:sp>
      <p:sp>
        <p:nvSpPr>
          <p:cNvPr id="6" name="TextBox 5"/>
          <p:cNvSpPr txBox="1"/>
          <p:nvPr/>
        </p:nvSpPr>
        <p:spPr>
          <a:xfrm>
            <a:off x="2240280" y="1828800"/>
            <a:ext cx="6675120" cy="1143000"/>
          </a:xfrm>
          <a:prstGeom prst="rect">
            <a:avLst/>
          </a:prstGeom>
          <a:noFill/>
        </p:spPr>
        <p:txBody>
          <a:bodyPr wrap="square" anchor="t">
            <a:spAutoFit/>
          </a:bodyPr>
          <a:lstStyle/>
          <a:p>
            <a:pPr algn="l"/>
            <a:r>
              <a:rPr sz="2200" b="1">
                <a:solidFill>
                  <a:srgbClr val="141414"/>
                </a:solidFill>
                <a:latin typeface="Arial"/>
              </a:rPr>
              <a:t>Design and Implementation of a Real-Time
Impedance Controller for a 7-DOF
Collaborative Robot</a:t>
            </a:r>
          </a:p>
        </p:txBody>
      </p:sp>
      <p:sp>
        <p:nvSpPr>
          <p:cNvPr id="8" name="TextBox 7"/>
          <p:cNvSpPr txBox="1"/>
          <p:nvPr/>
        </p:nvSpPr>
        <p:spPr>
          <a:xfrm>
            <a:off x="2240280" y="3611880"/>
            <a:ext cx="4937760" cy="228600"/>
          </a:xfrm>
          <a:prstGeom prst="rect">
            <a:avLst/>
          </a:prstGeom>
          <a:noFill/>
        </p:spPr>
        <p:txBody>
          <a:bodyPr wrap="square" anchor="t">
            <a:spAutoFit/>
          </a:bodyPr>
          <a:lstStyle/>
          <a:p>
            <a:pPr algn="l"/>
            <a:r>
              <a:rPr sz="1050" b="0">
                <a:solidFill>
                  <a:srgbClr val="696969"/>
                </a:solidFill>
                <a:latin typeface="Arial"/>
              </a:rPr>
              <a:t>Supervisors: Prof. Norbert Nitzsche · Prof. Ruth Otto</a:t>
            </a:r>
          </a:p>
        </p:txBody>
      </p:sp>
      <p:pic>
        <p:nvPicPr>
          <p:cNvPr id="9" name="Picture 8" descr="image-2-1.png"/>
          <p:cNvPicPr>
            <a:picLocks noChangeAspect="1"/>
          </p:cNvPicPr>
          <p:nvPr/>
        </p:nvPicPr>
        <p:blipFill>
          <a:blip r:embed="rId2"/>
          <a:stretch>
            <a:fillRect/>
          </a:stretch>
        </p:blipFill>
        <p:spPr>
          <a:xfrm>
            <a:off x="320040" y="5989320"/>
            <a:ext cx="868680" cy="447344"/>
          </a:xfrm>
          <a:prstGeom prst="rect">
            <a:avLst/>
          </a:prstGeom>
        </p:spPr>
      </p:pic>
      <p:sp>
        <p:nvSpPr>
          <p:cNvPr id="10" name="TextBox 9"/>
          <p:cNvSpPr txBox="1"/>
          <p:nvPr/>
        </p:nvSpPr>
        <p:spPr>
          <a:xfrm>
            <a:off x="365760" y="6455664"/>
            <a:ext cx="457200" cy="137160"/>
          </a:xfrm>
          <a:prstGeom prst="rect">
            <a:avLst/>
          </a:prstGeom>
          <a:noFill/>
        </p:spPr>
        <p:txBody>
          <a:bodyPr wrap="square" anchor="t">
            <a:spAutoFit/>
          </a:bodyPr>
          <a:lstStyle/>
          <a:p>
            <a:pPr algn="l"/>
            <a:r>
              <a:rPr sz="750" b="0">
                <a:solidFill>
                  <a:srgbClr val="696969"/>
                </a:solidFill>
                <a:latin typeface="Arial"/>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Motivation</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1</a:t>
            </a:r>
          </a:p>
        </p:txBody>
      </p:sp>
      <p:pic>
        <p:nvPicPr>
          <p:cNvPr id="8" name="Figure — motivation_rig" descr="motivation rig: vector figure or typeset equation from the supplied thesis sources"/>
          <p:cNvPicPr>
            <a:picLocks noChangeAspect="1"/>
          </p:cNvPicPr>
          <p:nvPr/>
        </p:nvPicPr>
        <p:blipFill>
          <a:blip r:embed="rId3"/>
          <a:stretch>
            <a:fillRect/>
          </a:stretch>
        </p:blipFill>
        <p:spPr>
          <a:xfrm>
            <a:off x="640080" y="1886699"/>
            <a:ext cx="5166360" cy="3176040"/>
          </a:xfrm>
          <a:prstGeom prst="rect">
            <a:avLst/>
          </a:prstGeom>
        </p:spPr>
      </p:pic>
      <p:sp>
        <p:nvSpPr>
          <p:cNvPr id="9" name="TextBox 8"/>
          <p:cNvSpPr txBox="1"/>
          <p:nvPr/>
        </p:nvSpPr>
        <p:spPr>
          <a:xfrm>
            <a:off x="6400800" y="1143000"/>
            <a:ext cx="365760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Problem</a:t>
            </a:r>
          </a:p>
        </p:txBody>
      </p:sp>
      <p:sp>
        <p:nvSpPr>
          <p:cNvPr id="10" name="TextBox 9"/>
          <p:cNvSpPr txBox="1"/>
          <p:nvPr/>
        </p:nvSpPr>
        <p:spPr>
          <a:xfrm>
            <a:off x="6400800" y="1627632"/>
            <a:ext cx="4846320" cy="54864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Tilted tool → edge-first contact</a:t>
            </a:r>
          </a:p>
        </p:txBody>
      </p:sp>
      <p:sp>
        <p:nvSpPr>
          <p:cNvPr id="11" name="TextBox 10"/>
          <p:cNvSpPr txBox="1"/>
          <p:nvPr/>
        </p:nvSpPr>
        <p:spPr>
          <a:xfrm>
            <a:off x="6400800" y="2249424"/>
            <a:ext cx="4846320" cy="54864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Rigid tracking resists corrective rotation</a:t>
            </a:r>
          </a:p>
        </p:txBody>
      </p:sp>
      <p:sp>
        <p:nvSpPr>
          <p:cNvPr id="12" name="TextBox 11"/>
          <p:cNvSpPr txBox="1"/>
          <p:nvPr/>
        </p:nvSpPr>
        <p:spPr>
          <a:xfrm>
            <a:off x="6400800" y="3035808"/>
            <a:ext cx="429768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Main thesis question</a:t>
            </a:r>
          </a:p>
        </p:txBody>
      </p:sp>
      <p:sp>
        <p:nvSpPr>
          <p:cNvPr id="13" name="TextBox 12"/>
          <p:cNvSpPr txBox="1"/>
          <p:nvPr/>
        </p:nvSpPr>
        <p:spPr>
          <a:xfrm>
            <a:off x="6400800" y="3511296"/>
            <a:ext cx="4709160" cy="77724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900" b="1">
                <a:solidFill>
                  <a:srgbClr val="141414"/>
                </a:solidFill>
                <a:latin typeface="Arial"/>
              </a:rPr>
              <a:t>How do stiffness and the compliance centre affect passive alignment?</a:t>
            </a:r>
          </a:p>
        </p:txBody>
      </p:sp>
      <p:sp>
        <p:nvSpPr>
          <p:cNvPr id="14" name="TextBox 13"/>
          <p:cNvSpPr txBox="1"/>
          <p:nvPr/>
        </p:nvSpPr>
        <p:spPr>
          <a:xfrm>
            <a:off x="6400800" y="4572000"/>
            <a:ext cx="365760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Idea</a:t>
            </a:r>
          </a:p>
        </p:txBody>
      </p:sp>
      <p:sp>
        <p:nvSpPr>
          <p:cNvPr id="15" name="TextBox 14"/>
          <p:cNvSpPr txBox="1"/>
          <p:nvPr/>
        </p:nvSpPr>
        <p:spPr>
          <a:xfrm>
            <a:off x="6400800" y="5010912"/>
            <a:ext cx="4709160" cy="65836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Apply the press; let contact rotate the tool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Overview</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2</a:t>
            </a:r>
          </a:p>
        </p:txBody>
      </p:sp>
      <p:sp>
        <p:nvSpPr>
          <p:cNvPr id="8" name="TextBox 7"/>
          <p:cNvSpPr txBox="1"/>
          <p:nvPr/>
        </p:nvSpPr>
        <p:spPr>
          <a:xfrm>
            <a:off x="1097280" y="1508760"/>
            <a:ext cx="9784080" cy="54864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2300" b="0">
                <a:solidFill>
                  <a:srgbClr val="141414"/>
                </a:solidFill>
                <a:latin typeface="Arial"/>
              </a:rPr>
              <a:t>Cartesian impedance</a:t>
            </a:r>
          </a:p>
        </p:txBody>
      </p:sp>
      <p:sp>
        <p:nvSpPr>
          <p:cNvPr id="9" name="TextBox 8"/>
          <p:cNvSpPr txBox="1"/>
          <p:nvPr/>
        </p:nvSpPr>
        <p:spPr>
          <a:xfrm>
            <a:off x="1097280" y="2478024"/>
            <a:ext cx="9784080" cy="54864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2300" b="0">
                <a:solidFill>
                  <a:srgbClr val="141414"/>
                </a:solidFill>
                <a:latin typeface="Arial"/>
              </a:rPr>
              <a:t>Virtual centre of compliance</a:t>
            </a:r>
          </a:p>
        </p:txBody>
      </p:sp>
      <p:sp>
        <p:nvSpPr>
          <p:cNvPr id="10" name="TextBox 9"/>
          <p:cNvSpPr txBox="1"/>
          <p:nvPr/>
        </p:nvSpPr>
        <p:spPr>
          <a:xfrm>
            <a:off x="1097280" y="3447288"/>
            <a:ext cx="9784080" cy="54864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2300" b="0">
                <a:solidFill>
                  <a:srgbClr val="141414"/>
                </a:solidFill>
                <a:latin typeface="Arial"/>
              </a:rPr>
              <a:t>Experiments and results</a:t>
            </a:r>
          </a:p>
        </p:txBody>
      </p:sp>
      <p:sp>
        <p:nvSpPr>
          <p:cNvPr id="11" name="TextBox 10"/>
          <p:cNvSpPr txBox="1"/>
          <p:nvPr/>
        </p:nvSpPr>
        <p:spPr>
          <a:xfrm>
            <a:off x="1097280" y="4416552"/>
            <a:ext cx="9784080" cy="54864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2300" b="0">
                <a:solidFill>
                  <a:srgbClr val="141414"/>
                </a:solidFill>
                <a:latin typeface="Arial"/>
              </a:rPr>
              <a:t>Conclusion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Cartesian impedance</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3</a:t>
            </a:r>
          </a:p>
        </p:txBody>
      </p:sp>
      <p:sp>
        <p:nvSpPr>
          <p:cNvPr id="8" name="TextBox 7"/>
          <p:cNvSpPr txBox="1"/>
          <p:nvPr/>
        </p:nvSpPr>
        <p:spPr>
          <a:xfrm>
            <a:off x="685800" y="1115568"/>
            <a:ext cx="502920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Translational spring–damper</a:t>
            </a:r>
          </a:p>
        </p:txBody>
      </p:sp>
      <p:pic>
        <p:nvPicPr>
          <p:cNvPr id="9" name="Figure — equation_force" descr="equation force: vector figure or typeset equation from the supplied thesis sources"/>
          <p:cNvPicPr>
            <a:picLocks noChangeAspect="1"/>
          </p:cNvPicPr>
          <p:nvPr/>
        </p:nvPicPr>
        <p:blipFill>
          <a:blip r:embed="rId3"/>
          <a:stretch>
            <a:fillRect/>
          </a:stretch>
        </p:blipFill>
        <p:spPr>
          <a:xfrm>
            <a:off x="1127805" y="1581912"/>
            <a:ext cx="4648108" cy="594360"/>
          </a:xfrm>
          <a:prstGeom prst="rect">
            <a:avLst/>
          </a:prstGeom>
        </p:spPr>
      </p:pic>
      <p:sp>
        <p:nvSpPr>
          <p:cNvPr id="10" name="TextBox 9"/>
          <p:cNvSpPr txBox="1"/>
          <p:nvPr/>
        </p:nvSpPr>
        <p:spPr>
          <a:xfrm>
            <a:off x="685800" y="2560320"/>
            <a:ext cx="502920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Rotational spring–damper</a:t>
            </a:r>
          </a:p>
        </p:txBody>
      </p:sp>
      <p:pic>
        <p:nvPicPr>
          <p:cNvPr id="11" name="Figure — equation_moment" descr="equation moment: vector figure or typeset equation from the supplied thesis sources"/>
          <p:cNvPicPr>
            <a:picLocks noChangeAspect="1"/>
          </p:cNvPicPr>
          <p:nvPr/>
        </p:nvPicPr>
        <p:blipFill>
          <a:blip r:embed="rId4"/>
          <a:stretch>
            <a:fillRect/>
          </a:stretch>
        </p:blipFill>
        <p:spPr>
          <a:xfrm>
            <a:off x="839228" y="3026664"/>
            <a:ext cx="5225263" cy="594360"/>
          </a:xfrm>
          <a:prstGeom prst="rect">
            <a:avLst/>
          </a:prstGeom>
        </p:spPr>
      </p:pic>
      <p:sp>
        <p:nvSpPr>
          <p:cNvPr id="12" name="TextBox 11"/>
          <p:cNvSpPr txBox="1"/>
          <p:nvPr/>
        </p:nvSpPr>
        <p:spPr>
          <a:xfrm>
            <a:off x="804672" y="4251960"/>
            <a:ext cx="5212080" cy="48463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Stiffness resists pose errors</a:t>
            </a:r>
          </a:p>
        </p:txBody>
      </p:sp>
      <p:sp>
        <p:nvSpPr>
          <p:cNvPr id="13" name="TextBox 12"/>
          <p:cNvSpPr txBox="1"/>
          <p:nvPr/>
        </p:nvSpPr>
        <p:spPr>
          <a:xfrm>
            <a:off x="804672" y="4773168"/>
            <a:ext cx="5212080" cy="48463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Damping reduces oscillation</a:t>
            </a:r>
          </a:p>
        </p:txBody>
      </p:sp>
      <p:sp>
        <p:nvSpPr>
          <p:cNvPr id="14" name="TextBox 13"/>
          <p:cNvSpPr txBox="1"/>
          <p:nvPr/>
        </p:nvSpPr>
        <p:spPr>
          <a:xfrm>
            <a:off x="804672" y="5294376"/>
            <a:ext cx="5212080" cy="48463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Compliant contact instead of rigid tracking</a:t>
            </a:r>
          </a:p>
        </p:txBody>
      </p:sp>
      <p:sp>
        <p:nvSpPr>
          <p:cNvPr id="15" name="TextBox 14"/>
          <p:cNvSpPr txBox="1"/>
          <p:nvPr/>
        </p:nvSpPr>
        <p:spPr>
          <a:xfrm>
            <a:off x="6629400" y="1243584"/>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16" name="Figure — symbol_f_m" descr="symbol f m: vector figure or typeset equation from the supplied thesis sources"/>
          <p:cNvPicPr>
            <a:picLocks noChangeAspect="1"/>
          </p:cNvPicPr>
          <p:nvPr/>
        </p:nvPicPr>
        <p:blipFill>
          <a:blip r:embed="rId5"/>
          <a:stretch>
            <a:fillRect/>
          </a:stretch>
        </p:blipFill>
        <p:spPr>
          <a:xfrm>
            <a:off x="6839712" y="1225296"/>
            <a:ext cx="617618" cy="310896"/>
          </a:xfrm>
          <a:prstGeom prst="rect">
            <a:avLst/>
          </a:prstGeom>
        </p:spPr>
      </p:pic>
      <p:sp>
        <p:nvSpPr>
          <p:cNvPr id="17" name="TextBox 16"/>
          <p:cNvSpPr txBox="1"/>
          <p:nvPr/>
        </p:nvSpPr>
        <p:spPr>
          <a:xfrm>
            <a:off x="7973568" y="1207008"/>
            <a:ext cx="3547872" cy="62179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commanded force / moment</a:t>
            </a:r>
          </a:p>
        </p:txBody>
      </p:sp>
      <p:sp>
        <p:nvSpPr>
          <p:cNvPr id="18" name="TextBox 17"/>
          <p:cNvSpPr txBox="1"/>
          <p:nvPr/>
        </p:nvSpPr>
        <p:spPr>
          <a:xfrm>
            <a:off x="6629400" y="195681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19" name="Figure — symbol_errors" descr="symbol errors: vector figure or typeset equation from the supplied thesis sources"/>
          <p:cNvPicPr>
            <a:picLocks noChangeAspect="1"/>
          </p:cNvPicPr>
          <p:nvPr/>
        </p:nvPicPr>
        <p:blipFill>
          <a:blip r:embed="rId6"/>
          <a:stretch>
            <a:fillRect/>
          </a:stretch>
        </p:blipFill>
        <p:spPr>
          <a:xfrm>
            <a:off x="6839712" y="1938528"/>
            <a:ext cx="841106" cy="310896"/>
          </a:xfrm>
          <a:prstGeom prst="rect">
            <a:avLst/>
          </a:prstGeom>
        </p:spPr>
      </p:pic>
      <p:sp>
        <p:nvSpPr>
          <p:cNvPr id="20" name="TextBox 19"/>
          <p:cNvSpPr txBox="1"/>
          <p:nvPr/>
        </p:nvSpPr>
        <p:spPr>
          <a:xfrm>
            <a:off x="7973568" y="1920240"/>
            <a:ext cx="3547872" cy="62179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position / orientation errors</a:t>
            </a:r>
          </a:p>
        </p:txBody>
      </p:sp>
      <p:sp>
        <p:nvSpPr>
          <p:cNvPr id="21" name="TextBox 20"/>
          <p:cNvSpPr txBox="1"/>
          <p:nvPr/>
        </p:nvSpPr>
        <p:spPr>
          <a:xfrm>
            <a:off x="6629400" y="2670048"/>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22" name="Figure — symbol_K" descr="symbol K: vector figure or typeset equation from the supplied thesis sources"/>
          <p:cNvPicPr>
            <a:picLocks noChangeAspect="1"/>
          </p:cNvPicPr>
          <p:nvPr/>
        </p:nvPicPr>
        <p:blipFill>
          <a:blip r:embed="rId7"/>
          <a:stretch>
            <a:fillRect/>
          </a:stretch>
        </p:blipFill>
        <p:spPr>
          <a:xfrm>
            <a:off x="6839712" y="2651760"/>
            <a:ext cx="862296" cy="310896"/>
          </a:xfrm>
          <a:prstGeom prst="rect">
            <a:avLst/>
          </a:prstGeom>
        </p:spPr>
      </p:pic>
      <p:sp>
        <p:nvSpPr>
          <p:cNvPr id="23" name="TextBox 22"/>
          <p:cNvSpPr txBox="1"/>
          <p:nvPr/>
        </p:nvSpPr>
        <p:spPr>
          <a:xfrm>
            <a:off x="7973568" y="2633472"/>
            <a:ext cx="3547872" cy="62179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translational / rotational stiffness</a:t>
            </a:r>
          </a:p>
        </p:txBody>
      </p:sp>
      <p:sp>
        <p:nvSpPr>
          <p:cNvPr id="24" name="TextBox 23"/>
          <p:cNvSpPr txBox="1"/>
          <p:nvPr/>
        </p:nvSpPr>
        <p:spPr>
          <a:xfrm>
            <a:off x="6629400" y="3383280"/>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25" name="Figure — symbol_D" descr="symbol D: vector figure or typeset equation from the supplied thesis sources"/>
          <p:cNvPicPr>
            <a:picLocks noChangeAspect="1"/>
          </p:cNvPicPr>
          <p:nvPr/>
        </p:nvPicPr>
        <p:blipFill>
          <a:blip r:embed="rId8"/>
          <a:stretch>
            <a:fillRect/>
          </a:stretch>
        </p:blipFill>
        <p:spPr>
          <a:xfrm>
            <a:off x="6839712" y="3364992"/>
            <a:ext cx="852519" cy="310896"/>
          </a:xfrm>
          <a:prstGeom prst="rect">
            <a:avLst/>
          </a:prstGeom>
        </p:spPr>
      </p:pic>
      <p:sp>
        <p:nvSpPr>
          <p:cNvPr id="26" name="TextBox 25"/>
          <p:cNvSpPr txBox="1"/>
          <p:nvPr/>
        </p:nvSpPr>
        <p:spPr>
          <a:xfrm>
            <a:off x="7973568" y="3346704"/>
            <a:ext cx="3547872" cy="62179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translational / rotational damping</a:t>
            </a:r>
          </a:p>
        </p:txBody>
      </p:sp>
      <p:sp>
        <p:nvSpPr>
          <p:cNvPr id="27" name="TextBox 26"/>
          <p:cNvSpPr txBox="1"/>
          <p:nvPr/>
        </p:nvSpPr>
        <p:spPr>
          <a:xfrm>
            <a:off x="6629400" y="4096512"/>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28" name="Figure — symbol_velocity" descr="symbol velocity: vector figure or typeset equation from the supplied thesis sources"/>
          <p:cNvPicPr>
            <a:picLocks noChangeAspect="1"/>
          </p:cNvPicPr>
          <p:nvPr/>
        </p:nvPicPr>
        <p:blipFill>
          <a:blip r:embed="rId9"/>
          <a:stretch>
            <a:fillRect/>
          </a:stretch>
        </p:blipFill>
        <p:spPr>
          <a:xfrm>
            <a:off x="6839712" y="4078224"/>
            <a:ext cx="570333" cy="310896"/>
          </a:xfrm>
          <a:prstGeom prst="rect">
            <a:avLst/>
          </a:prstGeom>
        </p:spPr>
      </p:pic>
      <p:sp>
        <p:nvSpPr>
          <p:cNvPr id="29" name="TextBox 28"/>
          <p:cNvSpPr txBox="1"/>
          <p:nvPr/>
        </p:nvSpPr>
        <p:spPr>
          <a:xfrm>
            <a:off x="7973568" y="4059936"/>
            <a:ext cx="3547872" cy="62179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linear / angular velocity</a:t>
            </a:r>
          </a:p>
        </p:txBody>
      </p:sp>
      <p:sp>
        <p:nvSpPr>
          <p:cNvPr id="30" name="TextBox 29"/>
          <p:cNvSpPr txBox="1"/>
          <p:nvPr/>
        </p:nvSpPr>
        <p:spPr>
          <a:xfrm>
            <a:off x="6629400" y="4809744"/>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31" name="Figure — symbol_indices" descr="symbol indices: vector figure or typeset equation from the supplied thesis sources"/>
          <p:cNvPicPr>
            <a:picLocks noChangeAspect="1"/>
          </p:cNvPicPr>
          <p:nvPr/>
        </p:nvPicPr>
        <p:blipFill>
          <a:blip r:embed="rId10"/>
          <a:stretch>
            <a:fillRect/>
          </a:stretch>
        </p:blipFill>
        <p:spPr>
          <a:xfrm>
            <a:off x="6839712" y="4791456"/>
            <a:ext cx="711513" cy="310896"/>
          </a:xfrm>
          <a:prstGeom prst="rect">
            <a:avLst/>
          </a:prstGeom>
        </p:spPr>
      </p:pic>
      <p:sp>
        <p:nvSpPr>
          <p:cNvPr id="32" name="TextBox 31"/>
          <p:cNvSpPr txBox="1"/>
          <p:nvPr/>
        </p:nvSpPr>
        <p:spPr>
          <a:xfrm>
            <a:off x="7973568" y="4773168"/>
            <a:ext cx="3547872" cy="62179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desired / measured end effector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Surface-relative compliance</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4</a:t>
            </a:r>
          </a:p>
        </p:txBody>
      </p:sp>
      <p:pic>
        <p:nvPicPr>
          <p:cNvPr id="8" name="Figure — surface_directions" descr="surface directions: vector figure or typeset equation from the supplied thesis sources"/>
          <p:cNvPicPr>
            <a:picLocks noChangeAspect="1"/>
          </p:cNvPicPr>
          <p:nvPr/>
        </p:nvPicPr>
        <p:blipFill>
          <a:blip r:embed="rId3"/>
          <a:stretch>
            <a:fillRect/>
          </a:stretch>
        </p:blipFill>
        <p:spPr>
          <a:xfrm>
            <a:off x="920614" y="1481328"/>
            <a:ext cx="4376691" cy="3886200"/>
          </a:xfrm>
          <a:prstGeom prst="rect">
            <a:avLst/>
          </a:prstGeom>
        </p:spPr>
      </p:pic>
      <p:sp>
        <p:nvSpPr>
          <p:cNvPr id="9" name="TextBox 8"/>
          <p:cNvSpPr txBox="1"/>
          <p:nvPr/>
        </p:nvSpPr>
        <p:spPr>
          <a:xfrm>
            <a:off x="5989320" y="1216152"/>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800" b="0">
                <a:solidFill>
                  <a:srgbClr val="141414"/>
                </a:solidFill>
                <a:latin typeface="Arial"/>
              </a:rPr>
              <a:t>•</a:t>
            </a:r>
          </a:p>
        </p:txBody>
      </p:sp>
      <p:pic>
        <p:nvPicPr>
          <p:cNvPr id="10" name="Figure — symbol_ns" descr="symbol ns: vector figure or typeset equation from the supplied thesis sources"/>
          <p:cNvPicPr>
            <a:picLocks noChangeAspect="1"/>
          </p:cNvPicPr>
          <p:nvPr/>
        </p:nvPicPr>
        <p:blipFill>
          <a:blip r:embed="rId4"/>
          <a:stretch>
            <a:fillRect/>
          </a:stretch>
        </p:blipFill>
        <p:spPr>
          <a:xfrm>
            <a:off x="6199632" y="1197864"/>
            <a:ext cx="430257" cy="310896"/>
          </a:xfrm>
          <a:prstGeom prst="rect">
            <a:avLst/>
          </a:prstGeom>
        </p:spPr>
      </p:pic>
      <p:sp>
        <p:nvSpPr>
          <p:cNvPr id="11" name="TextBox 10"/>
          <p:cNvSpPr txBox="1"/>
          <p:nvPr/>
        </p:nvSpPr>
        <p:spPr>
          <a:xfrm>
            <a:off x="7333488" y="1179576"/>
            <a:ext cx="3730751" cy="548640"/>
          </a:xfrm>
          <a:prstGeom prst="rect">
            <a:avLst/>
          </a:prstGeom>
          <a:noFill/>
        </p:spPr>
        <p:txBody>
          <a:bodyPr wrap="square" lIns="0" rIns="0" tIns="0" bIns="0" anchor="t">
            <a:spAutoFit/>
          </a:bodyPr>
          <a:lstStyle/>
          <a:p>
            <a:pPr algn="l">
              <a:lnSpc>
                <a:spcPct val="106000"/>
              </a:lnSpc>
              <a:spcBef>
                <a:spcPts val="0"/>
              </a:spcBef>
              <a:spcAft>
                <a:spcPts val="0"/>
              </a:spcAft>
            </a:pPr>
            <a:r>
              <a:rPr sz="1800" b="0">
                <a:solidFill>
                  <a:srgbClr val="141414"/>
                </a:solidFill>
                <a:latin typeface="Arial"/>
              </a:rPr>
              <a:t>outward surface normal</a:t>
            </a:r>
          </a:p>
        </p:txBody>
      </p:sp>
      <p:sp>
        <p:nvSpPr>
          <p:cNvPr id="12" name="TextBox 11"/>
          <p:cNvSpPr txBox="1"/>
          <p:nvPr/>
        </p:nvSpPr>
        <p:spPr>
          <a:xfrm>
            <a:off x="5989320" y="1901952"/>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800" b="0">
                <a:solidFill>
                  <a:srgbClr val="141414"/>
                </a:solidFill>
                <a:latin typeface="Arial"/>
              </a:rPr>
              <a:t>•</a:t>
            </a:r>
          </a:p>
        </p:txBody>
      </p:sp>
      <p:pic>
        <p:nvPicPr>
          <p:cNvPr id="13" name="Figure — symbol_tangents" descr="symbol tangents: vector figure or typeset equation from the supplied thesis sources"/>
          <p:cNvPicPr>
            <a:picLocks noChangeAspect="1"/>
          </p:cNvPicPr>
          <p:nvPr/>
        </p:nvPicPr>
        <p:blipFill>
          <a:blip r:embed="rId5"/>
          <a:stretch>
            <a:fillRect/>
          </a:stretch>
        </p:blipFill>
        <p:spPr>
          <a:xfrm>
            <a:off x="6199632" y="1883664"/>
            <a:ext cx="672867" cy="310896"/>
          </a:xfrm>
          <a:prstGeom prst="rect">
            <a:avLst/>
          </a:prstGeom>
        </p:spPr>
      </p:pic>
      <p:sp>
        <p:nvSpPr>
          <p:cNvPr id="14" name="TextBox 13"/>
          <p:cNvSpPr txBox="1"/>
          <p:nvPr/>
        </p:nvSpPr>
        <p:spPr>
          <a:xfrm>
            <a:off x="7333488" y="1865376"/>
            <a:ext cx="3730751" cy="640080"/>
          </a:xfrm>
          <a:prstGeom prst="rect">
            <a:avLst/>
          </a:prstGeom>
          <a:noFill/>
        </p:spPr>
        <p:txBody>
          <a:bodyPr wrap="square" lIns="0" rIns="0" tIns="0" bIns="0" anchor="t">
            <a:spAutoFit/>
          </a:bodyPr>
          <a:lstStyle/>
          <a:p>
            <a:pPr algn="l">
              <a:lnSpc>
                <a:spcPct val="106000"/>
              </a:lnSpc>
              <a:spcBef>
                <a:spcPts val="0"/>
              </a:spcBef>
              <a:spcAft>
                <a:spcPts val="0"/>
              </a:spcAft>
            </a:pPr>
            <a:r>
              <a:rPr sz="1800" b="0">
                <a:solidFill>
                  <a:srgbClr val="141414"/>
                </a:solidFill>
                <a:latin typeface="Arial"/>
              </a:rPr>
              <a:t>two perpendicular surface tangents</a:t>
            </a:r>
          </a:p>
        </p:txBody>
      </p:sp>
      <p:sp>
        <p:nvSpPr>
          <p:cNvPr id="15" name="TextBox 14"/>
          <p:cNvSpPr txBox="1"/>
          <p:nvPr/>
        </p:nvSpPr>
        <p:spPr>
          <a:xfrm>
            <a:off x="6126480" y="2807208"/>
            <a:ext cx="365760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Translation</a:t>
            </a:r>
          </a:p>
        </p:txBody>
      </p:sp>
      <p:sp>
        <p:nvSpPr>
          <p:cNvPr id="16" name="TextBox 15"/>
          <p:cNvSpPr txBox="1"/>
          <p:nvPr/>
        </p:nvSpPr>
        <p:spPr>
          <a:xfrm>
            <a:off x="6126480" y="3246120"/>
            <a:ext cx="4937760" cy="45720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Softer normal pressing</a:t>
            </a:r>
          </a:p>
        </p:txBody>
      </p:sp>
      <p:sp>
        <p:nvSpPr>
          <p:cNvPr id="17" name="TextBox 16"/>
          <p:cNvSpPr txBox="1"/>
          <p:nvPr/>
        </p:nvSpPr>
        <p:spPr>
          <a:xfrm>
            <a:off x="6126480" y="3739896"/>
            <a:ext cx="4937760" cy="45720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Stiffer motion along the surface</a:t>
            </a:r>
          </a:p>
        </p:txBody>
      </p:sp>
      <p:sp>
        <p:nvSpPr>
          <p:cNvPr id="18" name="TextBox 17"/>
          <p:cNvSpPr txBox="1"/>
          <p:nvPr/>
        </p:nvSpPr>
        <p:spPr>
          <a:xfrm>
            <a:off x="6126480" y="4443984"/>
            <a:ext cx="365760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Rotation</a:t>
            </a:r>
          </a:p>
        </p:txBody>
      </p:sp>
      <p:sp>
        <p:nvSpPr>
          <p:cNvPr id="19" name="TextBox 18"/>
          <p:cNvSpPr txBox="1"/>
          <p:nvPr/>
        </p:nvSpPr>
        <p:spPr>
          <a:xfrm>
            <a:off x="6126480" y="4864608"/>
            <a:ext cx="4937760" cy="45720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Softer tilting about the tangents</a:t>
            </a:r>
          </a:p>
        </p:txBody>
      </p:sp>
      <p:sp>
        <p:nvSpPr>
          <p:cNvPr id="20" name="TextBox 19"/>
          <p:cNvSpPr txBox="1"/>
          <p:nvPr/>
        </p:nvSpPr>
        <p:spPr>
          <a:xfrm>
            <a:off x="6126480" y="5358384"/>
            <a:ext cx="4937760" cy="45720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Stiffer turning about the normal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Centre of compliance (CoC)</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5</a:t>
            </a:r>
          </a:p>
        </p:txBody>
      </p:sp>
      <p:pic>
        <p:nvPicPr>
          <p:cNvPr id="8" name="Figure — CoC_moment" descr="CoC moment: vector figure or typeset equation from the supplied thesis sources"/>
          <p:cNvPicPr>
            <a:picLocks noChangeAspect="1"/>
          </p:cNvPicPr>
          <p:nvPr/>
        </p:nvPicPr>
        <p:blipFill>
          <a:blip r:embed="rId3"/>
          <a:stretch>
            <a:fillRect/>
          </a:stretch>
        </p:blipFill>
        <p:spPr>
          <a:xfrm>
            <a:off x="502919" y="1736035"/>
            <a:ext cx="6400800" cy="2151488"/>
          </a:xfrm>
          <a:prstGeom prst="rect">
            <a:avLst/>
          </a:prstGeom>
        </p:spPr>
      </p:pic>
      <p:sp>
        <p:nvSpPr>
          <p:cNvPr id="9" name="TextBox 8"/>
          <p:cNvSpPr txBox="1"/>
          <p:nvPr/>
        </p:nvSpPr>
        <p:spPr>
          <a:xfrm>
            <a:off x="822960" y="4434840"/>
            <a:ext cx="5760720" cy="59436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Tangential shift → preferred rotation</a:t>
            </a:r>
          </a:p>
        </p:txBody>
      </p:sp>
      <p:sp>
        <p:nvSpPr>
          <p:cNvPr id="10" name="TextBox 9"/>
          <p:cNvSpPr txBox="1"/>
          <p:nvPr/>
        </p:nvSpPr>
        <p:spPr>
          <a:xfrm>
            <a:off x="822960" y="5102352"/>
            <a:ext cx="5760720" cy="59436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Reversed shift → reversed additional moment</a:t>
            </a:r>
          </a:p>
        </p:txBody>
      </p:sp>
      <p:pic>
        <p:nvPicPr>
          <p:cNvPr id="11" name="Figure — equation_CoC" descr="equation CoC: vector figure or typeset equation from the supplied thesis sources"/>
          <p:cNvPicPr>
            <a:picLocks noChangeAspect="1"/>
          </p:cNvPicPr>
          <p:nvPr/>
        </p:nvPicPr>
        <p:blipFill>
          <a:blip r:embed="rId4"/>
          <a:stretch>
            <a:fillRect/>
          </a:stretch>
        </p:blipFill>
        <p:spPr>
          <a:xfrm>
            <a:off x="7543032" y="1152144"/>
            <a:ext cx="3613414" cy="585216"/>
          </a:xfrm>
          <a:prstGeom prst="rect">
            <a:avLst/>
          </a:prstGeom>
        </p:spPr>
      </p:pic>
      <p:sp>
        <p:nvSpPr>
          <p:cNvPr id="12" name="TextBox 11"/>
          <p:cNvSpPr txBox="1"/>
          <p:nvPr/>
        </p:nvSpPr>
        <p:spPr>
          <a:xfrm>
            <a:off x="7315200" y="2103120"/>
            <a:ext cx="164592" cy="320040"/>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sp>
        <p:nvSpPr>
          <p:cNvPr id="13" name="TextBox 12"/>
          <p:cNvSpPr txBox="1"/>
          <p:nvPr/>
        </p:nvSpPr>
        <p:spPr>
          <a:xfrm>
            <a:off x="7543800" y="2103120"/>
            <a:ext cx="795528" cy="320040"/>
          </a:xfrm>
          <a:prstGeom prst="rect">
            <a:avLst/>
          </a:prstGeom>
          <a:noFill/>
        </p:spPr>
        <p:txBody>
          <a:bodyPr wrap="square" lIns="0" rIns="0" tIns="0" bIns="0" anchor="t">
            <a:spAutoFit/>
          </a:bodyPr>
          <a:lstStyle/>
          <a:p>
            <a:pPr algn="l">
              <a:lnSpc>
                <a:spcPct val="106000"/>
              </a:lnSpc>
              <a:spcBef>
                <a:spcPts val="0"/>
              </a:spcBef>
              <a:spcAft>
                <a:spcPts val="0"/>
              </a:spcAft>
            </a:pPr>
            <a:r>
              <a:rPr sz="1650" b="1">
                <a:solidFill>
                  <a:srgbClr val="141414"/>
                </a:solidFill>
                <a:latin typeface="Arial"/>
              </a:rPr>
              <a:t>TCP</a:t>
            </a:r>
          </a:p>
        </p:txBody>
      </p:sp>
      <p:sp>
        <p:nvSpPr>
          <p:cNvPr id="14" name="TextBox 13"/>
          <p:cNvSpPr txBox="1"/>
          <p:nvPr/>
        </p:nvSpPr>
        <p:spPr>
          <a:xfrm>
            <a:off x="8421624" y="2084831"/>
            <a:ext cx="2926080" cy="640080"/>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tool centre point; controlled reference</a:t>
            </a:r>
          </a:p>
        </p:txBody>
      </p:sp>
      <p:sp>
        <p:nvSpPr>
          <p:cNvPr id="15" name="TextBox 14"/>
          <p:cNvSpPr txBox="1"/>
          <p:nvPr/>
        </p:nvSpPr>
        <p:spPr>
          <a:xfrm>
            <a:off x="7315200" y="2907792"/>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16" name="Figure — symbol_pc" descr="symbol pc: vector figure or typeset equation from the supplied thesis sources"/>
          <p:cNvPicPr>
            <a:picLocks noChangeAspect="1"/>
          </p:cNvPicPr>
          <p:nvPr/>
        </p:nvPicPr>
        <p:blipFill>
          <a:blip r:embed="rId5"/>
          <a:stretch>
            <a:fillRect/>
          </a:stretch>
        </p:blipFill>
        <p:spPr>
          <a:xfrm>
            <a:off x="7525512" y="2889504"/>
            <a:ext cx="368859" cy="310896"/>
          </a:xfrm>
          <a:prstGeom prst="rect">
            <a:avLst/>
          </a:prstGeom>
        </p:spPr>
      </p:pic>
      <p:sp>
        <p:nvSpPr>
          <p:cNvPr id="17" name="TextBox 16"/>
          <p:cNvSpPr txBox="1"/>
          <p:nvPr/>
        </p:nvSpPr>
        <p:spPr>
          <a:xfrm>
            <a:off x="8430768" y="2871216"/>
            <a:ext cx="3090671" cy="603504"/>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virtual compliance centre</a:t>
            </a:r>
          </a:p>
        </p:txBody>
      </p:sp>
      <p:sp>
        <p:nvSpPr>
          <p:cNvPr id="18" name="TextBox 17"/>
          <p:cNvSpPr txBox="1"/>
          <p:nvPr/>
        </p:nvSpPr>
        <p:spPr>
          <a:xfrm>
            <a:off x="7315200" y="3575304"/>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19" name="Figure — symbol_rc" descr="symbol rc: vector figure or typeset equation from the supplied thesis sources"/>
          <p:cNvPicPr>
            <a:picLocks noChangeAspect="1"/>
          </p:cNvPicPr>
          <p:nvPr/>
        </p:nvPicPr>
        <p:blipFill>
          <a:blip r:embed="rId6"/>
          <a:stretch>
            <a:fillRect/>
          </a:stretch>
        </p:blipFill>
        <p:spPr>
          <a:xfrm>
            <a:off x="7525512" y="3557016"/>
            <a:ext cx="371964" cy="310896"/>
          </a:xfrm>
          <a:prstGeom prst="rect">
            <a:avLst/>
          </a:prstGeom>
        </p:spPr>
      </p:pic>
      <p:sp>
        <p:nvSpPr>
          <p:cNvPr id="20" name="TextBox 19"/>
          <p:cNvSpPr txBox="1"/>
          <p:nvPr/>
        </p:nvSpPr>
        <p:spPr>
          <a:xfrm>
            <a:off x="8430768" y="3538728"/>
            <a:ext cx="3090671" cy="603504"/>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displacement from TCP to centre</a:t>
            </a:r>
          </a:p>
        </p:txBody>
      </p:sp>
      <p:sp>
        <p:nvSpPr>
          <p:cNvPr id="21" name="TextBox 20"/>
          <p:cNvSpPr txBox="1"/>
          <p:nvPr/>
        </p:nvSpPr>
        <p:spPr>
          <a:xfrm>
            <a:off x="7315200" y="424281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22" name="Figure — symbol_fn" descr="symbol fn: vector figure or typeset equation from the supplied thesis sources"/>
          <p:cNvPicPr>
            <a:picLocks noChangeAspect="1"/>
          </p:cNvPicPr>
          <p:nvPr/>
        </p:nvPicPr>
        <p:blipFill>
          <a:blip r:embed="rId7"/>
          <a:stretch>
            <a:fillRect/>
          </a:stretch>
        </p:blipFill>
        <p:spPr>
          <a:xfrm>
            <a:off x="7525512" y="4224528"/>
            <a:ext cx="319242" cy="310896"/>
          </a:xfrm>
          <a:prstGeom prst="rect">
            <a:avLst/>
          </a:prstGeom>
        </p:spPr>
      </p:pic>
      <p:sp>
        <p:nvSpPr>
          <p:cNvPr id="23" name="TextBox 22"/>
          <p:cNvSpPr txBox="1"/>
          <p:nvPr/>
        </p:nvSpPr>
        <p:spPr>
          <a:xfrm>
            <a:off x="8430768" y="4206240"/>
            <a:ext cx="3090671" cy="603504"/>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normal part of commanded force</a:t>
            </a:r>
          </a:p>
        </p:txBody>
      </p:sp>
      <p:sp>
        <p:nvSpPr>
          <p:cNvPr id="24" name="TextBox 23"/>
          <p:cNvSpPr txBox="1"/>
          <p:nvPr/>
        </p:nvSpPr>
        <p:spPr>
          <a:xfrm>
            <a:off x="7315200" y="4910328"/>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25" name="Figure — symbol_mR" descr="symbol mR: vector figure or typeset equation from the supplied thesis sources"/>
          <p:cNvPicPr>
            <a:picLocks noChangeAspect="1"/>
          </p:cNvPicPr>
          <p:nvPr/>
        </p:nvPicPr>
        <p:blipFill>
          <a:blip r:embed="rId8"/>
          <a:stretch>
            <a:fillRect/>
          </a:stretch>
        </p:blipFill>
        <p:spPr>
          <a:xfrm>
            <a:off x="7525512" y="4892040"/>
            <a:ext cx="588481" cy="310896"/>
          </a:xfrm>
          <a:prstGeom prst="rect">
            <a:avLst/>
          </a:prstGeom>
        </p:spPr>
      </p:pic>
      <p:sp>
        <p:nvSpPr>
          <p:cNvPr id="26" name="TextBox 25"/>
          <p:cNvSpPr txBox="1"/>
          <p:nvPr/>
        </p:nvSpPr>
        <p:spPr>
          <a:xfrm>
            <a:off x="8430768" y="4873752"/>
            <a:ext cx="3090671" cy="603504"/>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rotational spring–damper moment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Experimental procedure</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6</a:t>
            </a:r>
          </a:p>
        </p:txBody>
      </p:sp>
      <p:sp>
        <p:nvSpPr>
          <p:cNvPr id="8" name="TextBox 7"/>
          <p:cNvSpPr txBox="1"/>
          <p:nvPr/>
        </p:nvSpPr>
        <p:spPr>
          <a:xfrm>
            <a:off x="777240" y="1234440"/>
            <a:ext cx="2121408" cy="694944"/>
          </a:xfrm>
          <a:prstGeom prst="rect">
            <a:avLst/>
          </a:prstGeom>
          <a:noFill/>
        </p:spPr>
        <p:txBody>
          <a:bodyPr wrap="square" lIns="0" rIns="0" tIns="0" bIns="0" anchor="t">
            <a:spAutoFit/>
          </a:bodyPr>
          <a:lstStyle/>
          <a:p>
            <a:pPr algn="ctr">
              <a:lnSpc>
                <a:spcPct val="106000"/>
              </a:lnSpc>
              <a:spcBef>
                <a:spcPts val="0"/>
              </a:spcBef>
              <a:spcAft>
                <a:spcPts val="0"/>
              </a:spcAft>
            </a:pPr>
            <a:r>
              <a:rPr sz="1800" b="1">
                <a:solidFill>
                  <a:srgbClr val="141414"/>
                </a:solidFill>
                <a:latin typeface="Arial"/>
              </a:rPr>
              <a:t>Tool
orientation</a:t>
            </a:r>
          </a:p>
        </p:txBody>
      </p:sp>
      <p:sp>
        <p:nvSpPr>
          <p:cNvPr id="9" name="TextBox 8"/>
          <p:cNvSpPr txBox="1"/>
          <p:nvPr/>
        </p:nvSpPr>
        <p:spPr>
          <a:xfrm>
            <a:off x="3017520" y="1344168"/>
            <a:ext cx="411480" cy="365760"/>
          </a:xfrm>
          <a:prstGeom prst="rect">
            <a:avLst/>
          </a:prstGeom>
          <a:noFill/>
        </p:spPr>
        <p:txBody>
          <a:bodyPr wrap="square" lIns="0" rIns="0" tIns="0" bIns="0" anchor="t">
            <a:spAutoFit/>
          </a:bodyPr>
          <a:lstStyle/>
          <a:p>
            <a:pPr algn="ctr">
              <a:lnSpc>
                <a:spcPct val="106000"/>
              </a:lnSpc>
              <a:spcBef>
                <a:spcPts val="0"/>
              </a:spcBef>
              <a:spcAft>
                <a:spcPts val="0"/>
              </a:spcAft>
            </a:pPr>
            <a:r>
              <a:rPr sz="2300" b="0">
                <a:solidFill>
                  <a:srgbClr val="141414"/>
                </a:solidFill>
                <a:latin typeface="Arial"/>
              </a:rPr>
              <a:t>→</a:t>
            </a:r>
          </a:p>
        </p:txBody>
      </p:sp>
      <p:sp>
        <p:nvSpPr>
          <p:cNvPr id="10" name="TextBox 9"/>
          <p:cNvSpPr txBox="1"/>
          <p:nvPr/>
        </p:nvSpPr>
        <p:spPr>
          <a:xfrm>
            <a:off x="3566160" y="1234440"/>
            <a:ext cx="2121408" cy="694944"/>
          </a:xfrm>
          <a:prstGeom prst="rect">
            <a:avLst/>
          </a:prstGeom>
          <a:noFill/>
        </p:spPr>
        <p:txBody>
          <a:bodyPr wrap="square" lIns="0" rIns="0" tIns="0" bIns="0" anchor="t">
            <a:spAutoFit/>
          </a:bodyPr>
          <a:lstStyle/>
          <a:p>
            <a:pPr algn="ctr">
              <a:lnSpc>
                <a:spcPct val="106000"/>
              </a:lnSpc>
              <a:spcBef>
                <a:spcPts val="0"/>
              </a:spcBef>
              <a:spcAft>
                <a:spcPts val="0"/>
              </a:spcAft>
            </a:pPr>
            <a:r>
              <a:rPr sz="1800" b="1">
                <a:solidFill>
                  <a:srgbClr val="141414"/>
                </a:solidFill>
                <a:latin typeface="Arial"/>
              </a:rPr>
              <a:t>Surface
approach</a:t>
            </a:r>
          </a:p>
        </p:txBody>
      </p:sp>
      <p:sp>
        <p:nvSpPr>
          <p:cNvPr id="11" name="TextBox 10"/>
          <p:cNvSpPr txBox="1"/>
          <p:nvPr/>
        </p:nvSpPr>
        <p:spPr>
          <a:xfrm>
            <a:off x="5806440" y="1344168"/>
            <a:ext cx="411480" cy="365760"/>
          </a:xfrm>
          <a:prstGeom prst="rect">
            <a:avLst/>
          </a:prstGeom>
          <a:noFill/>
        </p:spPr>
        <p:txBody>
          <a:bodyPr wrap="square" lIns="0" rIns="0" tIns="0" bIns="0" anchor="t">
            <a:spAutoFit/>
          </a:bodyPr>
          <a:lstStyle/>
          <a:p>
            <a:pPr algn="ctr">
              <a:lnSpc>
                <a:spcPct val="106000"/>
              </a:lnSpc>
              <a:spcBef>
                <a:spcPts val="0"/>
              </a:spcBef>
              <a:spcAft>
                <a:spcPts val="0"/>
              </a:spcAft>
            </a:pPr>
            <a:r>
              <a:rPr sz="2300" b="0">
                <a:solidFill>
                  <a:srgbClr val="141414"/>
                </a:solidFill>
                <a:latin typeface="Arial"/>
              </a:rPr>
              <a:t>→</a:t>
            </a:r>
          </a:p>
        </p:txBody>
      </p:sp>
      <p:sp>
        <p:nvSpPr>
          <p:cNvPr id="12" name="TextBox 11"/>
          <p:cNvSpPr txBox="1"/>
          <p:nvPr/>
        </p:nvSpPr>
        <p:spPr>
          <a:xfrm>
            <a:off x="6355079" y="1234440"/>
            <a:ext cx="2121408" cy="694944"/>
          </a:xfrm>
          <a:prstGeom prst="rect">
            <a:avLst/>
          </a:prstGeom>
          <a:noFill/>
        </p:spPr>
        <p:txBody>
          <a:bodyPr wrap="square" lIns="0" rIns="0" tIns="0" bIns="0" anchor="t">
            <a:spAutoFit/>
          </a:bodyPr>
          <a:lstStyle/>
          <a:p>
            <a:pPr algn="ctr">
              <a:lnSpc>
                <a:spcPct val="106000"/>
              </a:lnSpc>
              <a:spcBef>
                <a:spcPts val="0"/>
              </a:spcBef>
              <a:spcAft>
                <a:spcPts val="0"/>
              </a:spcAft>
            </a:pPr>
            <a:r>
              <a:rPr sz="1800" b="1">
                <a:solidFill>
                  <a:srgbClr val="141414"/>
                </a:solidFill>
                <a:latin typeface="Arial"/>
              </a:rPr>
              <a:t>Contact
establishment</a:t>
            </a:r>
          </a:p>
        </p:txBody>
      </p:sp>
      <p:sp>
        <p:nvSpPr>
          <p:cNvPr id="13" name="TextBox 12"/>
          <p:cNvSpPr txBox="1"/>
          <p:nvPr/>
        </p:nvSpPr>
        <p:spPr>
          <a:xfrm>
            <a:off x="8595359" y="1344168"/>
            <a:ext cx="411480" cy="365760"/>
          </a:xfrm>
          <a:prstGeom prst="rect">
            <a:avLst/>
          </a:prstGeom>
          <a:noFill/>
        </p:spPr>
        <p:txBody>
          <a:bodyPr wrap="square" lIns="0" rIns="0" tIns="0" bIns="0" anchor="t">
            <a:spAutoFit/>
          </a:bodyPr>
          <a:lstStyle/>
          <a:p>
            <a:pPr algn="ctr">
              <a:lnSpc>
                <a:spcPct val="106000"/>
              </a:lnSpc>
              <a:spcBef>
                <a:spcPts val="0"/>
              </a:spcBef>
              <a:spcAft>
                <a:spcPts val="0"/>
              </a:spcAft>
            </a:pPr>
            <a:r>
              <a:rPr sz="2300" b="0">
                <a:solidFill>
                  <a:srgbClr val="141414"/>
                </a:solidFill>
                <a:latin typeface="Arial"/>
              </a:rPr>
              <a:t>→</a:t>
            </a:r>
          </a:p>
        </p:txBody>
      </p:sp>
      <p:sp>
        <p:nvSpPr>
          <p:cNvPr id="14" name="TextBox 13"/>
          <p:cNvSpPr txBox="1"/>
          <p:nvPr/>
        </p:nvSpPr>
        <p:spPr>
          <a:xfrm>
            <a:off x="9143999" y="1234440"/>
            <a:ext cx="2121408" cy="694944"/>
          </a:xfrm>
          <a:prstGeom prst="rect">
            <a:avLst/>
          </a:prstGeom>
          <a:noFill/>
        </p:spPr>
        <p:txBody>
          <a:bodyPr wrap="square" lIns="0" rIns="0" tIns="0" bIns="0" anchor="t">
            <a:spAutoFit/>
          </a:bodyPr>
          <a:lstStyle/>
          <a:p>
            <a:pPr algn="ctr">
              <a:lnSpc>
                <a:spcPct val="106000"/>
              </a:lnSpc>
              <a:spcBef>
                <a:spcPts val="0"/>
              </a:spcBef>
              <a:spcAft>
                <a:spcPts val="0"/>
              </a:spcAft>
            </a:pPr>
            <a:r>
              <a:rPr sz="1800" b="1">
                <a:solidFill>
                  <a:srgbClr val="141414"/>
                </a:solidFill>
                <a:latin typeface="Arial"/>
              </a:rPr>
              <a:t>Pre-grinding
hold</a:t>
            </a:r>
          </a:p>
        </p:txBody>
      </p:sp>
      <p:sp>
        <p:nvSpPr>
          <p:cNvPr id="15" name="TextBox 14"/>
          <p:cNvSpPr txBox="1"/>
          <p:nvPr/>
        </p:nvSpPr>
        <p:spPr>
          <a:xfrm>
            <a:off x="822960" y="2834640"/>
            <a:ext cx="502920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Contact study</a:t>
            </a:r>
          </a:p>
        </p:txBody>
      </p:sp>
      <p:sp>
        <p:nvSpPr>
          <p:cNvPr id="16" name="TextBox 15"/>
          <p:cNvSpPr txBox="1"/>
          <p:nvPr/>
        </p:nvSpPr>
        <p:spPr>
          <a:xfrm>
            <a:off x="822960" y="3346704"/>
            <a:ext cx="5120640" cy="62179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Rectangular tool: 40 × 120 mm</a:t>
            </a:r>
          </a:p>
        </p:txBody>
      </p:sp>
      <p:sp>
        <p:nvSpPr>
          <p:cNvPr id="17" name="TextBox 16"/>
          <p:cNvSpPr txBox="1"/>
          <p:nvPr/>
        </p:nvSpPr>
        <p:spPr>
          <a:xfrm>
            <a:off x="822960" y="4078224"/>
            <a:ext cx="5120640" cy="62179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Five-second contact phase</a:t>
            </a:r>
          </a:p>
        </p:txBody>
      </p:sp>
      <p:sp>
        <p:nvSpPr>
          <p:cNvPr id="18" name="TextBox 17"/>
          <p:cNvSpPr txBox="1"/>
          <p:nvPr/>
        </p:nvSpPr>
        <p:spPr>
          <a:xfrm>
            <a:off x="822960" y="4809744"/>
            <a:ext cx="5120640" cy="62179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Fixed entry orientation reference</a:t>
            </a:r>
          </a:p>
        </p:txBody>
      </p:sp>
      <p:sp>
        <p:nvSpPr>
          <p:cNvPr id="19" name="TextBox 18"/>
          <p:cNvSpPr txBox="1"/>
          <p:nvPr/>
        </p:nvSpPr>
        <p:spPr>
          <a:xfrm>
            <a:off x="6400800" y="2834640"/>
            <a:ext cx="475488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Controlled comparison</a:t>
            </a:r>
          </a:p>
        </p:txBody>
      </p:sp>
      <p:sp>
        <p:nvSpPr>
          <p:cNvPr id="20" name="TextBox 19"/>
          <p:cNvSpPr txBox="1"/>
          <p:nvPr/>
        </p:nvSpPr>
        <p:spPr>
          <a:xfrm>
            <a:off x="6400800" y="3346704"/>
            <a:ext cx="4800600" cy="53035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750" b="0">
                <a:solidFill>
                  <a:srgbClr val="141414"/>
                </a:solidFill>
                <a:latin typeface="Arial"/>
              </a:rPr>
              <a:t>A: centre at the TCP</a:t>
            </a:r>
          </a:p>
        </p:txBody>
      </p:sp>
      <p:sp>
        <p:nvSpPr>
          <p:cNvPr id="21" name="TextBox 20"/>
          <p:cNvSpPr txBox="1"/>
          <p:nvPr/>
        </p:nvSpPr>
        <p:spPr>
          <a:xfrm>
            <a:off x="6400800" y="3922776"/>
            <a:ext cx="4800600" cy="53035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750" b="0">
                <a:solidFill>
                  <a:srgbClr val="141414"/>
                </a:solidFill>
                <a:latin typeface="Arial"/>
              </a:rPr>
              <a:t>B / C: rotational / translational stiffness</a:t>
            </a:r>
          </a:p>
        </p:txBody>
      </p:sp>
      <p:sp>
        <p:nvSpPr>
          <p:cNvPr id="22" name="TextBox 21"/>
          <p:cNvSpPr txBox="1"/>
          <p:nvPr/>
        </p:nvSpPr>
        <p:spPr>
          <a:xfrm>
            <a:off x="6400800" y="4498848"/>
            <a:ext cx="4800600" cy="53035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750" b="0">
                <a:solidFill>
                  <a:srgbClr val="141414"/>
                </a:solidFill>
                <a:latin typeface="Arial"/>
              </a:rPr>
              <a:t>D: tangential compliance-centre position</a:t>
            </a:r>
          </a:p>
        </p:txBody>
      </p:sp>
      <p:sp>
        <p:nvSpPr>
          <p:cNvPr id="23" name="TextBox 22"/>
          <p:cNvSpPr txBox="1"/>
          <p:nvPr/>
        </p:nvSpPr>
        <p:spPr>
          <a:xfrm>
            <a:off x="6400800" y="5074920"/>
            <a:ext cx="4800600" cy="53035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750" b="0">
                <a:solidFill>
                  <a:srgbClr val="141414"/>
                </a:solidFill>
                <a:latin typeface="Arial"/>
              </a:rPr>
              <a:t>57 trials; three repetitions per setting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Angular quantities</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7</a:t>
            </a:r>
          </a:p>
        </p:txBody>
      </p:sp>
      <p:pic>
        <p:nvPicPr>
          <p:cNvPr id="8" name="Figure — angular_quantities" descr="angular quantities: vector figure or typeset equation from the supplied thesis sources"/>
          <p:cNvPicPr>
            <a:picLocks noChangeAspect="1"/>
          </p:cNvPicPr>
          <p:nvPr/>
        </p:nvPicPr>
        <p:blipFill>
          <a:blip r:embed="rId3"/>
          <a:stretch>
            <a:fillRect/>
          </a:stretch>
        </p:blipFill>
        <p:spPr>
          <a:xfrm>
            <a:off x="594360" y="1970540"/>
            <a:ext cx="6492240" cy="2587735"/>
          </a:xfrm>
          <a:prstGeom prst="rect">
            <a:avLst/>
          </a:prstGeom>
        </p:spPr>
      </p:pic>
      <p:sp>
        <p:nvSpPr>
          <p:cNvPr id="9" name="TextBox 8"/>
          <p:cNvSpPr txBox="1"/>
          <p:nvPr/>
        </p:nvSpPr>
        <p:spPr>
          <a:xfrm>
            <a:off x="7388352" y="1399032"/>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700" b="0">
                <a:solidFill>
                  <a:srgbClr val="141414"/>
                </a:solidFill>
                <a:latin typeface="Arial"/>
              </a:rPr>
              <a:t>•</a:t>
            </a:r>
          </a:p>
        </p:txBody>
      </p:sp>
      <p:pic>
        <p:nvPicPr>
          <p:cNvPr id="10" name="Figure — symbol_thetaoffset" descr="symbol thetaoffset: vector figure or typeset equation from the supplied thesis sources"/>
          <p:cNvPicPr>
            <a:picLocks noChangeAspect="1"/>
          </p:cNvPicPr>
          <p:nvPr/>
        </p:nvPicPr>
        <p:blipFill>
          <a:blip r:embed="rId4"/>
          <a:stretch>
            <a:fillRect/>
          </a:stretch>
        </p:blipFill>
        <p:spPr>
          <a:xfrm>
            <a:off x="7598664" y="1380744"/>
            <a:ext cx="734491" cy="310896"/>
          </a:xfrm>
          <a:prstGeom prst="rect">
            <a:avLst/>
          </a:prstGeom>
        </p:spPr>
      </p:pic>
      <p:sp>
        <p:nvSpPr>
          <p:cNvPr id="11" name="TextBox 10"/>
          <p:cNvSpPr txBox="1"/>
          <p:nvPr/>
        </p:nvSpPr>
        <p:spPr>
          <a:xfrm>
            <a:off x="8750808" y="1362456"/>
            <a:ext cx="2752344" cy="658368"/>
          </a:xfrm>
          <a:prstGeom prst="rect">
            <a:avLst/>
          </a:prstGeom>
          <a:noFill/>
        </p:spPr>
        <p:txBody>
          <a:bodyPr wrap="square" lIns="0" rIns="0" tIns="0" bIns="0" anchor="t">
            <a:spAutoFit/>
          </a:bodyPr>
          <a:lstStyle/>
          <a:p>
            <a:pPr algn="l">
              <a:lnSpc>
                <a:spcPct val="106000"/>
              </a:lnSpc>
              <a:spcBef>
                <a:spcPts val="0"/>
              </a:spcBef>
              <a:spcAft>
                <a:spcPts val="0"/>
              </a:spcAft>
            </a:pPr>
            <a:r>
              <a:rPr sz="1700" b="0">
                <a:solidFill>
                  <a:srgbClr val="141414"/>
                </a:solidFill>
                <a:latin typeface="Arial"/>
              </a:rPr>
              <a:t>commanded tilt before contact</a:t>
            </a:r>
          </a:p>
        </p:txBody>
      </p:sp>
      <p:sp>
        <p:nvSpPr>
          <p:cNvPr id="12" name="TextBox 11"/>
          <p:cNvSpPr txBox="1"/>
          <p:nvPr/>
        </p:nvSpPr>
        <p:spPr>
          <a:xfrm>
            <a:off x="7388352" y="2478024"/>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700" b="0">
                <a:solidFill>
                  <a:srgbClr val="141414"/>
                </a:solidFill>
                <a:latin typeface="Arial"/>
              </a:rPr>
              <a:t>•</a:t>
            </a:r>
          </a:p>
        </p:txBody>
      </p:sp>
      <p:pic>
        <p:nvPicPr>
          <p:cNvPr id="13" name="Figure — symbol_thetaach" descr="symbol thetaach: vector figure or typeset equation from the supplied thesis sources"/>
          <p:cNvPicPr>
            <a:picLocks noChangeAspect="1"/>
          </p:cNvPicPr>
          <p:nvPr/>
        </p:nvPicPr>
        <p:blipFill>
          <a:blip r:embed="rId5"/>
          <a:stretch>
            <a:fillRect/>
          </a:stretch>
        </p:blipFill>
        <p:spPr>
          <a:xfrm>
            <a:off x="7598664" y="2459736"/>
            <a:ext cx="602361" cy="310896"/>
          </a:xfrm>
          <a:prstGeom prst="rect">
            <a:avLst/>
          </a:prstGeom>
        </p:spPr>
      </p:pic>
      <p:sp>
        <p:nvSpPr>
          <p:cNvPr id="14" name="TextBox 13"/>
          <p:cNvSpPr txBox="1"/>
          <p:nvPr/>
        </p:nvSpPr>
        <p:spPr>
          <a:xfrm>
            <a:off x="8750808" y="2441448"/>
            <a:ext cx="2752344" cy="658368"/>
          </a:xfrm>
          <a:prstGeom prst="rect">
            <a:avLst/>
          </a:prstGeom>
          <a:noFill/>
        </p:spPr>
        <p:txBody>
          <a:bodyPr wrap="square" lIns="0" rIns="0" tIns="0" bIns="0" anchor="t">
            <a:spAutoFit/>
          </a:bodyPr>
          <a:lstStyle/>
          <a:p>
            <a:pPr algn="l">
              <a:lnSpc>
                <a:spcPct val="106000"/>
              </a:lnSpc>
              <a:spcBef>
                <a:spcPts val="0"/>
              </a:spcBef>
              <a:spcAft>
                <a:spcPts val="0"/>
              </a:spcAft>
            </a:pPr>
            <a:r>
              <a:rPr sz="1700" b="0">
                <a:solidFill>
                  <a:srgbClr val="141414"/>
                </a:solidFill>
                <a:latin typeface="Arial"/>
              </a:rPr>
              <a:t>achieved tilt at contact entry</a:t>
            </a:r>
          </a:p>
        </p:txBody>
      </p:sp>
      <p:sp>
        <p:nvSpPr>
          <p:cNvPr id="15" name="TextBox 14"/>
          <p:cNvSpPr txBox="1"/>
          <p:nvPr/>
        </p:nvSpPr>
        <p:spPr>
          <a:xfrm>
            <a:off x="7388352" y="355701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700" b="0">
                <a:solidFill>
                  <a:srgbClr val="141414"/>
                </a:solidFill>
                <a:latin typeface="Arial"/>
              </a:rPr>
              <a:t>•</a:t>
            </a:r>
          </a:p>
        </p:txBody>
      </p:sp>
      <p:pic>
        <p:nvPicPr>
          <p:cNvPr id="16" name="Figure — symbol_gamma" descr="symbol gamma: vector figure or typeset equation from the supplied thesis sources"/>
          <p:cNvPicPr>
            <a:picLocks noChangeAspect="1"/>
          </p:cNvPicPr>
          <p:nvPr/>
        </p:nvPicPr>
        <p:blipFill>
          <a:blip r:embed="rId6"/>
          <a:stretch>
            <a:fillRect/>
          </a:stretch>
        </p:blipFill>
        <p:spPr>
          <a:xfrm>
            <a:off x="7598664" y="3538728"/>
            <a:ext cx="427792" cy="310896"/>
          </a:xfrm>
          <a:prstGeom prst="rect">
            <a:avLst/>
          </a:prstGeom>
        </p:spPr>
      </p:pic>
      <p:sp>
        <p:nvSpPr>
          <p:cNvPr id="17" name="TextBox 16"/>
          <p:cNvSpPr txBox="1"/>
          <p:nvPr/>
        </p:nvSpPr>
        <p:spPr>
          <a:xfrm>
            <a:off x="8750808" y="3520440"/>
            <a:ext cx="2752344" cy="877824"/>
          </a:xfrm>
          <a:prstGeom prst="rect">
            <a:avLst/>
          </a:prstGeom>
          <a:noFill/>
        </p:spPr>
        <p:txBody>
          <a:bodyPr wrap="square" lIns="0" rIns="0" tIns="0" bIns="0" anchor="t">
            <a:spAutoFit/>
          </a:bodyPr>
          <a:lstStyle/>
          <a:p>
            <a:pPr algn="l">
              <a:lnSpc>
                <a:spcPct val="106000"/>
              </a:lnSpc>
              <a:spcBef>
                <a:spcPts val="0"/>
              </a:spcBef>
              <a:spcAft>
                <a:spcPts val="0"/>
              </a:spcAft>
            </a:pPr>
            <a:r>
              <a:rPr sz="1700" b="0">
                <a:solidFill>
                  <a:srgbClr val="141414"/>
                </a:solidFill>
                <a:latin typeface="Arial"/>
              </a:rPr>
              <a:t>signed contact response about the first tangent</a:t>
            </a:r>
          </a:p>
        </p:txBody>
      </p:sp>
      <p:sp>
        <p:nvSpPr>
          <p:cNvPr id="18" name="TextBox 17"/>
          <p:cNvSpPr txBox="1"/>
          <p:nvPr/>
        </p:nvSpPr>
        <p:spPr>
          <a:xfrm>
            <a:off x="868680" y="5184648"/>
            <a:ext cx="10287000" cy="41148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Alignment: response has the same sign as the entry tilt</a:t>
            </a:r>
          </a:p>
        </p:txBody>
      </p:sp>
      <p:sp>
        <p:nvSpPr>
          <p:cNvPr id="19" name="TextBox 18"/>
          <p:cNvSpPr txBox="1"/>
          <p:nvPr/>
        </p:nvSpPr>
        <p:spPr>
          <a:xfrm>
            <a:off x="868680" y="5660136"/>
            <a:ext cx="10287000" cy="41148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Angles inferred from measured end-effector orientation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Baseline contact response</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8</a:t>
            </a:r>
          </a:p>
        </p:txBody>
      </p:sp>
      <p:pic>
        <p:nvPicPr>
          <p:cNvPr id="8" name="Figure — baseline_response" descr="baseline response: vector figure or typeset equation from the supplied thesis sources"/>
          <p:cNvPicPr>
            <a:picLocks noChangeAspect="1"/>
          </p:cNvPicPr>
          <p:nvPr/>
        </p:nvPicPr>
        <p:blipFill>
          <a:blip r:embed="rId3"/>
          <a:stretch>
            <a:fillRect/>
          </a:stretch>
        </p:blipFill>
        <p:spPr>
          <a:xfrm>
            <a:off x="502920" y="1417948"/>
            <a:ext cx="7406640" cy="4223270"/>
          </a:xfrm>
          <a:prstGeom prst="rect">
            <a:avLst/>
          </a:prstGeom>
        </p:spPr>
      </p:pic>
      <p:sp>
        <p:nvSpPr>
          <p:cNvPr id="9" name="TextBox 8"/>
          <p:cNvSpPr txBox="1"/>
          <p:nvPr/>
        </p:nvSpPr>
        <p:spPr>
          <a:xfrm>
            <a:off x="8302752" y="1874519"/>
            <a:ext cx="31546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Centre of compliance at the TCP</a:t>
            </a:r>
          </a:p>
        </p:txBody>
      </p:sp>
      <p:sp>
        <p:nvSpPr>
          <p:cNvPr id="10" name="TextBox 9"/>
          <p:cNvSpPr txBox="1"/>
          <p:nvPr/>
        </p:nvSpPr>
        <p:spPr>
          <a:xfrm>
            <a:off x="8302752" y="2898648"/>
            <a:ext cx="31546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Alignment response for both tilt signs</a:t>
            </a:r>
          </a:p>
        </p:txBody>
      </p:sp>
      <p:sp>
        <p:nvSpPr>
          <p:cNvPr id="11" name="TextBox 10"/>
          <p:cNvSpPr txBox="1"/>
          <p:nvPr/>
        </p:nvSpPr>
        <p:spPr>
          <a:xfrm>
            <a:off x="8302752" y="3922776"/>
            <a:ext cx="31546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Unequal response magnitudes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Effect of stiffness</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9</a:t>
            </a:r>
          </a:p>
        </p:txBody>
      </p:sp>
      <p:sp>
        <p:nvSpPr>
          <p:cNvPr id="8" name="TextBox 7"/>
          <p:cNvSpPr txBox="1"/>
          <p:nvPr/>
        </p:nvSpPr>
        <p:spPr>
          <a:xfrm>
            <a:off x="731520" y="113385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9" name="Figure — symbol_KR" descr="symbol KR: vector figure or typeset equation from the supplied thesis sources"/>
          <p:cNvPicPr>
            <a:picLocks noChangeAspect="1"/>
          </p:cNvPicPr>
          <p:nvPr/>
        </p:nvPicPr>
        <p:blipFill>
          <a:blip r:embed="rId3"/>
          <a:stretch>
            <a:fillRect/>
          </a:stretch>
        </p:blipFill>
        <p:spPr>
          <a:xfrm>
            <a:off x="941832" y="1115568"/>
            <a:ext cx="580730" cy="310896"/>
          </a:xfrm>
          <a:prstGeom prst="rect">
            <a:avLst/>
          </a:prstGeom>
        </p:spPr>
      </p:pic>
      <p:sp>
        <p:nvSpPr>
          <p:cNvPr id="10" name="TextBox 9"/>
          <p:cNvSpPr txBox="1"/>
          <p:nvPr/>
        </p:nvSpPr>
        <p:spPr>
          <a:xfrm>
            <a:off x="1984248" y="1097280"/>
            <a:ext cx="4142232" cy="676656"/>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resistance to tilting about the first tangent</a:t>
            </a:r>
          </a:p>
        </p:txBody>
      </p:sp>
      <p:sp>
        <p:nvSpPr>
          <p:cNvPr id="11" name="TextBox 10"/>
          <p:cNvSpPr txBox="1"/>
          <p:nvPr/>
        </p:nvSpPr>
        <p:spPr>
          <a:xfrm>
            <a:off x="6446520" y="113385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12" name="Figure — symbol_Kp" descr="symbol Kp: vector figure or typeset equation from the supplied thesis sources"/>
          <p:cNvPicPr>
            <a:picLocks noChangeAspect="1"/>
          </p:cNvPicPr>
          <p:nvPr/>
        </p:nvPicPr>
        <p:blipFill>
          <a:blip r:embed="rId4"/>
          <a:stretch>
            <a:fillRect/>
          </a:stretch>
        </p:blipFill>
        <p:spPr>
          <a:xfrm>
            <a:off x="6656832" y="1115568"/>
            <a:ext cx="537713" cy="310896"/>
          </a:xfrm>
          <a:prstGeom prst="rect">
            <a:avLst/>
          </a:prstGeom>
        </p:spPr>
      </p:pic>
      <p:sp>
        <p:nvSpPr>
          <p:cNvPr id="13" name="TextBox 12"/>
          <p:cNvSpPr txBox="1"/>
          <p:nvPr/>
        </p:nvSpPr>
        <p:spPr>
          <a:xfrm>
            <a:off x="7626096" y="1097280"/>
            <a:ext cx="3803904" cy="676656"/>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resistance to sliding along the second tangent</a:t>
            </a:r>
          </a:p>
        </p:txBody>
      </p:sp>
      <p:pic>
        <p:nvPicPr>
          <p:cNvPr id="14" name="Figure — rotation_stiffness" descr="rotation stiffness: vector figure or typeset equation from the supplied thesis sources"/>
          <p:cNvPicPr>
            <a:picLocks noChangeAspect="1"/>
          </p:cNvPicPr>
          <p:nvPr/>
        </p:nvPicPr>
        <p:blipFill>
          <a:blip r:embed="rId5"/>
          <a:stretch>
            <a:fillRect/>
          </a:stretch>
        </p:blipFill>
        <p:spPr>
          <a:xfrm>
            <a:off x="767776" y="1856231"/>
            <a:ext cx="5020695" cy="3163824"/>
          </a:xfrm>
          <a:prstGeom prst="rect">
            <a:avLst/>
          </a:prstGeom>
        </p:spPr>
      </p:pic>
      <p:pic>
        <p:nvPicPr>
          <p:cNvPr id="15" name="Figure — translation_stiffness" descr="translation stiffness: vector figure or typeset equation from the supplied thesis sources"/>
          <p:cNvPicPr>
            <a:picLocks noChangeAspect="1"/>
          </p:cNvPicPr>
          <p:nvPr/>
        </p:nvPicPr>
        <p:blipFill>
          <a:blip r:embed="rId6"/>
          <a:stretch>
            <a:fillRect/>
          </a:stretch>
        </p:blipFill>
        <p:spPr>
          <a:xfrm>
            <a:off x="6416198" y="1856231"/>
            <a:ext cx="5034979" cy="3163824"/>
          </a:xfrm>
          <a:prstGeom prst="rect">
            <a:avLst/>
          </a:prstGeom>
        </p:spPr>
      </p:pic>
      <p:sp>
        <p:nvSpPr>
          <p:cNvPr id="16" name="TextBox 15"/>
          <p:cNvSpPr txBox="1"/>
          <p:nvPr/>
        </p:nvSpPr>
        <p:spPr>
          <a:xfrm>
            <a:off x="777240" y="5230368"/>
            <a:ext cx="5120640" cy="65836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1">
                <a:solidFill>
                  <a:srgbClr val="141414"/>
                </a:solidFill>
                <a:latin typeface="Arial"/>
              </a:rPr>
              <a:t>Rotational stiffness: 63.9% lower response</a:t>
            </a:r>
          </a:p>
        </p:txBody>
      </p:sp>
      <p:sp>
        <p:nvSpPr>
          <p:cNvPr id="17" name="TextBox 16"/>
          <p:cNvSpPr txBox="1"/>
          <p:nvPr/>
        </p:nvSpPr>
        <p:spPr>
          <a:xfrm>
            <a:off x="6455664" y="5230368"/>
            <a:ext cx="5047488" cy="65836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1">
                <a:solidFill>
                  <a:srgbClr val="141414"/>
                </a:solidFill>
                <a:latin typeface="Arial"/>
              </a:rPr>
              <a:t>Tangential stiffness: 0.4% response span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Effect of CoC position</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10</a:t>
            </a:r>
          </a:p>
        </p:txBody>
      </p:sp>
      <p:pic>
        <p:nvPicPr>
          <p:cNvPr id="8" name="Figure — CoC_position" descr="CoC position: vector figure or typeset equation from the supplied thesis sources"/>
          <p:cNvPicPr>
            <a:picLocks noChangeAspect="1"/>
          </p:cNvPicPr>
          <p:nvPr/>
        </p:nvPicPr>
        <p:blipFill>
          <a:blip r:embed="rId3"/>
          <a:stretch>
            <a:fillRect/>
          </a:stretch>
        </p:blipFill>
        <p:spPr>
          <a:xfrm>
            <a:off x="677684" y="1188720"/>
            <a:ext cx="7166838" cy="4718304"/>
          </a:xfrm>
          <a:prstGeom prst="rect">
            <a:avLst/>
          </a:prstGeom>
        </p:spPr>
      </p:pic>
      <p:sp>
        <p:nvSpPr>
          <p:cNvPr id="9" name="TextBox 8"/>
          <p:cNvSpPr txBox="1"/>
          <p:nvPr/>
        </p:nvSpPr>
        <p:spPr>
          <a:xfrm>
            <a:off x="8275320" y="1371600"/>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10" name="Figure — symbol_rct2" descr="symbol rct2: vector figure or typeset equation from the supplied thesis sources"/>
          <p:cNvPicPr>
            <a:picLocks noChangeAspect="1"/>
          </p:cNvPicPr>
          <p:nvPr/>
        </p:nvPicPr>
        <p:blipFill>
          <a:blip r:embed="rId4"/>
          <a:stretch>
            <a:fillRect/>
          </a:stretch>
        </p:blipFill>
        <p:spPr>
          <a:xfrm>
            <a:off x="8485632" y="1353312"/>
            <a:ext cx="535030" cy="310896"/>
          </a:xfrm>
          <a:prstGeom prst="rect">
            <a:avLst/>
          </a:prstGeom>
        </p:spPr>
      </p:pic>
      <p:sp>
        <p:nvSpPr>
          <p:cNvPr id="11" name="TextBox 10"/>
          <p:cNvSpPr txBox="1"/>
          <p:nvPr/>
        </p:nvSpPr>
        <p:spPr>
          <a:xfrm>
            <a:off x="9436608" y="1335024"/>
            <a:ext cx="2249424" cy="868680"/>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CoC displacement along the second tangent</a:t>
            </a:r>
          </a:p>
        </p:txBody>
      </p:sp>
      <p:sp>
        <p:nvSpPr>
          <p:cNvPr id="12" name="TextBox 11"/>
          <p:cNvSpPr txBox="1"/>
          <p:nvPr/>
        </p:nvSpPr>
        <p:spPr>
          <a:xfrm>
            <a:off x="8275320" y="2761488"/>
            <a:ext cx="3200400" cy="78638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Selected side: about 4% higher response</a:t>
            </a:r>
          </a:p>
        </p:txBody>
      </p:sp>
      <p:sp>
        <p:nvSpPr>
          <p:cNvPr id="13" name="TextBox 12"/>
          <p:cNvSpPr txBox="1"/>
          <p:nvPr/>
        </p:nvSpPr>
        <p:spPr>
          <a:xfrm>
            <a:off x="8275320" y="3694176"/>
            <a:ext cx="3200400" cy="78638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Opposite side: 98–99% lower response</a:t>
            </a:r>
          </a:p>
        </p:txBody>
      </p:sp>
      <p:sp>
        <p:nvSpPr>
          <p:cNvPr id="14" name="TextBox 13"/>
          <p:cNvSpPr txBox="1"/>
          <p:nvPr/>
        </p:nvSpPr>
        <p:spPr>
          <a:xfrm>
            <a:off x="8275320" y="4626864"/>
            <a:ext cx="3200400" cy="78638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Required side reverses with the entry tilt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Contact response and interaction moment</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11</a:t>
            </a:r>
          </a:p>
        </p:txBody>
      </p:sp>
      <p:sp>
        <p:nvSpPr>
          <p:cNvPr id="8" name="TextBox 7"/>
          <p:cNvSpPr txBox="1"/>
          <p:nvPr/>
        </p:nvSpPr>
        <p:spPr>
          <a:xfrm>
            <a:off x="768096" y="1170432"/>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9" name="Figure — symbol_t" descr="symbol t: vector figure or typeset equation from the supplied thesis sources"/>
          <p:cNvPicPr>
            <a:picLocks noChangeAspect="1"/>
          </p:cNvPicPr>
          <p:nvPr/>
        </p:nvPicPr>
        <p:blipFill>
          <a:blip r:embed="rId3"/>
          <a:stretch>
            <a:fillRect/>
          </a:stretch>
        </p:blipFill>
        <p:spPr>
          <a:xfrm>
            <a:off x="978408" y="1152144"/>
            <a:ext cx="227811" cy="310896"/>
          </a:xfrm>
          <a:prstGeom prst="rect">
            <a:avLst/>
          </a:prstGeom>
        </p:spPr>
      </p:pic>
      <p:sp>
        <p:nvSpPr>
          <p:cNvPr id="10" name="TextBox 9"/>
          <p:cNvSpPr txBox="1"/>
          <p:nvPr/>
        </p:nvSpPr>
        <p:spPr>
          <a:xfrm>
            <a:off x="1700784" y="1133856"/>
            <a:ext cx="4370831" cy="521207"/>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elapsed contact time [s]</a:t>
            </a:r>
          </a:p>
        </p:txBody>
      </p:sp>
      <p:sp>
        <p:nvSpPr>
          <p:cNvPr id="11" name="TextBox 10"/>
          <p:cNvSpPr txBox="1"/>
          <p:nvPr/>
        </p:nvSpPr>
        <p:spPr>
          <a:xfrm>
            <a:off x="6391656" y="1170432"/>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12" name="Figure — symbol_Mest" descr="symbol Mest: vector figure or typeset equation from the supplied thesis sources"/>
          <p:cNvPicPr>
            <a:picLocks noChangeAspect="1"/>
          </p:cNvPicPr>
          <p:nvPr/>
        </p:nvPicPr>
        <p:blipFill>
          <a:blip r:embed="rId4"/>
          <a:stretch>
            <a:fillRect/>
          </a:stretch>
        </p:blipFill>
        <p:spPr>
          <a:xfrm>
            <a:off x="6601968" y="1152144"/>
            <a:ext cx="682406" cy="310896"/>
          </a:xfrm>
          <a:prstGeom prst="rect">
            <a:avLst/>
          </a:prstGeom>
        </p:spPr>
      </p:pic>
      <p:sp>
        <p:nvSpPr>
          <p:cNvPr id="13" name="TextBox 12"/>
          <p:cNvSpPr txBox="1"/>
          <p:nvPr/>
        </p:nvSpPr>
        <p:spPr>
          <a:xfrm>
            <a:off x="7845552" y="1133856"/>
            <a:ext cx="3529584" cy="676656"/>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model-estimated moment about the first tangent</a:t>
            </a:r>
          </a:p>
        </p:txBody>
      </p:sp>
      <p:pic>
        <p:nvPicPr>
          <p:cNvPr id="14" name="Figure — contact_response_time" descr="contact response time: vector figure or typeset equation from the supplied thesis sources"/>
          <p:cNvPicPr>
            <a:picLocks noChangeAspect="1"/>
          </p:cNvPicPr>
          <p:nvPr/>
        </p:nvPicPr>
        <p:blipFill>
          <a:blip r:embed="rId5"/>
          <a:stretch>
            <a:fillRect/>
          </a:stretch>
        </p:blipFill>
        <p:spPr>
          <a:xfrm>
            <a:off x="457200" y="2056218"/>
            <a:ext cx="5650992" cy="2123771"/>
          </a:xfrm>
          <a:prstGeom prst="rect">
            <a:avLst/>
          </a:prstGeom>
        </p:spPr>
      </p:pic>
      <p:pic>
        <p:nvPicPr>
          <p:cNvPr id="15" name="Figure — contact_moment_time" descr="contact moment time: vector figure or typeset equation from the supplied thesis sources"/>
          <p:cNvPicPr>
            <a:picLocks noChangeAspect="1"/>
          </p:cNvPicPr>
          <p:nvPr/>
        </p:nvPicPr>
        <p:blipFill>
          <a:blip r:embed="rId6"/>
          <a:stretch>
            <a:fillRect/>
          </a:stretch>
        </p:blipFill>
        <p:spPr>
          <a:xfrm>
            <a:off x="6181344" y="2139767"/>
            <a:ext cx="5522976" cy="1956673"/>
          </a:xfrm>
          <a:prstGeom prst="rect">
            <a:avLst/>
          </a:prstGeom>
        </p:spPr>
      </p:pic>
      <p:pic>
        <p:nvPicPr>
          <p:cNvPr id="16" name="Figure — contact_legend" descr="contact legend: vector figure or typeset equation from the supplied thesis sources"/>
          <p:cNvPicPr>
            <a:picLocks noChangeAspect="1"/>
          </p:cNvPicPr>
          <p:nvPr/>
        </p:nvPicPr>
        <p:blipFill>
          <a:blip r:embed="rId7"/>
          <a:stretch>
            <a:fillRect/>
          </a:stretch>
        </p:blipFill>
        <p:spPr>
          <a:xfrm>
            <a:off x="2987961" y="4489704"/>
            <a:ext cx="6039293" cy="365760"/>
          </a:xfrm>
          <a:prstGeom prst="rect">
            <a:avLst/>
          </a:prstGeom>
        </p:spPr>
      </p:pic>
      <p:sp>
        <p:nvSpPr>
          <p:cNvPr id="17" name="TextBox 16"/>
          <p:cNvSpPr txBox="1"/>
          <p:nvPr/>
        </p:nvSpPr>
        <p:spPr>
          <a:xfrm>
            <a:off x="804672" y="5120640"/>
            <a:ext cx="10789920" cy="47548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Similar normal-force levels across the three positions</a:t>
            </a:r>
          </a:p>
        </p:txBody>
      </p:sp>
      <p:sp>
        <p:nvSpPr>
          <p:cNvPr id="18" name="TextBox 17"/>
          <p:cNvSpPr txBox="1"/>
          <p:nvPr/>
        </p:nvSpPr>
        <p:spPr>
          <a:xfrm>
            <a:off x="804672" y="5632704"/>
            <a:ext cx="10789920" cy="47548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Moment reversal; selected side reaches its steady response about 1.3 s earlier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Secondary study: null-space motion</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12</a:t>
            </a:r>
          </a:p>
        </p:txBody>
      </p:sp>
      <p:sp>
        <p:nvSpPr>
          <p:cNvPr id="8" name="TextBox 7"/>
          <p:cNvSpPr txBox="1"/>
          <p:nvPr/>
        </p:nvSpPr>
        <p:spPr>
          <a:xfrm>
            <a:off x="731520" y="1115568"/>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9" name="Figure — symbol_EN" descr="symbol EN: vector figure or typeset equation from the supplied thesis sources"/>
          <p:cNvPicPr>
            <a:picLocks noChangeAspect="1"/>
          </p:cNvPicPr>
          <p:nvPr/>
        </p:nvPicPr>
        <p:blipFill>
          <a:blip r:embed="rId3"/>
          <a:stretch>
            <a:fillRect/>
          </a:stretch>
        </p:blipFill>
        <p:spPr>
          <a:xfrm>
            <a:off x="941832" y="1097280"/>
            <a:ext cx="452212" cy="310896"/>
          </a:xfrm>
          <a:prstGeom prst="rect">
            <a:avLst/>
          </a:prstGeom>
        </p:spPr>
      </p:pic>
      <p:sp>
        <p:nvSpPr>
          <p:cNvPr id="10" name="TextBox 9"/>
          <p:cNvSpPr txBox="1"/>
          <p:nvPr/>
        </p:nvSpPr>
        <p:spPr>
          <a:xfrm>
            <a:off x="1801368" y="1078992"/>
            <a:ext cx="4690872" cy="512064"/>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cumulative projected joint motion</a:t>
            </a:r>
          </a:p>
        </p:txBody>
      </p:sp>
      <p:sp>
        <p:nvSpPr>
          <p:cNvPr id="11" name="TextBox 10"/>
          <p:cNvSpPr txBox="1"/>
          <p:nvPr/>
        </p:nvSpPr>
        <p:spPr>
          <a:xfrm>
            <a:off x="731520" y="172821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a:t>
            </a:r>
          </a:p>
        </p:txBody>
      </p:sp>
      <p:pic>
        <p:nvPicPr>
          <p:cNvPr id="12" name="Figure — symbol_dnull" descr="symbol dnull: vector figure or typeset equation from the supplied thesis sources"/>
          <p:cNvPicPr>
            <a:picLocks noChangeAspect="1"/>
          </p:cNvPicPr>
          <p:nvPr/>
        </p:nvPicPr>
        <p:blipFill>
          <a:blip r:embed="rId4"/>
          <a:stretch>
            <a:fillRect/>
          </a:stretch>
        </p:blipFill>
        <p:spPr>
          <a:xfrm>
            <a:off x="941832" y="1709928"/>
            <a:ext cx="520319" cy="310896"/>
          </a:xfrm>
          <a:prstGeom prst="rect">
            <a:avLst/>
          </a:prstGeom>
        </p:spPr>
      </p:pic>
      <p:sp>
        <p:nvSpPr>
          <p:cNvPr id="13" name="TextBox 12"/>
          <p:cNvSpPr txBox="1"/>
          <p:nvPr/>
        </p:nvSpPr>
        <p:spPr>
          <a:xfrm>
            <a:off x="1801368" y="1691640"/>
            <a:ext cx="4690872" cy="512064"/>
          </a:xfrm>
          <a:prstGeom prst="rect">
            <a:avLst/>
          </a:prstGeom>
          <a:noFill/>
        </p:spPr>
        <p:txBody>
          <a:bodyPr wrap="square" lIns="0" rIns="0" tIns="0" bIns="0" anchor="t">
            <a:spAutoFit/>
          </a:bodyPr>
          <a:lstStyle/>
          <a:p>
            <a:pPr algn="l">
              <a:lnSpc>
                <a:spcPct val="106000"/>
              </a:lnSpc>
              <a:spcBef>
                <a:spcPts val="0"/>
              </a:spcBef>
              <a:spcAft>
                <a:spcPts val="0"/>
              </a:spcAft>
            </a:pPr>
            <a:r>
              <a:rPr sz="1650" b="0">
                <a:solidFill>
                  <a:srgbClr val="141414"/>
                </a:solidFill>
                <a:latin typeface="Arial"/>
              </a:rPr>
              <a:t>null-space damping coefficient</a:t>
            </a:r>
          </a:p>
        </p:txBody>
      </p:sp>
      <p:pic>
        <p:nvPicPr>
          <p:cNvPr id="14" name="Figure — nullspace_damping" descr="nullspace damping: vector figure or typeset equation from the supplied thesis sources"/>
          <p:cNvPicPr>
            <a:picLocks noChangeAspect="1"/>
          </p:cNvPicPr>
          <p:nvPr/>
        </p:nvPicPr>
        <p:blipFill>
          <a:blip r:embed="rId5"/>
          <a:stretch>
            <a:fillRect/>
          </a:stretch>
        </p:blipFill>
        <p:spPr>
          <a:xfrm>
            <a:off x="502920" y="2428537"/>
            <a:ext cx="6766560" cy="2997621"/>
          </a:xfrm>
          <a:prstGeom prst="rect">
            <a:avLst/>
          </a:prstGeom>
        </p:spPr>
      </p:pic>
      <p:sp>
        <p:nvSpPr>
          <p:cNvPr id="15" name="TextBox 14"/>
          <p:cNvSpPr txBox="1"/>
          <p:nvPr/>
        </p:nvSpPr>
        <p:spPr>
          <a:xfrm>
            <a:off x="7680960" y="1325880"/>
            <a:ext cx="320040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Null space</a:t>
            </a:r>
          </a:p>
        </p:txBody>
      </p:sp>
      <p:sp>
        <p:nvSpPr>
          <p:cNvPr id="16" name="TextBox 15"/>
          <p:cNvSpPr txBox="1"/>
          <p:nvPr/>
        </p:nvSpPr>
        <p:spPr>
          <a:xfrm>
            <a:off x="7680960" y="1783080"/>
            <a:ext cx="3584448" cy="822960"/>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Extra joint motion while the tool pose is held</a:t>
            </a:r>
          </a:p>
        </p:txBody>
      </p:sp>
      <p:sp>
        <p:nvSpPr>
          <p:cNvPr id="17" name="TextBox 16"/>
          <p:cNvSpPr txBox="1"/>
          <p:nvPr/>
        </p:nvSpPr>
        <p:spPr>
          <a:xfrm>
            <a:off x="7680960" y="2962656"/>
            <a:ext cx="3584448"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Damping: about 25% less total motion</a:t>
            </a:r>
          </a:p>
        </p:txBody>
      </p:sp>
      <p:sp>
        <p:nvSpPr>
          <p:cNvPr id="18" name="TextBox 17"/>
          <p:cNvSpPr txBox="1"/>
          <p:nvPr/>
        </p:nvSpPr>
        <p:spPr>
          <a:xfrm>
            <a:off x="7680960" y="3840480"/>
            <a:ext cx="3584448"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Conditioning: almost zero final drift</a:t>
            </a:r>
          </a:p>
        </p:txBody>
      </p:sp>
      <p:sp>
        <p:nvSpPr>
          <p:cNvPr id="19" name="TextBox 18"/>
          <p:cNvSpPr txBox="1"/>
          <p:nvPr/>
        </p:nvSpPr>
        <p:spPr>
          <a:xfrm>
            <a:off x="7680960" y="4718304"/>
            <a:ext cx="3584448"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Stronger conditioning: more back-and-forth motion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Scope and next steps</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13</a:t>
            </a:r>
          </a:p>
        </p:txBody>
      </p:sp>
      <p:sp>
        <p:nvSpPr>
          <p:cNvPr id="8" name="TextBox 7"/>
          <p:cNvSpPr txBox="1"/>
          <p:nvPr/>
        </p:nvSpPr>
        <p:spPr>
          <a:xfrm>
            <a:off x="914400" y="1444752"/>
            <a:ext cx="448056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Scope</a:t>
            </a:r>
          </a:p>
        </p:txBody>
      </p:sp>
      <p:sp>
        <p:nvSpPr>
          <p:cNvPr id="9" name="TextBox 8"/>
          <p:cNvSpPr txBox="1"/>
          <p:nvPr/>
        </p:nvSpPr>
        <p:spPr>
          <a:xfrm>
            <a:off x="914400" y="2002536"/>
            <a:ext cx="47548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900" b="0">
                <a:solidFill>
                  <a:srgbClr val="141414"/>
                </a:solidFill>
                <a:latin typeface="Arial"/>
              </a:rPr>
              <a:t>One tool, plane and robot configuration</a:t>
            </a:r>
          </a:p>
        </p:txBody>
      </p:sp>
      <p:sp>
        <p:nvSpPr>
          <p:cNvPr id="10" name="TextBox 9"/>
          <p:cNvSpPr txBox="1"/>
          <p:nvPr/>
        </p:nvSpPr>
        <p:spPr>
          <a:xfrm>
            <a:off x="914400" y="2980944"/>
            <a:ext cx="47548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900" b="0">
                <a:solidFill>
                  <a:srgbClr val="141414"/>
                </a:solidFill>
                <a:latin typeface="Arial"/>
              </a:rPr>
              <a:t>Tool angle inferred from robot pose</a:t>
            </a:r>
          </a:p>
        </p:txBody>
      </p:sp>
      <p:sp>
        <p:nvSpPr>
          <p:cNvPr id="11" name="TextBox 10"/>
          <p:cNvSpPr txBox="1"/>
          <p:nvPr/>
        </p:nvSpPr>
        <p:spPr>
          <a:xfrm>
            <a:off x="914400" y="3959352"/>
            <a:ext cx="47548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900" b="0">
                <a:solidFill>
                  <a:srgbClr val="141414"/>
                </a:solidFill>
                <a:latin typeface="Arial"/>
              </a:rPr>
              <a:t>Evaluation focused on contact entry</a:t>
            </a:r>
          </a:p>
        </p:txBody>
      </p:sp>
      <p:sp>
        <p:nvSpPr>
          <p:cNvPr id="12" name="TextBox 11"/>
          <p:cNvSpPr txBox="1"/>
          <p:nvPr/>
        </p:nvSpPr>
        <p:spPr>
          <a:xfrm>
            <a:off x="6428232" y="1444752"/>
            <a:ext cx="4480560" cy="292608"/>
          </a:xfrm>
          <a:prstGeom prst="rect">
            <a:avLst/>
          </a:prstGeom>
          <a:noFill/>
        </p:spPr>
        <p:txBody>
          <a:bodyPr wrap="square" lIns="0" rIns="0" tIns="0" bIns="0" anchor="t">
            <a:spAutoFit/>
          </a:bodyPr>
          <a:lstStyle/>
          <a:p>
            <a:pPr algn="l">
              <a:lnSpc>
                <a:spcPct val="106000"/>
              </a:lnSpc>
              <a:spcBef>
                <a:spcPts val="0"/>
              </a:spcBef>
              <a:spcAft>
                <a:spcPts val="0"/>
              </a:spcAft>
            </a:pPr>
            <a:r>
              <a:rPr sz="1250" b="1">
                <a:solidFill>
                  <a:srgbClr val="141414"/>
                </a:solidFill>
                <a:latin typeface="Arial"/>
              </a:rPr>
              <a:t>Next steps</a:t>
            </a:r>
          </a:p>
        </p:txBody>
      </p:sp>
      <p:sp>
        <p:nvSpPr>
          <p:cNvPr id="13" name="TextBox 12"/>
          <p:cNvSpPr txBox="1"/>
          <p:nvPr/>
        </p:nvSpPr>
        <p:spPr>
          <a:xfrm>
            <a:off x="6428232" y="2002536"/>
            <a:ext cx="47548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900" b="0">
                <a:solidFill>
                  <a:srgbClr val="141414"/>
                </a:solidFill>
                <a:latin typeface="Arial"/>
              </a:rPr>
              <a:t>Independent tool-angle measurement</a:t>
            </a:r>
          </a:p>
        </p:txBody>
      </p:sp>
      <p:sp>
        <p:nvSpPr>
          <p:cNvPr id="14" name="TextBox 13"/>
          <p:cNvSpPr txBox="1"/>
          <p:nvPr/>
        </p:nvSpPr>
        <p:spPr>
          <a:xfrm>
            <a:off x="6428232" y="2980944"/>
            <a:ext cx="47548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900" b="0">
                <a:solidFill>
                  <a:srgbClr val="141414"/>
                </a:solidFill>
                <a:latin typeface="Arial"/>
              </a:rPr>
              <a:t>Select the CoC from the entry tilt</a:t>
            </a:r>
          </a:p>
        </p:txBody>
      </p:sp>
      <p:sp>
        <p:nvSpPr>
          <p:cNvPr id="15" name="TextBox 14"/>
          <p:cNvSpPr txBox="1"/>
          <p:nvPr/>
        </p:nvSpPr>
        <p:spPr>
          <a:xfrm>
            <a:off x="6428232" y="3959352"/>
            <a:ext cx="4754880" cy="795528"/>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900" b="0">
                <a:solidFill>
                  <a:srgbClr val="141414"/>
                </a:solidFill>
                <a:latin typeface="Arial"/>
              </a:rPr>
              <a:t>Return to the TCP; test sustained grinding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Conclusion</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14</a:t>
            </a:r>
          </a:p>
        </p:txBody>
      </p:sp>
      <p:sp>
        <p:nvSpPr>
          <p:cNvPr id="8" name="TextBox 7"/>
          <p:cNvSpPr txBox="1"/>
          <p:nvPr/>
        </p:nvSpPr>
        <p:spPr>
          <a:xfrm>
            <a:off x="868680" y="1490472"/>
            <a:ext cx="5833872" cy="78638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2000" b="0">
                <a:solidFill>
                  <a:srgbClr val="141414"/>
                </a:solidFill>
                <a:latin typeface="Arial"/>
              </a:rPr>
              <a:t>Passive alignment through Cartesian impedance</a:t>
            </a:r>
          </a:p>
        </p:txBody>
      </p:sp>
      <p:sp>
        <p:nvSpPr>
          <p:cNvPr id="9" name="TextBox 8"/>
          <p:cNvSpPr txBox="1"/>
          <p:nvPr/>
        </p:nvSpPr>
        <p:spPr>
          <a:xfrm>
            <a:off x="868680" y="2404872"/>
            <a:ext cx="5833872" cy="78638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2000" b="0">
                <a:solidFill>
                  <a:srgbClr val="141414"/>
                </a:solidFill>
                <a:latin typeface="Arial"/>
              </a:rPr>
              <a:t>Rotational stiffness sets response magnitude</a:t>
            </a:r>
          </a:p>
        </p:txBody>
      </p:sp>
      <p:sp>
        <p:nvSpPr>
          <p:cNvPr id="10" name="TextBox 9"/>
          <p:cNvSpPr txBox="1"/>
          <p:nvPr/>
        </p:nvSpPr>
        <p:spPr>
          <a:xfrm>
            <a:off x="868680" y="3319272"/>
            <a:ext cx="5833872" cy="78638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2000" b="0">
                <a:solidFill>
                  <a:srgbClr val="141414"/>
                </a:solidFill>
                <a:latin typeface="Arial"/>
              </a:rPr>
              <a:t>CoC displacement creates a preferred direction</a:t>
            </a:r>
          </a:p>
        </p:txBody>
      </p:sp>
      <p:sp>
        <p:nvSpPr>
          <p:cNvPr id="11" name="TextBox 10"/>
          <p:cNvSpPr txBox="1"/>
          <p:nvPr/>
        </p:nvSpPr>
        <p:spPr>
          <a:xfrm>
            <a:off x="868680" y="4233672"/>
            <a:ext cx="5833872" cy="78638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2000" b="0">
                <a:solidFill>
                  <a:srgbClr val="141414"/>
                </a:solidFill>
                <a:latin typeface="Arial"/>
              </a:rPr>
              <a:t>Adaptive displacement: next step to evaluate</a:t>
            </a:r>
          </a:p>
        </p:txBody>
      </p:sp>
      <p:sp>
        <p:nvSpPr>
          <p:cNvPr id="12" name="TextBox 11"/>
          <p:cNvSpPr txBox="1"/>
          <p:nvPr/>
        </p:nvSpPr>
        <p:spPr>
          <a:xfrm>
            <a:off x="7315200" y="2057400"/>
            <a:ext cx="3383280" cy="502920"/>
          </a:xfrm>
          <a:prstGeom prst="rect">
            <a:avLst/>
          </a:prstGeom>
          <a:noFill/>
        </p:spPr>
        <p:txBody>
          <a:bodyPr wrap="square" lIns="0" rIns="0" tIns="0" bIns="0" anchor="t">
            <a:spAutoFit/>
          </a:bodyPr>
          <a:lstStyle/>
          <a:p>
            <a:pPr algn="ctr">
              <a:lnSpc>
                <a:spcPct val="106000"/>
              </a:lnSpc>
              <a:spcBef>
                <a:spcPts val="0"/>
              </a:spcBef>
              <a:spcAft>
                <a:spcPts val="0"/>
              </a:spcAft>
            </a:pPr>
            <a:r>
              <a:rPr sz="2400" b="1">
                <a:solidFill>
                  <a:srgbClr val="141414"/>
                </a:solidFill>
                <a:latin typeface="Arial"/>
              </a:rPr>
              <a:t>Thank you</a:t>
            </a:r>
          </a:p>
        </p:txBody>
      </p:sp>
      <p:sp>
        <p:nvSpPr>
          <p:cNvPr id="13" name="TextBox 12"/>
          <p:cNvSpPr txBox="1"/>
          <p:nvPr/>
        </p:nvSpPr>
        <p:spPr>
          <a:xfrm>
            <a:off x="7315200" y="2724912"/>
            <a:ext cx="3383280" cy="384048"/>
          </a:xfrm>
          <a:prstGeom prst="rect">
            <a:avLst/>
          </a:prstGeom>
          <a:noFill/>
        </p:spPr>
        <p:txBody>
          <a:bodyPr wrap="square" lIns="0" rIns="0" tIns="0" bIns="0" anchor="t">
            <a:spAutoFit/>
          </a:bodyPr>
          <a:lstStyle/>
          <a:p>
            <a:pPr algn="ctr">
              <a:lnSpc>
                <a:spcPct val="106000"/>
              </a:lnSpc>
              <a:spcBef>
                <a:spcPts val="0"/>
              </a:spcBef>
              <a:spcAft>
                <a:spcPts val="0"/>
              </a:spcAft>
            </a:pPr>
            <a:r>
              <a:rPr sz="1200" b="0">
                <a:solidFill>
                  <a:srgbClr val="696969"/>
                </a:solidFill>
                <a:latin typeface="Arial"/>
              </a:rPr>
              <a:t>Questions and discussion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Commanded and estimated wrench</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B1</a:t>
            </a:r>
          </a:p>
        </p:txBody>
      </p:sp>
      <p:pic>
        <p:nvPicPr>
          <p:cNvPr id="8" name="Figure — wrench_comparison" descr="wrench comparison: vector figure or typeset equation from the supplied thesis sources"/>
          <p:cNvPicPr>
            <a:picLocks noChangeAspect="1"/>
          </p:cNvPicPr>
          <p:nvPr/>
        </p:nvPicPr>
        <p:blipFill>
          <a:blip r:embed="rId3"/>
          <a:stretch>
            <a:fillRect/>
          </a:stretch>
        </p:blipFill>
        <p:spPr>
          <a:xfrm>
            <a:off x="530352" y="1263770"/>
            <a:ext cx="6711696" cy="4257306"/>
          </a:xfrm>
          <a:prstGeom prst="rect">
            <a:avLst/>
          </a:prstGeom>
        </p:spPr>
      </p:pic>
      <p:sp>
        <p:nvSpPr>
          <p:cNvPr id="9" name="TextBox 8"/>
          <p:cNvSpPr txBox="1"/>
          <p:nvPr/>
        </p:nvSpPr>
        <p:spPr>
          <a:xfrm>
            <a:off x="7598664" y="1380744"/>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0" name="Figure — symbol_FN" descr="symbol FN: vector figure or typeset equation from the supplied thesis sources"/>
          <p:cNvPicPr>
            <a:picLocks noChangeAspect="1"/>
          </p:cNvPicPr>
          <p:nvPr/>
        </p:nvPicPr>
        <p:blipFill>
          <a:blip r:embed="rId4"/>
          <a:stretch>
            <a:fillRect/>
          </a:stretch>
        </p:blipFill>
        <p:spPr>
          <a:xfrm>
            <a:off x="7808976" y="1362456"/>
            <a:ext cx="371770" cy="310896"/>
          </a:xfrm>
          <a:prstGeom prst="rect">
            <a:avLst/>
          </a:prstGeom>
        </p:spPr>
      </p:pic>
      <p:sp>
        <p:nvSpPr>
          <p:cNvPr id="11" name="TextBox 10"/>
          <p:cNvSpPr txBox="1"/>
          <p:nvPr/>
        </p:nvSpPr>
        <p:spPr>
          <a:xfrm>
            <a:off x="8577072" y="1344168"/>
            <a:ext cx="2724911" cy="640080"/>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commanded normal-force component</a:t>
            </a:r>
          </a:p>
        </p:txBody>
      </p:sp>
      <p:sp>
        <p:nvSpPr>
          <p:cNvPr id="12" name="TextBox 11"/>
          <p:cNvSpPr txBox="1"/>
          <p:nvPr/>
        </p:nvSpPr>
        <p:spPr>
          <a:xfrm>
            <a:off x="7598664" y="218541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3" name="Figure — symbol_M" descr="symbol M: vector figure or typeset equation from the supplied thesis sources"/>
          <p:cNvPicPr>
            <a:picLocks noChangeAspect="1"/>
          </p:cNvPicPr>
          <p:nvPr/>
        </p:nvPicPr>
        <p:blipFill>
          <a:blip r:embed="rId5"/>
          <a:stretch>
            <a:fillRect/>
          </a:stretch>
        </p:blipFill>
        <p:spPr>
          <a:xfrm>
            <a:off x="7808976" y="2167128"/>
            <a:ext cx="451300" cy="310896"/>
          </a:xfrm>
          <a:prstGeom prst="rect">
            <a:avLst/>
          </a:prstGeom>
        </p:spPr>
      </p:pic>
      <p:sp>
        <p:nvSpPr>
          <p:cNvPr id="14" name="TextBox 13"/>
          <p:cNvSpPr txBox="1"/>
          <p:nvPr/>
        </p:nvSpPr>
        <p:spPr>
          <a:xfrm>
            <a:off x="8577072" y="2148840"/>
            <a:ext cx="2724911" cy="768096"/>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commanded moment about the first tangent</a:t>
            </a:r>
          </a:p>
        </p:txBody>
      </p:sp>
      <p:sp>
        <p:nvSpPr>
          <p:cNvPr id="15" name="TextBox 14"/>
          <p:cNvSpPr txBox="1"/>
          <p:nvPr/>
        </p:nvSpPr>
        <p:spPr>
          <a:xfrm>
            <a:off x="7598664" y="3127248"/>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6" name="Figure — symbol_est" descr="symbol est: vector figure or typeset equation from the supplied thesis sources"/>
          <p:cNvPicPr>
            <a:picLocks noChangeAspect="1"/>
          </p:cNvPicPr>
          <p:nvPr/>
        </p:nvPicPr>
        <p:blipFill>
          <a:blip r:embed="rId6"/>
          <a:stretch>
            <a:fillRect/>
          </a:stretch>
        </p:blipFill>
        <p:spPr>
          <a:xfrm>
            <a:off x="7808976" y="3108960"/>
            <a:ext cx="474384" cy="310896"/>
          </a:xfrm>
          <a:prstGeom prst="rect">
            <a:avLst/>
          </a:prstGeom>
        </p:spPr>
      </p:pic>
      <p:sp>
        <p:nvSpPr>
          <p:cNvPr id="17" name="TextBox 16"/>
          <p:cNvSpPr txBox="1"/>
          <p:nvPr/>
        </p:nvSpPr>
        <p:spPr>
          <a:xfrm>
            <a:off x="8577072" y="3090672"/>
            <a:ext cx="2724911" cy="640080"/>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model estimate from the robot</a:t>
            </a:r>
          </a:p>
        </p:txBody>
      </p:sp>
      <p:sp>
        <p:nvSpPr>
          <p:cNvPr id="18" name="TextBox 17"/>
          <p:cNvSpPr txBox="1"/>
          <p:nvPr/>
        </p:nvSpPr>
        <p:spPr>
          <a:xfrm>
            <a:off x="7598664" y="4078224"/>
            <a:ext cx="3703320" cy="51206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700" b="0">
                <a:solidFill>
                  <a:srgbClr val="141414"/>
                </a:solidFill>
                <a:latin typeface="Arial"/>
              </a:rPr>
              <a:t>Stationary force difference: 2.32%</a:t>
            </a:r>
          </a:p>
        </p:txBody>
      </p:sp>
      <p:sp>
        <p:nvSpPr>
          <p:cNvPr id="19" name="TextBox 18"/>
          <p:cNvSpPr txBox="1"/>
          <p:nvPr/>
        </p:nvSpPr>
        <p:spPr>
          <a:xfrm>
            <a:off x="7598664" y="4626864"/>
            <a:ext cx="3703320" cy="51206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700" b="0">
                <a:solidFill>
                  <a:srgbClr val="141414"/>
                </a:solidFill>
                <a:latin typeface="Arial"/>
              </a:rPr>
              <a:t>Stationary moment difference: 4.87%</a:t>
            </a:r>
          </a:p>
        </p:txBody>
      </p:sp>
      <p:sp>
        <p:nvSpPr>
          <p:cNvPr id="20" name="TextBox 19"/>
          <p:cNvSpPr txBox="1"/>
          <p:nvPr/>
        </p:nvSpPr>
        <p:spPr>
          <a:xfrm>
            <a:off x="7598664" y="5175504"/>
            <a:ext cx="3703320" cy="512064"/>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700" b="0">
                <a:solidFill>
                  <a:srgbClr val="141414"/>
                </a:solidFill>
                <a:latin typeface="Arial"/>
              </a:rPr>
              <a:t>Supplementary plausibility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Normal-force plausibility assessment</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B2</a:t>
            </a:r>
          </a:p>
        </p:txBody>
      </p:sp>
      <p:pic>
        <p:nvPicPr>
          <p:cNvPr id="8" name="Figure — equation_force_qs" descr="equation force qs: vector figure or typeset equation from the supplied thesis sources"/>
          <p:cNvPicPr>
            <a:picLocks noChangeAspect="1"/>
          </p:cNvPicPr>
          <p:nvPr/>
        </p:nvPicPr>
        <p:blipFill>
          <a:blip r:embed="rId3"/>
          <a:stretch>
            <a:fillRect/>
          </a:stretch>
        </p:blipFill>
        <p:spPr>
          <a:xfrm>
            <a:off x="2063528" y="1033271"/>
            <a:ext cx="4029390" cy="576072"/>
          </a:xfrm>
          <a:prstGeom prst="rect">
            <a:avLst/>
          </a:prstGeom>
        </p:spPr>
      </p:pic>
      <p:pic>
        <p:nvPicPr>
          <p:cNvPr id="9" name="Figure — force_plausibility" descr="force plausibility: vector figure or typeset equation from the supplied thesis sources"/>
          <p:cNvPicPr>
            <a:picLocks noChangeAspect="1"/>
          </p:cNvPicPr>
          <p:nvPr/>
        </p:nvPicPr>
        <p:blipFill>
          <a:blip r:embed="rId4"/>
          <a:stretch>
            <a:fillRect/>
          </a:stretch>
        </p:blipFill>
        <p:spPr>
          <a:xfrm>
            <a:off x="502920" y="2005348"/>
            <a:ext cx="7040880" cy="2920455"/>
          </a:xfrm>
          <a:prstGeom prst="rect">
            <a:avLst/>
          </a:prstGeom>
        </p:spPr>
      </p:pic>
      <p:sp>
        <p:nvSpPr>
          <p:cNvPr id="10" name="TextBox 9"/>
          <p:cNvSpPr txBox="1"/>
          <p:nvPr/>
        </p:nvSpPr>
        <p:spPr>
          <a:xfrm>
            <a:off x="7936992" y="127101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1" name="Figure — symbol_Kpn" descr="symbol Kpn: vector figure or typeset equation from the supplied thesis sources"/>
          <p:cNvPicPr>
            <a:picLocks noChangeAspect="1"/>
          </p:cNvPicPr>
          <p:nvPr/>
        </p:nvPicPr>
        <p:blipFill>
          <a:blip r:embed="rId5"/>
          <a:stretch>
            <a:fillRect/>
          </a:stretch>
        </p:blipFill>
        <p:spPr>
          <a:xfrm>
            <a:off x="8147304" y="1252728"/>
            <a:ext cx="506428" cy="310896"/>
          </a:xfrm>
          <a:prstGeom prst="rect">
            <a:avLst/>
          </a:prstGeom>
        </p:spPr>
      </p:pic>
      <p:sp>
        <p:nvSpPr>
          <p:cNvPr id="12" name="TextBox 11"/>
          <p:cNvSpPr txBox="1"/>
          <p:nvPr/>
        </p:nvSpPr>
        <p:spPr>
          <a:xfrm>
            <a:off x="9089136" y="1234440"/>
            <a:ext cx="2423160" cy="612648"/>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normal translational stiffness</a:t>
            </a:r>
          </a:p>
        </p:txBody>
      </p:sp>
      <p:sp>
        <p:nvSpPr>
          <p:cNvPr id="13" name="TextBox 12"/>
          <p:cNvSpPr txBox="1"/>
          <p:nvPr/>
        </p:nvSpPr>
        <p:spPr>
          <a:xfrm>
            <a:off x="7936992" y="2011680"/>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4" name="Figure — symbol_force_baseline" descr="symbol force baseline: vector figure or typeset equation from the supplied thesis sources"/>
          <p:cNvPicPr>
            <a:picLocks noChangeAspect="1"/>
          </p:cNvPicPr>
          <p:nvPr/>
        </p:nvPicPr>
        <p:blipFill>
          <a:blip r:embed="rId6"/>
          <a:stretch>
            <a:fillRect/>
          </a:stretch>
        </p:blipFill>
        <p:spPr>
          <a:xfrm>
            <a:off x="8147304" y="1993392"/>
            <a:ext cx="494059" cy="310896"/>
          </a:xfrm>
          <a:prstGeom prst="rect">
            <a:avLst/>
          </a:prstGeom>
        </p:spPr>
      </p:pic>
      <p:sp>
        <p:nvSpPr>
          <p:cNvPr id="15" name="TextBox 14"/>
          <p:cNvSpPr txBox="1"/>
          <p:nvPr/>
        </p:nvSpPr>
        <p:spPr>
          <a:xfrm>
            <a:off x="9089136" y="1975104"/>
            <a:ext cx="2423160" cy="7132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position error before perturbation</a:t>
            </a:r>
          </a:p>
        </p:txBody>
      </p:sp>
      <p:sp>
        <p:nvSpPr>
          <p:cNvPr id="16" name="TextBox 15"/>
          <p:cNvSpPr txBox="1"/>
          <p:nvPr/>
        </p:nvSpPr>
        <p:spPr>
          <a:xfrm>
            <a:off x="7936992" y="2880360"/>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7" name="Figure — symbol_qs" descr="symbol qs: vector figure or typeset equation from the supplied thesis sources"/>
          <p:cNvPicPr>
            <a:picLocks noChangeAspect="1"/>
          </p:cNvPicPr>
          <p:nvPr/>
        </p:nvPicPr>
        <p:blipFill>
          <a:blip r:embed="rId7"/>
          <a:stretch>
            <a:fillRect/>
          </a:stretch>
        </p:blipFill>
        <p:spPr>
          <a:xfrm>
            <a:off x="8147304" y="2862072"/>
            <a:ext cx="379398" cy="310896"/>
          </a:xfrm>
          <a:prstGeom prst="rect">
            <a:avLst/>
          </a:prstGeom>
        </p:spPr>
      </p:pic>
      <p:sp>
        <p:nvSpPr>
          <p:cNvPr id="18" name="TextBox 17"/>
          <p:cNvSpPr txBox="1"/>
          <p:nvPr/>
        </p:nvSpPr>
        <p:spPr>
          <a:xfrm>
            <a:off x="9089136" y="2843784"/>
            <a:ext cx="2423160" cy="676656"/>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quasi-static spring prediction</a:t>
            </a:r>
          </a:p>
        </p:txBody>
      </p:sp>
      <p:sp>
        <p:nvSpPr>
          <p:cNvPr id="19" name="TextBox 18"/>
          <p:cNvSpPr txBox="1"/>
          <p:nvPr/>
        </p:nvSpPr>
        <p:spPr>
          <a:xfrm>
            <a:off x="886968" y="5266944"/>
            <a:ext cx="10469880" cy="43891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Spring vs command: 0.05% difference</a:t>
            </a:r>
          </a:p>
        </p:txBody>
      </p:sp>
      <p:sp>
        <p:nvSpPr>
          <p:cNvPr id="20" name="TextBox 19"/>
          <p:cNvSpPr txBox="1"/>
          <p:nvPr/>
        </p:nvSpPr>
        <p:spPr>
          <a:xfrm>
            <a:off x="886968" y="5769864"/>
            <a:ext cx="10469880" cy="43891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Estimate vs command: 13.50% difference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475488" y="237744"/>
            <a:ext cx="7680960" cy="347472"/>
          </a:xfrm>
          <a:prstGeom prst="rect">
            <a:avLst/>
          </a:prstGeom>
          <a:noFill/>
        </p:spPr>
        <p:txBody>
          <a:bodyPr wrap="square" anchor="t">
            <a:spAutoFit/>
          </a:bodyPr>
          <a:lstStyle/>
          <a:p>
            <a:pPr algn="l"/>
            <a:r>
              <a:rPr sz="1750" b="1">
                <a:solidFill>
                  <a:srgbClr val="141414"/>
                </a:solidFill>
                <a:latin typeface="Arial"/>
              </a:rPr>
              <a:t>Moment plausibility assessment</a:t>
            </a:r>
          </a:p>
        </p:txBody>
      </p:sp>
      <p:pic>
        <p:nvPicPr>
          <p:cNvPr id="4" name="Picture 3" descr="image-2-1.png"/>
          <p:cNvPicPr>
            <a:picLocks noChangeAspect="1"/>
          </p:cNvPicPr>
          <p:nvPr/>
        </p:nvPicPr>
        <p:blipFill>
          <a:blip r:embed="rId2"/>
          <a:stretch>
            <a:fillRect/>
          </a:stretch>
        </p:blipFill>
        <p:spPr>
          <a:xfrm>
            <a:off x="256032" y="6382512"/>
            <a:ext cx="502920" cy="258989"/>
          </a:xfrm>
          <a:prstGeom prst="rect">
            <a:avLst/>
          </a:prstGeom>
        </p:spPr>
      </p:pic>
      <p:sp>
        <p:nvSpPr>
          <p:cNvPr id="5" name="TextBox 4"/>
          <p:cNvSpPr txBox="1"/>
          <p:nvPr/>
        </p:nvSpPr>
        <p:spPr>
          <a:xfrm>
            <a:off x="841248" y="6364224"/>
            <a:ext cx="4297680" cy="146304"/>
          </a:xfrm>
          <a:prstGeom prst="rect">
            <a:avLst/>
          </a:prstGeom>
          <a:noFill/>
        </p:spPr>
        <p:txBody>
          <a:bodyPr wrap="square" anchor="t">
            <a:spAutoFit/>
          </a:bodyPr>
          <a:lstStyle/>
          <a:p>
            <a:pPr algn="l"/>
            <a:r>
              <a:rPr sz="720" b="0">
                <a:solidFill>
                  <a:srgbClr val="696969"/>
                </a:solidFill>
                <a:latin typeface="Arial"/>
              </a:rPr>
              <a:t>Design and Implementation of a Real-Time Impedance Controller for a 7-DOF Collaborative Robot</a:t>
            </a:r>
          </a:p>
        </p:txBody>
      </p:sp>
      <p:sp>
        <p:nvSpPr>
          <p:cNvPr id="6" name="TextBox 5"/>
          <p:cNvSpPr txBox="1"/>
          <p:nvPr/>
        </p:nvSpPr>
        <p:spPr>
          <a:xfrm>
            <a:off x="841248" y="6492240"/>
            <a:ext cx="2926080" cy="137160"/>
          </a:xfrm>
          <a:prstGeom prst="rect">
            <a:avLst/>
          </a:prstGeom>
          <a:noFill/>
        </p:spPr>
        <p:txBody>
          <a:bodyPr wrap="square" anchor="t">
            <a:spAutoFit/>
          </a:bodyPr>
          <a:lstStyle/>
          <a:p>
            <a:pPr algn="l"/>
            <a:r>
              <a:rPr sz="720" b="0">
                <a:solidFill>
                  <a:srgbClr val="696969"/>
                </a:solidFill>
                <a:latin typeface="Arial"/>
              </a:rPr>
              <a:t>Master Thesis · Heykel Khadhraoui</a:t>
            </a:r>
          </a:p>
        </p:txBody>
      </p:sp>
      <p:sp>
        <p:nvSpPr>
          <p:cNvPr id="7" name="TextBox 6"/>
          <p:cNvSpPr txBox="1"/>
          <p:nvPr/>
        </p:nvSpPr>
        <p:spPr>
          <a:xfrm>
            <a:off x="11475720" y="6419088"/>
            <a:ext cx="228600" cy="164592"/>
          </a:xfrm>
          <a:prstGeom prst="rect">
            <a:avLst/>
          </a:prstGeom>
          <a:noFill/>
        </p:spPr>
        <p:txBody>
          <a:bodyPr wrap="none" anchor="t" lIns="0" rIns="0" tIns="0" bIns="0">
            <a:spAutoFit/>
          </a:bodyPr>
          <a:lstStyle/>
          <a:p>
            <a:pPr algn="r"/>
            <a:r>
              <a:rPr sz="800" b="0">
                <a:solidFill>
                  <a:srgbClr val="696969"/>
                </a:solidFill>
                <a:latin typeface="Arial"/>
              </a:rPr>
              <a:t>B3</a:t>
            </a:r>
          </a:p>
        </p:txBody>
      </p:sp>
      <p:pic>
        <p:nvPicPr>
          <p:cNvPr id="8" name="Figure — equation_moment_qs" descr="equation moment qs: vector figure or typeset equation from the supplied thesis sources"/>
          <p:cNvPicPr>
            <a:picLocks noChangeAspect="1"/>
          </p:cNvPicPr>
          <p:nvPr/>
        </p:nvPicPr>
        <p:blipFill>
          <a:blip r:embed="rId3"/>
          <a:stretch>
            <a:fillRect/>
          </a:stretch>
        </p:blipFill>
        <p:spPr>
          <a:xfrm>
            <a:off x="1895378" y="1033271"/>
            <a:ext cx="4365691" cy="576072"/>
          </a:xfrm>
          <a:prstGeom prst="rect">
            <a:avLst/>
          </a:prstGeom>
        </p:spPr>
      </p:pic>
      <p:pic>
        <p:nvPicPr>
          <p:cNvPr id="9" name="Figure — moment_plausibility" descr="moment plausibility: vector figure or typeset equation from the supplied thesis sources"/>
          <p:cNvPicPr>
            <a:picLocks noChangeAspect="1"/>
          </p:cNvPicPr>
          <p:nvPr/>
        </p:nvPicPr>
        <p:blipFill>
          <a:blip r:embed="rId4"/>
          <a:stretch>
            <a:fillRect/>
          </a:stretch>
        </p:blipFill>
        <p:spPr>
          <a:xfrm>
            <a:off x="502920" y="2005348"/>
            <a:ext cx="7040880" cy="2920455"/>
          </a:xfrm>
          <a:prstGeom prst="rect">
            <a:avLst/>
          </a:prstGeom>
        </p:spPr>
      </p:pic>
      <p:sp>
        <p:nvSpPr>
          <p:cNvPr id="10" name="TextBox 9"/>
          <p:cNvSpPr txBox="1"/>
          <p:nvPr/>
        </p:nvSpPr>
        <p:spPr>
          <a:xfrm>
            <a:off x="7936992" y="127101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1" name="Figure — symbol_KR" descr="symbol KR: vector figure or typeset equation from the supplied thesis sources"/>
          <p:cNvPicPr>
            <a:picLocks noChangeAspect="1"/>
          </p:cNvPicPr>
          <p:nvPr/>
        </p:nvPicPr>
        <p:blipFill>
          <a:blip r:embed="rId5"/>
          <a:stretch>
            <a:fillRect/>
          </a:stretch>
        </p:blipFill>
        <p:spPr>
          <a:xfrm>
            <a:off x="8147304" y="1252728"/>
            <a:ext cx="580730" cy="310896"/>
          </a:xfrm>
          <a:prstGeom prst="rect">
            <a:avLst/>
          </a:prstGeom>
        </p:spPr>
      </p:pic>
      <p:sp>
        <p:nvSpPr>
          <p:cNvPr id="12" name="TextBox 11"/>
          <p:cNvSpPr txBox="1"/>
          <p:nvPr/>
        </p:nvSpPr>
        <p:spPr>
          <a:xfrm>
            <a:off x="9089136" y="1234440"/>
            <a:ext cx="2423160" cy="777240"/>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rotational stiffness about the first tangent</a:t>
            </a:r>
          </a:p>
        </p:txBody>
      </p:sp>
      <p:sp>
        <p:nvSpPr>
          <p:cNvPr id="13" name="TextBox 12"/>
          <p:cNvSpPr txBox="1"/>
          <p:nvPr/>
        </p:nvSpPr>
        <p:spPr>
          <a:xfrm>
            <a:off x="7936992" y="2167128"/>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4" name="Figure — symbol_moment_baseline" descr="symbol moment baseline: vector figure or typeset equation from the supplied thesis sources"/>
          <p:cNvPicPr>
            <a:picLocks noChangeAspect="1"/>
          </p:cNvPicPr>
          <p:nvPr/>
        </p:nvPicPr>
        <p:blipFill>
          <a:blip r:embed="rId6"/>
          <a:stretch>
            <a:fillRect/>
          </a:stretch>
        </p:blipFill>
        <p:spPr>
          <a:xfrm>
            <a:off x="8147304" y="2148840"/>
            <a:ext cx="547080" cy="310896"/>
          </a:xfrm>
          <a:prstGeom prst="rect">
            <a:avLst/>
          </a:prstGeom>
        </p:spPr>
      </p:pic>
      <p:sp>
        <p:nvSpPr>
          <p:cNvPr id="15" name="TextBox 14"/>
          <p:cNvSpPr txBox="1"/>
          <p:nvPr/>
        </p:nvSpPr>
        <p:spPr>
          <a:xfrm>
            <a:off x="9089136" y="2130552"/>
            <a:ext cx="2423160" cy="75895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orientation error before perturbation</a:t>
            </a:r>
          </a:p>
        </p:txBody>
      </p:sp>
      <p:sp>
        <p:nvSpPr>
          <p:cNvPr id="16" name="TextBox 15"/>
          <p:cNvSpPr txBox="1"/>
          <p:nvPr/>
        </p:nvSpPr>
        <p:spPr>
          <a:xfrm>
            <a:off x="7936992" y="3099816"/>
            <a:ext cx="164592" cy="256032"/>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a:t>
            </a:r>
          </a:p>
        </p:txBody>
      </p:sp>
      <p:pic>
        <p:nvPicPr>
          <p:cNvPr id="17" name="Figure — symbol_qs" descr="symbol qs: vector figure or typeset equation from the supplied thesis sources"/>
          <p:cNvPicPr>
            <a:picLocks noChangeAspect="1"/>
          </p:cNvPicPr>
          <p:nvPr/>
        </p:nvPicPr>
        <p:blipFill>
          <a:blip r:embed="rId7"/>
          <a:stretch>
            <a:fillRect/>
          </a:stretch>
        </p:blipFill>
        <p:spPr>
          <a:xfrm>
            <a:off x="8147304" y="3081528"/>
            <a:ext cx="379398" cy="310896"/>
          </a:xfrm>
          <a:prstGeom prst="rect">
            <a:avLst/>
          </a:prstGeom>
        </p:spPr>
      </p:pic>
      <p:sp>
        <p:nvSpPr>
          <p:cNvPr id="18" name="TextBox 17"/>
          <p:cNvSpPr txBox="1"/>
          <p:nvPr/>
        </p:nvSpPr>
        <p:spPr>
          <a:xfrm>
            <a:off x="9089136" y="3063240"/>
            <a:ext cx="2423160" cy="694944"/>
          </a:xfrm>
          <a:prstGeom prst="rect">
            <a:avLst/>
          </a:prstGeom>
          <a:noFill/>
        </p:spPr>
        <p:txBody>
          <a:bodyPr wrap="square" lIns="0" rIns="0" tIns="0" bIns="0" anchor="t">
            <a:spAutoFit/>
          </a:bodyPr>
          <a:lstStyle/>
          <a:p>
            <a:pPr algn="l">
              <a:lnSpc>
                <a:spcPct val="106000"/>
              </a:lnSpc>
              <a:spcBef>
                <a:spcPts val="0"/>
              </a:spcBef>
              <a:spcAft>
                <a:spcPts val="0"/>
              </a:spcAft>
            </a:pPr>
            <a:r>
              <a:rPr sz="1600" b="0">
                <a:solidFill>
                  <a:srgbClr val="141414"/>
                </a:solidFill>
                <a:latin typeface="Arial"/>
              </a:rPr>
              <a:t>quasi-static spring prediction</a:t>
            </a:r>
          </a:p>
        </p:txBody>
      </p:sp>
      <p:sp>
        <p:nvSpPr>
          <p:cNvPr id="19" name="TextBox 18"/>
          <p:cNvSpPr txBox="1"/>
          <p:nvPr/>
        </p:nvSpPr>
        <p:spPr>
          <a:xfrm>
            <a:off x="886968" y="5266944"/>
            <a:ext cx="10469880" cy="43891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Spring and commanded mean: 1.719 N m</a:t>
            </a:r>
          </a:p>
        </p:txBody>
      </p:sp>
      <p:sp>
        <p:nvSpPr>
          <p:cNvPr id="20" name="TextBox 19"/>
          <p:cNvSpPr txBox="1"/>
          <p:nvPr/>
        </p:nvSpPr>
        <p:spPr>
          <a:xfrm>
            <a:off x="886968" y="5769864"/>
            <a:ext cx="10469880" cy="438912"/>
          </a:xfrm>
          <a:prstGeom prst="rect">
            <a:avLst/>
          </a:prstGeom>
          <a:noFill/>
        </p:spPr>
        <p:txBody>
          <a:bodyPr wrap="square" lIns="0" rIns="0" tIns="0" bIns="0" anchor="t">
            <a:spAutoFit/>
          </a:bodyPr>
          <a:lstStyle/>
          <a:p>
            <a:pPr algn="l" marL="182880" indent="-182880">
              <a:lnSpc>
                <a:spcPct val="106000"/>
              </a:lnSpc>
              <a:spcBef>
                <a:spcPts val="0"/>
              </a:spcBef>
              <a:spcAft>
                <a:spcPts val="0"/>
              </a:spcAft>
              <a:buChar char="•"/>
            </a:pPr>
            <a:r>
              <a:rPr sz="1800" b="0">
                <a:solidFill>
                  <a:srgbClr val="141414"/>
                </a:solidFill>
                <a:latin typeface="Arial"/>
              </a:rPr>
              <a:t>Model-estimated mean: 1.852 N 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Hochschule München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Thesis Defense — Cartesian Impedance and Passive Alignment</dc:title>
  <dc:subject>gg0 theme preserved; brief bullets and introductory symbol definitions</dc:subject>
  <dc:creator>Heykel Khadhraoui</dc:creator>
  <cp:lastModifiedBy>Heykel Khadhraoui</cp:lastModifiedBy>
  <cp:revision>1</cp:revision>
  <dcterms:created xsi:type="dcterms:W3CDTF">2026-08-11T15:49:04Z</dcterms:created>
  <dcterms:modified xsi:type="dcterms:W3CDTF">2026-08-11T15:49:04Z</dcterms:modified>
  <cp:keywords>Cartesian impedance, passive alignment, centre of compliance, thesis defense</cp:keywords>
</cp:coreProperties>
</file>