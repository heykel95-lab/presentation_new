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Hochschule
München
University of
Applied Sciences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40280" y="411480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Arial"/>
              </a:rPr>
              <a:t>Master Thesis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758952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6969"/>
                </a:solidFill>
                <a:latin typeface="Arial"/>
              </a:rPr>
              <a:t>Computational Engineering (M.Sc.)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06070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Heykel Khadhraoui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828800"/>
            <a:ext cx="6675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Arial"/>
              </a:rPr>
              <a:t>Design and Implementation of a Real-Time
Impedance Controller for a 7-DOF
Collaborative Robot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306324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rial"/>
              </a:rPr>
              <a:t>Passive contact-induced alignment of a rectangular grinding tool on a planar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36118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rial"/>
              </a:rPr>
              <a:t>Supervisors: Prof. Norbert Nitzsche · Prof. Ruth Otto</a:t>
            </a:r>
          </a:p>
        </p:txBody>
      </p:sp>
      <p:pic>
        <p:nvPicPr>
          <p:cNvPr id="9" name="Picture 8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89320"/>
            <a:ext cx="868680" cy="447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55664"/>
            <a:ext cx="457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Angular mismatch at contact entry can create edge-first contact and high local loads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1</a:t>
            </a:r>
          </a:p>
        </p:txBody>
      </p:sp>
      <p:pic>
        <p:nvPicPr>
          <p:cNvPr id="8" name="Picture 7" descr="setup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00049"/>
            <a:ext cx="5486400" cy="18635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37960" y="1143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508760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Surface placement, tool mounting and pose tolerances produce a small angular mismatch before contact.</a:t>
            </a:r>
          </a:p>
          <a:p>
            <a:pPr>
              <a:spcAft>
                <a:spcPts val="6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A rigid pose controller resists the corrective rotation generated at the leading edge or corner.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154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Desired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520440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Maintain the commanded normal press.</a:t>
            </a:r>
          </a:p>
          <a:p>
            <a:pPr>
              <a:spcAft>
                <a:spcPts val="6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Allow contact interaction to rotate the tool passively towards the surface.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983480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7 DOF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34924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696969"/>
                </a:solidFill>
                <a:latin typeface="Arial"/>
              </a:rPr>
              <a:t>Franka Emika Panda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983480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1 kHz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34924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696969"/>
                </a:solidFill>
                <a:latin typeface="Arial"/>
              </a:rPr>
              <a:t>torque-control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4983480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5349240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696969"/>
                </a:solidFill>
                <a:latin typeface="Arial"/>
              </a:rPr>
              <a:t>reported trials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Research objective and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What the controller should achieve and what the experiments measure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5303520" cy="452628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Main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Arial"/>
              </a:rPr>
              <a:t>How do directional stiffness and the position of the virtual centre of compliance influence passive tool alignment during Contact Establishment?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Primary measured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4480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Times New Roman"/>
              </a:rPr>
              <a:t>γₜ₁  — signed end-effector rotation about the first surface tangent during Contact Establishment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43000"/>
            <a:ext cx="4983480" cy="452628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Contributions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343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141414"/>
                </a:solidFill>
                <a:latin typeface="Arial"/>
              </a:defRPr>
            </a:pPr>
            <a:r>
              <a:t>•  Real-time Cartesian impedance controller with surface-relative stiffness and damping.</a:t>
            </a:r>
          </a:p>
          <a:p>
            <a:pPr>
              <a:spcAft>
                <a:spcPts val="800"/>
              </a:spcAft>
              <a:defRPr sz="1220">
                <a:solidFill>
                  <a:srgbClr val="141414"/>
                </a:solidFill>
                <a:latin typeface="Arial"/>
              </a:defRPr>
            </a:pPr>
            <a:r>
              <a:t>•  Shiftable virtual centre of compliance that couples translation and rotation.</a:t>
            </a:r>
          </a:p>
          <a:p>
            <a:pPr>
              <a:spcAft>
                <a:spcPts val="800"/>
              </a:spcAft>
              <a:defRPr sz="1220">
                <a:solidFill>
                  <a:srgbClr val="141414"/>
                </a:solidFill>
                <a:latin typeface="Arial"/>
              </a:defRPr>
            </a:pPr>
            <a:r>
              <a:t>•  Experimental comparison of rotational stiffness, translational stiffness and CoC position.</a:t>
            </a:r>
          </a:p>
          <a:p>
            <a:pPr>
              <a:spcAft>
                <a:spcPts val="800"/>
              </a:spcAft>
              <a:defRPr sz="1220">
                <a:solidFill>
                  <a:srgbClr val="141414"/>
                </a:solidFill>
                <a:latin typeface="Arial"/>
              </a:defRPr>
            </a:pPr>
            <a:r>
              <a:t>•  Separate evaluation of projected null-space damping and singular-value conditioning.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Controller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Cartesian impedance in the surface frame and torque-level implementation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3</a:t>
            </a:r>
          </a:p>
        </p:txBody>
      </p:sp>
      <p:pic>
        <p:nvPicPr>
          <p:cNvPr id="8" name="Picture 7" descr="controller_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49958"/>
            <a:ext cx="6126480" cy="28608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11430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Cartesian impedance</a:t>
            </a:r>
          </a:p>
        </p:txBody>
      </p:sp>
      <p:pic>
        <p:nvPicPr>
          <p:cNvPr id="10" name="Picture 9" descr="eq_imped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691967"/>
            <a:ext cx="4480560" cy="465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2606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Joint-torque command</a:t>
            </a:r>
          </a:p>
        </p:txBody>
      </p:sp>
      <p:pic>
        <p:nvPicPr>
          <p:cNvPr id="12" name="Picture 11" descr="eq_torque_comm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962814"/>
            <a:ext cx="3931920" cy="6671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03720" y="3977639"/>
            <a:ext cx="4069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 The desired orientation is held during Contact Establishment.</a:t>
            </a:r>
          </a:p>
          <a:p>
            <a:pPr>
              <a:spcAft>
                <a:spcPts val="50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 Finite rotational compliance lets the measured contact moment generate the observed rotation.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5148072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D2D2D"/>
                </a:solidFill>
                <a:latin typeface="Arial"/>
              </a:rPr>
              <a:t>The controller does not prescribe an additional alignment trajectory.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Virtual centre of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A tangential CoC displacement turns the normal press into a direction-selective moment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4</a:t>
            </a:r>
          </a:p>
        </p:txBody>
      </p:sp>
      <p:pic>
        <p:nvPicPr>
          <p:cNvPr id="8" name="Picture 7" descr="compliance_lever_mo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80895"/>
            <a:ext cx="5532120" cy="1821688"/>
          </a:xfrm>
          <a:prstGeom prst="rect">
            <a:avLst/>
          </a:prstGeom>
        </p:spPr>
      </p:pic>
      <p:pic>
        <p:nvPicPr>
          <p:cNvPr id="9" name="Picture 8" descr="eq_coc_mo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896" y="4160520"/>
            <a:ext cx="3402366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11430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Small-angle direction used for the general selection rule</a:t>
            </a:r>
          </a:p>
        </p:txBody>
      </p:sp>
      <p:pic>
        <p:nvPicPr>
          <p:cNvPr id="11" name="Picture 10" descr="eq_tilt_dir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721" y="1572768"/>
            <a:ext cx="3464156" cy="822960"/>
          </a:xfrm>
          <a:prstGeom prst="rect">
            <a:avLst/>
          </a:prstGeom>
        </p:spPr>
      </p:pic>
      <p:pic>
        <p:nvPicPr>
          <p:cNvPr id="12" name="Picture 11" descr="eq_coc_sele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586214"/>
            <a:ext cx="4572000" cy="807746"/>
          </a:xfrm>
          <a:prstGeom prst="rect">
            <a:avLst/>
          </a:prstGeom>
        </p:spPr>
      </p:pic>
      <p:pic>
        <p:nvPicPr>
          <p:cNvPr id="13" name="Picture 12" descr="eq_contact_mo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592054"/>
            <a:ext cx="4572000" cy="8077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4526280"/>
            <a:ext cx="4480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70">
                <a:solidFill>
                  <a:srgbClr val="141414"/>
                </a:solidFill>
                <a:latin typeface="Arial"/>
              </a:defRPr>
            </a:pPr>
            <a:r>
              <a:t>•  u gives the first-order direction of the combined small rotations about t₁ and t₂.</a:t>
            </a:r>
          </a:p>
          <a:p>
            <a:pPr>
              <a:spcAft>
                <a:spcPts val="300"/>
              </a:spcAft>
              <a:defRPr sz="1070">
                <a:solidFill>
                  <a:srgbClr val="141414"/>
                </a:solidFill>
                <a:latin typeface="Arial"/>
              </a:defRPr>
            </a:pPr>
            <a:r>
              <a:t>•  r₍c,t₎ is selected perpendicular to u in the surface tangent plane.</a:t>
            </a:r>
          </a:p>
          <a:p>
            <a:pPr>
              <a:spcAft>
                <a:spcPts val="300"/>
              </a:spcAft>
              <a:defRPr sz="1070">
                <a:solidFill>
                  <a:srgbClr val="141414"/>
                </a:solidFill>
                <a:latin typeface="Arial"/>
              </a:defRPr>
            </a:pPr>
            <a:r>
              <a:t>•  With Fₙ &lt; 0 during pressing, the resulting contribution acts opposite to u and supports reduction of the offset.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Experimental setup and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The contact experiment isolates one parameter at a time while retaining the same geometry and state sequence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5</a:t>
            </a:r>
          </a:p>
        </p:txBody>
      </p:sp>
      <p:pic>
        <p:nvPicPr>
          <p:cNvPr id="8" name="Picture 7" descr="setup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443"/>
            <a:ext cx="5349240" cy="18169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234440"/>
            <a:ext cx="1097280" cy="9144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533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627632"/>
            <a:ext cx="1005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141414"/>
                </a:solidFill>
                <a:latin typeface="Arial"/>
              </a:rPr>
              <a:t>Tool Orientation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1" y="1481328"/>
            <a:ext cx="228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96969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2088" y="1234440"/>
            <a:ext cx="1097280" cy="9144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13533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1627632"/>
            <a:ext cx="1005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141414"/>
                </a:solidFill>
                <a:latin typeface="Arial"/>
              </a:rPr>
              <a:t>Surface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481328"/>
            <a:ext cx="228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96969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0536" y="1234440"/>
            <a:ext cx="1097280" cy="9144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0536" y="13533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1627632"/>
            <a:ext cx="1005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141414"/>
                </a:solidFill>
                <a:latin typeface="Arial"/>
              </a:rPr>
              <a:t>Contact Establishment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1481328"/>
            <a:ext cx="228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96969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58984" y="1234440"/>
            <a:ext cx="1097280" cy="9144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8984" y="13533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4704" y="1627632"/>
            <a:ext cx="1005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141414"/>
                </a:solidFill>
                <a:latin typeface="Arial"/>
              </a:rPr>
              <a:t>Pre-Grinding 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51460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Common Contact Establishment settings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80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41414"/>
                </a:solidFill>
                <a:latin typeface="Arial"/>
              </a:defRPr>
            </a:pPr>
            <a:r>
              <a:t>•  Normal pressing trajectory along −nₛ.</a:t>
            </a:r>
          </a:p>
          <a:p>
            <a:pPr>
              <a:spcAft>
                <a:spcPts val="500"/>
              </a:spcAft>
              <a:defRPr sz="1140">
                <a:solidFill>
                  <a:srgbClr val="141414"/>
                </a:solidFill>
                <a:latin typeface="Arial"/>
              </a:defRPr>
            </a:pPr>
            <a:r>
              <a:t>•  Orientation reference held at the measured entry orientation.</a:t>
            </a:r>
          </a:p>
          <a:p>
            <a:pPr>
              <a:spcAft>
                <a:spcPts val="500"/>
              </a:spcAft>
              <a:defRPr sz="1140">
                <a:solidFill>
                  <a:srgbClr val="141414"/>
                </a:solidFill>
                <a:latin typeface="Arial"/>
              </a:defRPr>
            </a:pPr>
            <a:r>
              <a:t>•  Low rotational stiffness about t₁ and t₂; higher stiffness about nₛ.</a:t>
            </a:r>
          </a:p>
          <a:p>
            <a:pPr>
              <a:spcAft>
                <a:spcPts val="500"/>
              </a:spcAft>
              <a:defRPr sz="1140">
                <a:solidFill>
                  <a:srgbClr val="141414"/>
                </a:solidFill>
                <a:latin typeface="Arial"/>
              </a:defRPr>
            </a:pPr>
            <a:r>
              <a:t>•  Three repetitions per parameter setting.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98348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Main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3492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Times New Roman"/>
              </a:rPr>
              <a:t>A: TCP baseline   ·   B: Kᴿ,ₜ₁   ·   C: Kᵖ,ₜ₂   ·   D: rᶜ,ₜ₂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Results I — baseline and stiffness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Cases A–C show which controller parameters most strongly change the contact response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6</a:t>
            </a:r>
          </a:p>
        </p:txBody>
      </p:sp>
      <p:pic>
        <p:nvPicPr>
          <p:cNvPr id="8" name="Picture 7" descr="results_case_a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08562"/>
            <a:ext cx="3520440" cy="2423554"/>
          </a:xfrm>
          <a:prstGeom prst="rect">
            <a:avLst/>
          </a:prstGeom>
        </p:spPr>
      </p:pic>
      <p:pic>
        <p:nvPicPr>
          <p:cNvPr id="9" name="Picture 8" descr="results_case_b_stiff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530641"/>
            <a:ext cx="3794760" cy="2379397"/>
          </a:xfrm>
          <a:prstGeom prst="rect">
            <a:avLst/>
          </a:prstGeom>
        </p:spPr>
      </p:pic>
      <p:pic>
        <p:nvPicPr>
          <p:cNvPr id="10" name="Picture 9" descr="results_case_c_stiff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1530641"/>
            <a:ext cx="3794760" cy="23793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41414"/>
                </a:solidFill>
                <a:latin typeface="Arial"/>
              </a:rPr>
              <a:t>Case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96969"/>
                </a:solidFill>
                <a:latin typeface="Arial"/>
              </a:rPr>
              <a:t>TCP-centred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41414"/>
                </a:solidFill>
                <a:latin typeface="Arial"/>
              </a:rPr>
              <a:t>Case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80060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1414"/>
                </a:solidFill>
                <a:latin typeface="Arial"/>
              </a:rPr>
              <a:t>63.9% lower response
from 5 to 50 N m/rad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41414"/>
                </a:solidFill>
                <a:latin typeface="Arial"/>
              </a:rPr>
              <a:t>Case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800600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41414"/>
                </a:solidFill>
                <a:latin typeface="Arial"/>
              </a:rPr>
              <a:t>Only 0.4% response span
across the tested Kᵖ,ₜ₂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rial"/>
              </a:rPr>
              <a:t>Takeaway: the alignment response is much more sensitive to rotational stiffness than to the tested tangential translational stiffness.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Results II — tangential CoC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Case D is the main compliance-centre result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7</a:t>
            </a:r>
          </a:p>
        </p:txBody>
      </p:sp>
      <p:pic>
        <p:nvPicPr>
          <p:cNvPr id="8" name="Picture 7" descr="results_case_d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9519"/>
            <a:ext cx="6903720" cy="337036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1234440"/>
            <a:ext cx="3246120" cy="425196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5087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41414"/>
                </a:solidFill>
                <a:latin typeface="Arial"/>
              </a:rPr>
              <a:t>What changes with rᶜ,ₜ₂?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920240"/>
            <a:ext cx="26060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 For the positive initial offset, increasing rᶜ,ₜ₂ increases the measured alignment response.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 For the negative initial offset, the same displacement direction progressively suppresses the response.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 A suitably selected displacement increased the final response by about 4%.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 The opposite displacement direction reduced the response by approximately 98–99%.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8920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141414"/>
                </a:solidFill>
                <a:latin typeface="Arial"/>
              </a:rPr>
              <a:t>Main 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5212080"/>
            <a:ext cx="2651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The displaced CoC acts mainly as a selector of the preferred rotational direction.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Why the CoC position changes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The normal press is converted into an additional TCP moment through the virtual lever arm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8</a:t>
            </a:r>
          </a:p>
        </p:txBody>
      </p:sp>
      <p:pic>
        <p:nvPicPr>
          <p:cNvPr id="8" name="Picture 7" descr="compliance_lever_mo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11283"/>
            <a:ext cx="5486400" cy="1806632"/>
          </a:xfrm>
          <a:prstGeom prst="rect">
            <a:avLst/>
          </a:prstGeom>
        </p:spPr>
      </p:pic>
      <p:pic>
        <p:nvPicPr>
          <p:cNvPr id="9" name="Picture 8" descr="eq_coc_mo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616" y="4160520"/>
            <a:ext cx="3402366" cy="685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09360" y="1143000"/>
            <a:ext cx="4800600" cy="43434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41414"/>
                </a:solidFill>
                <a:latin typeface="Arial"/>
              </a:rPr>
              <a:t>Physical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160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At the TCP, rᶜ = 0 and the CoC-induced moment vanishes.</a:t>
            </a:r>
          </a:p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A tangential displacement creates a lever arm relative to the normal pressing force.</a:t>
            </a:r>
          </a:p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Reversing the displacement reverses the sign of the additional moment.</a:t>
            </a:r>
          </a:p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Therefore the same normal press can support one rotational direction and oppose the other.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526280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Arial"/>
              </a:rPr>
              <a:t>This explains the strong sign dependence measured in Case 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Secondary study — null-space pose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Projected damping and singular-value conditioning were evaluated separately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9</a:t>
            </a:r>
          </a:p>
        </p:txBody>
      </p:sp>
      <p:pic>
        <p:nvPicPr>
          <p:cNvPr id="8" name="Picture 7" descr="MAIN_NS_nullspace_auto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055" y="1024128"/>
            <a:ext cx="4026849" cy="4709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188720"/>
            <a:ext cx="3703320" cy="43891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5087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Projected damping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74519"/>
            <a:ext cx="3108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Cumulative projected null-space motion reduced by about 25%.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743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Singular-value conditioning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10896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Arial"/>
              </a:rPr>
              <a:t>Net displacement reduced by about 99.8–99.9% for the tested disturbance direction.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160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Trade-off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262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141414"/>
                </a:solidFill>
                <a:latin typeface="Arial"/>
              </a:rPr>
              <a:t>The larger conditioning torque produced more back-and-forth motion although the final net displacement remained near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Main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What the experimental results establish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561320" cy="452628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411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17904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  <a:latin typeface="Arial"/>
              </a:rPr>
              <a:t>A real-time Cartesian impedance controller produced passive contact-induced rotation towards the configured surface.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40864"/>
            <a:ext cx="411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22576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  <a:latin typeface="Arial"/>
              </a:rPr>
              <a:t>Rotational stiffness strongly affected the response; the tested tangential translational stiffness had only a minor effect.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45536"/>
            <a:ext cx="411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27248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  <a:latin typeface="Arial"/>
              </a:rPr>
              <a:t>The virtual CoC mainly selected the preferred rotational direction by changing the additional TCP moment generated during pressing.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50208"/>
            <a:ext cx="411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31920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  <a:latin typeface="Arial"/>
              </a:rPr>
              <a:t>The TCP-centred CoC is direction-independent and is therefore a suitable final configuration after alignment.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411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36592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  <a:latin typeface="Arial"/>
              </a:rPr>
              <a:t>The results motivate an adaptive strategy: detect the initial tilt direction, temporarily select the tangential CoC displacement, then return the CoC to the TCP.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Scope of the present results and the next development steps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74920" cy="43891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1414"/>
                </a:solidFill>
                <a:latin typeface="Arial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389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One robot configuration, one rectangular tool and one planar surface.</a:t>
            </a:r>
          </a:p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Physical tool–surface angle was not measured directly during contact.</a:t>
            </a:r>
          </a:p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Tool-mount compliance can make the physical tool-face rotation differ from the measured end-effector rotation.</a:t>
            </a:r>
          </a:p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The null-space study used one disturbance direction.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5074920" cy="43891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813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1414"/>
                </a:solidFill>
                <a:latin typeface="Arial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19"/>
            <a:ext cx="4343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Measure the physical tool–surface angle and interaction wrench more directly.</a:t>
            </a:r>
          </a:p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Implement online selection of the tangential CoC direction from the measured initial angular mismatch.</a:t>
            </a:r>
          </a:p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Return the CoC to the TCP after alignment to remove the directional bias.</a:t>
            </a:r>
          </a:p>
          <a:p>
            <a:pPr>
              <a:spcAft>
                <a:spcPts val="700"/>
              </a:spcAft>
              <a:defRPr sz="1180">
                <a:solidFill>
                  <a:srgbClr val="141414"/>
                </a:solidFill>
                <a:latin typeface="Arial"/>
              </a:defRPr>
            </a:pPr>
            <a:r>
              <a:t>•  Extend the evaluation to additional surfaces, tool geometries and real grinding trajectories.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7744"/>
            <a:ext cx="7680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141414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The virtual centre of compliance is a direction-selective design parameter for passive alignment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228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1414"/>
                </a:solidFill>
                <a:latin typeface="Arial"/>
              </a:rPr>
              <a:t>The key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715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41414"/>
                </a:solidFill>
                <a:latin typeface="Arial"/>
              </a:rPr>
              <a:t>A displaced CoC does not simply “increase compliance”.
It creates a preferred rotational direction through the moment  rᶜ × 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5943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rial"/>
              </a:rPr>
              <a:t>For unknown initial misalignment, the direction should therefore be selected from the measured angular-offset direction rather than using one fixed non-zero tangential displacement.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3383280" cy="21031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05740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1414"/>
                </a:solidFill>
                <a:latin typeface="Arial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9748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96969"/>
                </a:solidFill>
                <a:latin typeface="Arial"/>
              </a:rPr>
              <a:t>Questions and discussion</a:t>
            </a:r>
          </a:p>
        </p:txBody>
      </p:sp>
      <p:pic>
        <p:nvPicPr>
          <p:cNvPr id="14" name="Picture 13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297680"/>
            <a:ext cx="1097280" cy="5650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Hochschule München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Cartesian Impedance Control for a 7-DOF Collaborative Robot</dc:title>
  <dc:subject>Master thesis defense</dc:subject>
  <dc:creator>Heykel Khadhraoui</dc:creator>
  <cp:lastModifiedBy>Heykel Khadhraoui</cp:lastModifiedBy>
  <cp:revision>1</cp:revision>
  <dcterms:created xsi:type="dcterms:W3CDTF">2026-08-11T15:49:04Z</dcterms:created>
  <dcterms:modified xsi:type="dcterms:W3CDTF">2026-08-11T15:49:04Z</dcterms:modified>
</cp:coreProperties>
</file>